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7" r:id="rId4"/>
    <p:sldId id="258" r:id="rId6"/>
    <p:sldId id="282" r:id="rId7"/>
    <p:sldId id="298" r:id="rId8"/>
    <p:sldId id="297" r:id="rId9"/>
    <p:sldId id="292" r:id="rId10"/>
    <p:sldId id="299" r:id="rId11"/>
    <p:sldId id="300" r:id="rId12"/>
    <p:sldId id="293" r:id="rId13"/>
    <p:sldId id="294" r:id="rId14"/>
    <p:sldId id="301" r:id="rId15"/>
    <p:sldId id="295" r:id="rId16"/>
    <p:sldId id="302" r:id="rId17"/>
    <p:sldId id="296" r:id="rId18"/>
    <p:sldId id="303" r:id="rId19"/>
    <p:sldId id="307" r:id="rId20"/>
    <p:sldId id="304" r:id="rId21"/>
    <p:sldId id="305" r:id="rId22"/>
    <p:sldId id="306" r:id="rId23"/>
    <p:sldId id="257" r:id="rId24"/>
    <p:sldId id="266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封面" id="{FDE87967-6879-154B-BA6F-F9539DB3CEF1}">
          <p14:sldIdLst>
            <p14:sldId id="256"/>
          </p14:sldIdLst>
        </p14:section>
        <p14:section name="目录" id="{181FB0CA-355B-F14E-8AD5-5395E8106880}">
          <p14:sldIdLst>
            <p14:sldId id="257"/>
            <p14:sldId id="267"/>
            <p14:sldId id="282"/>
            <p14:sldId id="298"/>
            <p14:sldId id="292"/>
            <p14:sldId id="299"/>
            <p14:sldId id="300"/>
            <p14:sldId id="294"/>
            <p14:sldId id="301"/>
            <p14:sldId id="295"/>
            <p14:sldId id="296"/>
            <p14:sldId id="303"/>
            <p14:sldId id="307"/>
            <p14:sldId id="304"/>
            <p14:sldId id="305"/>
            <p14:sldId id="297"/>
            <p14:sldId id="258"/>
            <p14:sldId id="293"/>
            <p14:sldId id="302"/>
            <p14:sldId id="306"/>
          </p14:sldIdLst>
        </p14:section>
        <p14:section name="封底" id="{89BE8DA1-2B7D-BC49-8AE2-595A457A039F}">
          <p14:sldIdLst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D0"/>
    <a:srgbClr val="FFE6A5"/>
    <a:srgbClr val="1BD6B7"/>
    <a:srgbClr val="656BFF"/>
    <a:srgbClr val="FEB350"/>
    <a:srgbClr val="FD7982"/>
    <a:srgbClr val="6D53FF"/>
    <a:srgbClr val="6700FF"/>
    <a:srgbClr val="1CB9FF"/>
    <a:srgbClr val="129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0" y="768"/>
      </p:cViewPr>
      <p:guideLst>
        <p:guide orient="horz" pos="4329"/>
        <p:guide pos="76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流程或则区分类都可</a:t>
            </a:r>
            <a:endParaRPr kumimoji="1"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组7.jpg" descr="组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组3.jpg" descr="组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pt主标题内容"/>
          <p:cNvSpPr txBox="1"/>
          <p:nvPr/>
        </p:nvSpPr>
        <p:spPr>
          <a:xfrm>
            <a:off x="12140703" y="5539729"/>
            <a:ext cx="102592" cy="210314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50800" tIns="50800" rIns="50800" bIns="50800" anchor="ctr">
            <a:spAutoFit/>
          </a:bodyPr>
          <a:lstStyle>
            <a:lvl1pPr>
              <a:defRPr sz="13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endParaRPr b="0" dirty="0">
              <a:latin typeface="阿里巴巴普惠体-B"/>
              <a:ea typeface="阿里巴巴普惠体-B"/>
              <a:cs typeface="阿里巴巴普惠体-B"/>
            </a:endParaRPr>
          </a:p>
        </p:txBody>
      </p:sp>
      <p:sp>
        <p:nvSpPr>
          <p:cNvPr id="40" name="科学保障  幸福一生"/>
          <p:cNvSpPr txBox="1"/>
          <p:nvPr/>
        </p:nvSpPr>
        <p:spPr>
          <a:xfrm>
            <a:off x="9665095" y="11283032"/>
            <a:ext cx="5066511" cy="59503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/>
          <a:p>
            <a:pPr lvl="1" algn="l">
              <a:defRPr sz="3200" b="0" spc="9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defRPr>
            </a:pPr>
            <a:r>
              <a:rPr sz="3200" b="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科学保障  幸福一生</a:t>
            </a:r>
            <a:endParaRPr sz="3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1" name="矩形2.png" descr="矩形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943" y="11537032"/>
            <a:ext cx="3987801" cy="165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" name="矩形2.png" descr="矩形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4877256" y="11537032"/>
            <a:ext cx="3987801" cy="1651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46" name="成组"/>
          <p:cNvGrpSpPr/>
          <p:nvPr/>
        </p:nvGrpSpPr>
        <p:grpSpPr>
          <a:xfrm>
            <a:off x="10912164" y="2662932"/>
            <a:ext cx="2559672" cy="2559671"/>
            <a:chOff x="0" y="0"/>
            <a:chExt cx="2559670" cy="2559670"/>
          </a:xfrm>
        </p:grpSpPr>
        <p:sp>
          <p:nvSpPr>
            <p:cNvPr id="43" name="圆角矩形"/>
            <p:cNvSpPr/>
            <p:nvPr/>
          </p:nvSpPr>
          <p:spPr>
            <a:xfrm>
              <a:off x="124383" y="124383"/>
              <a:ext cx="2310904" cy="2310904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sp>
          <p:nvSpPr>
            <p:cNvPr id="44" name="圆角矩形"/>
            <p:cNvSpPr/>
            <p:nvPr/>
          </p:nvSpPr>
          <p:spPr>
            <a:xfrm>
              <a:off x="0" y="0"/>
              <a:ext cx="2559671" cy="2559671"/>
            </a:xfrm>
            <a:prstGeom prst="roundRect">
              <a:avLst>
                <a:gd name="adj" fmla="val 15000"/>
              </a:avLst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pic>
          <p:nvPicPr>
            <p:cNvPr id="45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2197" y="412173"/>
              <a:ext cx="1475277" cy="173532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sp>
        <p:nvSpPr>
          <p:cNvPr id="2" name="文本框 1"/>
          <p:cNvSpPr txBox="1"/>
          <p:nvPr/>
        </p:nvSpPr>
        <p:spPr>
          <a:xfrm>
            <a:off x="5248711" y="5821673"/>
            <a:ext cx="13783983" cy="21018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13000" dirty="0" smtClean="0">
                <a:solidFill>
                  <a:schemeClr val="bg1"/>
                </a:solidFill>
                <a:effectLst>
                  <a:outerShdw blurRad="76200" dist="38100" dir="5400000" algn="t" rotWithShape="0">
                    <a:srgbClr val="179479">
                      <a:alpha val="99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配置理念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目录"/>
          <p:cNvSpPr txBox="1"/>
          <p:nvPr/>
        </p:nvSpPr>
        <p:spPr>
          <a:xfrm>
            <a:off x="4219447" y="5929841"/>
            <a:ext cx="3077766" cy="188769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116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标题1"/>
          <p:cNvSpPr txBox="1"/>
          <p:nvPr/>
        </p:nvSpPr>
        <p:spPr>
          <a:xfrm>
            <a:off x="11158504" y="4997600"/>
            <a:ext cx="3411855" cy="9321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r>
              <a:rPr lang="en-US" altLang="zh-CN" sz="5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sz="5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三大原则</a:t>
            </a:r>
            <a:endParaRPr lang="zh-CN" sz="5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12234" y="7889686"/>
            <a:ext cx="273030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A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T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A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L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O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</a:t>
            </a:r>
            <a:endParaRPr kumimoji="0" lang="en-US" altLang="zh-CN" sz="3000" b="0" i="0" u="none" strike="noStrike" cap="none" spc="0" normalizeH="0" baseline="0" dirty="0" smtClean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19" name="标题1"/>
          <p:cNvSpPr txBox="1"/>
          <p:nvPr/>
        </p:nvSpPr>
        <p:spPr>
          <a:xfrm>
            <a:off x="11158503" y="8770654"/>
            <a:ext cx="3411855" cy="9321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r>
              <a:rPr lang="en-US" altLang="zh-CN" sz="5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5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配置逻辑</a:t>
            </a:r>
            <a:endParaRPr lang="zh-CN" altLang="en-US" sz="54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12234" y="8650943"/>
            <a:ext cx="2584825" cy="119529"/>
          </a:xfrm>
          <a:prstGeom prst="rect">
            <a:avLst/>
          </a:prstGeom>
          <a:solidFill>
            <a:srgbClr val="1CC2A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9131300" y="6226423"/>
            <a:ext cx="5689600" cy="179387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三大原则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697338"/>
            <a:ext cx="9626600" cy="1498601"/>
            <a:chOff x="0" y="0"/>
            <a:chExt cx="9626600" cy="1498600"/>
          </a:xfrm>
        </p:grpSpPr>
        <p:sp>
          <p:nvSpPr>
            <p:cNvPr id="63" name="part 01"/>
            <p:cNvSpPr txBox="1"/>
            <p:nvPr/>
          </p:nvSpPr>
          <p:spPr>
            <a:xfrm>
              <a:off x="2903473" y="-1"/>
              <a:ext cx="4073653" cy="149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t>part 01</a:t>
              </a:r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7541260" y="1792605"/>
            <a:ext cx="9300845" cy="1308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保险配置三大原则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9745345" y="3568065"/>
            <a:ext cx="4272915" cy="0"/>
          </a:xfrm>
          <a:prstGeom prst="line">
            <a:avLst/>
          </a:prstGeom>
          <a:noFill/>
          <a:ln w="12700" cap="flat">
            <a:solidFill>
              <a:srgbClr val="1BD6B7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文本框 12"/>
          <p:cNvSpPr txBox="1"/>
          <p:nvPr/>
        </p:nvSpPr>
        <p:spPr>
          <a:xfrm>
            <a:off x="5979160" y="4446270"/>
            <a:ext cx="12148185" cy="2083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4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先保障后理财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为什么？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16500" y="7915275"/>
            <a:ext cx="14351000" cy="25520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保障和理财都是家庭财务规划的一部分，家庭财务规划的目的是为了确保自己能够实现人生目标。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普通家庭的主要财务矛盾是健康风险与自身存量资产的矛盾，先要具备抵御风险的能力，才能保障一生的现金流稳定。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bldLvl="0" animBg="1"/>
      <p:bldP spid="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7541260" y="1792605"/>
            <a:ext cx="9300845" cy="1308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保险配置三大原则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9745345" y="3568065"/>
            <a:ext cx="4272915" cy="0"/>
          </a:xfrm>
          <a:prstGeom prst="line">
            <a:avLst/>
          </a:prstGeom>
          <a:noFill/>
          <a:ln w="12700" cap="flat">
            <a:solidFill>
              <a:srgbClr val="1BD6B7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文本框 12"/>
          <p:cNvSpPr txBox="1"/>
          <p:nvPr/>
        </p:nvSpPr>
        <p:spPr>
          <a:xfrm>
            <a:off x="5979160" y="5132070"/>
            <a:ext cx="12148185" cy="2083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4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先大人后小孩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为什么？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32425" y="8305800"/>
            <a:ext cx="15140940" cy="1075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例子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1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：一家三口，小孩发生重病，家庭东凑西借了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50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万给孩子治病，父母后面慢慢还贷。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32425" y="10158095"/>
            <a:ext cx="15005685" cy="1075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例子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2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：一家三口，家庭支柱先生发生重病，还能东凑西借到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50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万吗？借到了</a:t>
            </a:r>
            <a:r>
              <a:rPr kumimoji="0" lang="en-US" altLang="zh-CN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50</a:t>
            </a:r>
            <a:r>
              <a:rPr kumimoji="0" lang="zh-CN" altLang="en-US" sz="3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万，未来是否能够偿还，并且孩子未来读书生活的费用怎么来？</a:t>
            </a: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bldLvl="0" animBg="1"/>
      <p:bldP spid="3" grpId="0" bldLvl="0" animBg="1"/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7541260" y="1792605"/>
            <a:ext cx="9300845" cy="1308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保险配置三大原则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9745345" y="3568065"/>
            <a:ext cx="4272915" cy="0"/>
          </a:xfrm>
          <a:prstGeom prst="line">
            <a:avLst/>
          </a:prstGeom>
          <a:noFill/>
          <a:ln w="12700" cap="flat">
            <a:solidFill>
              <a:srgbClr val="1BD6B7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文本框 12"/>
          <p:cNvSpPr txBox="1"/>
          <p:nvPr/>
        </p:nvSpPr>
        <p:spPr>
          <a:xfrm>
            <a:off x="5979160" y="5379720"/>
            <a:ext cx="12148185" cy="1492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4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保障充足且性价比高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2250" y="8350885"/>
            <a:ext cx="15238730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保障充足：第一维度保额，第二维度年期，第三维度安全余量（多次赔付）</a:t>
            </a:r>
            <a:endParaRPr kumimoji="0" lang="zh-CN" alt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bldLvl="0" animBg="1"/>
      <p:bldP spid="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1418590" y="2433955"/>
            <a:ext cx="21005800" cy="9296400"/>
          </a:xfrm>
        </p:spPr>
        <p:txBody>
          <a:bodyPr>
            <a:noAutofit/>
          </a:bodyPr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保额充足：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当下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保额充足   （重疾：所需费用  寿险：家庭责任）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家庭成员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年期充足：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、财务充足 直接买终身型产品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lang="en-US" altLang="zh-CN" sz="4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、通货膨胀：区分寿险 重疾 可通过三年复诊的方式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安全余量的充足：  重疾险在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种重疾的基础上增加多次赔付、豁免等等。</a:t>
            </a:r>
            <a:r>
              <a:rPr lang="zh-CN" altLang="en-US" sz="4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前提是先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把前两者的充足考虑好。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9131300" y="6226423"/>
            <a:ext cx="5689600" cy="179387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配置逻辑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780523"/>
            <a:ext cx="9626600" cy="1332230"/>
            <a:chOff x="0" y="83185"/>
            <a:chExt cx="9626600" cy="1332229"/>
          </a:xfrm>
        </p:grpSpPr>
        <p:sp>
          <p:nvSpPr>
            <p:cNvPr id="63" name="part 01"/>
            <p:cNvSpPr txBox="1"/>
            <p:nvPr/>
          </p:nvSpPr>
          <p:spPr>
            <a:xfrm>
              <a:off x="2484437" y="83185"/>
              <a:ext cx="4911725" cy="13322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t>part 0</a:t>
              </a:r>
              <a:r>
                <a:rPr lang="en-US"/>
                <a:t>2</a:t>
              </a:r>
              <a:endParaRPr lang="en-US"/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3000"/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5473065" y="1792605"/>
            <a:ext cx="12470765" cy="1308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寿险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=</a:t>
            </a:r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家庭责任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现有流动资金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9745345" y="3568065"/>
            <a:ext cx="4272915" cy="0"/>
          </a:xfrm>
          <a:prstGeom prst="line">
            <a:avLst/>
          </a:prstGeom>
          <a:noFill/>
          <a:ln w="12700" cap="flat">
            <a:solidFill>
              <a:srgbClr val="1BD6B7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4175" y="4391025"/>
            <a:ext cx="21429980" cy="39357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589145" y="9387840"/>
            <a:ext cx="16146780" cy="14439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定期寿险的适用年期：根据贷款剩余年期、子女年龄、父母赡养期综合考虑，预算充足的取年期最大值，预算不足的折中选择。</a:t>
            </a:r>
            <a:endParaRPr kumimoji="0" lang="zh-CN" altLang="en-US" sz="4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2975" y="4574540"/>
            <a:ext cx="10925175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定期寿险和终身寿险的适用人群？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2975" y="6747510"/>
            <a:ext cx="10260330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意外险和定期寿险的区别？</a:t>
            </a:r>
            <a:endParaRPr kumimoji="0" lang="zh-CN" altLang="en-US" sz="4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74510" y="2138680"/>
            <a:ext cx="10634980" cy="9207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5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寿险常见问题：</a:t>
            </a:r>
            <a:endParaRPr kumimoji="0" lang="zh-CN" altLang="en-US" sz="5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2975" y="8915400"/>
            <a:ext cx="10260330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单身用不用买寿险？</a:t>
            </a:r>
            <a:endParaRPr kumimoji="0" lang="zh-CN" altLang="en-US" sz="48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1790" y="2033905"/>
            <a:ext cx="17952085" cy="104006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5473065" y="1792605"/>
            <a:ext cx="12470765" cy="1308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大病风险：重大疾病保险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9745345" y="3568065"/>
            <a:ext cx="4272915" cy="0"/>
          </a:xfrm>
          <a:prstGeom prst="line">
            <a:avLst/>
          </a:prstGeom>
          <a:noFill/>
          <a:ln w="12700" cap="flat">
            <a:solidFill>
              <a:srgbClr val="1BD6B7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2820" y="4036695"/>
            <a:ext cx="19277965" cy="5781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9532620"/>
            <a:ext cx="14241780" cy="16757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18785" y="11971655"/>
            <a:ext cx="9088120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终身还是定期？怎么选？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0935" y="2814955"/>
            <a:ext cx="18263235" cy="6737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预算充足：全部终身。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预算一般：部分终身</a:t>
            </a:r>
            <a:r>
              <a:rPr kumimoji="0" lang="zh-CN" altLang="en-US" sz="4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解决治疗费</a:t>
            </a:r>
            <a:r>
              <a:rPr kumimoji="0" lang="en-US" altLang="zh-CN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—</a:t>
            </a:r>
            <a:endParaRPr kumimoji="0" lang="en-US" altLang="zh-CN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部分定期解决工作收入补偿</a:t>
            </a:r>
            <a:r>
              <a:rPr lang="zh-CN" altLang="en-US" sz="48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预算紧张：全部配置定期重疾险，先解决当下的风险，未来若收入提升，再进行补充。</a:t>
            </a:r>
            <a:endParaRPr kumimoji="0" lang="zh-CN" altLang="en-US" sz="4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0935" y="10363200"/>
            <a:ext cx="15756890" cy="9207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5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一年期重疾险和长期重疾险的</a:t>
            </a:r>
            <a:r>
              <a:rPr kumimoji="0" lang="zh-CN" altLang="en-US" sz="5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区别？</a:t>
            </a:r>
            <a:endParaRPr kumimoji="0" lang="zh-CN" altLang="en-US" sz="5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5473065" y="1792605"/>
            <a:ext cx="12470765" cy="1308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住院风险：住院医疗险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9745345" y="3568065"/>
            <a:ext cx="4272915" cy="0"/>
          </a:xfrm>
          <a:prstGeom prst="line">
            <a:avLst/>
          </a:prstGeom>
          <a:noFill/>
          <a:ln w="12700" cap="flat">
            <a:solidFill>
              <a:srgbClr val="1BD6B7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325" y="4322445"/>
            <a:ext cx="19437985" cy="74961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40755" y="12573000"/>
            <a:ext cx="12301855" cy="7054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只买医疗险不买重疾险可以吗？</a:t>
            </a:r>
            <a:endParaRPr kumimoji="0" lang="zh-CN" altLang="en-US" sz="4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52295" y="2555240"/>
            <a:ext cx="17190085" cy="83693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5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住院医疗险的</a:t>
            </a:r>
            <a:r>
              <a:rPr lang="zh-CN" altLang="en-US" sz="5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三要素</a:t>
            </a:r>
            <a:endParaRPr lang="zh-CN" altLang="en-US" sz="5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1</a:t>
            </a: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、自费项目 、是否报销社保外用药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2</a:t>
            </a: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、免赔额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3</a:t>
            </a: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、续保政策（香港医疗：费率几乎等于重疾险费率）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事后报销  实报实销  所以不在乎额度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29690" y="2787650"/>
            <a:ext cx="17925415" cy="76923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5400" b="1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高端医疗险的</a:t>
            </a:r>
            <a:r>
              <a:rPr lang="zh-CN" altLang="en-US" sz="54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1</a:t>
            </a:r>
            <a:r>
              <a:rPr kumimoji="0" lang="zh-CN" altLang="en-US" sz="4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、超高保额，足以覆盖最好的医疗资源花费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2</a:t>
            </a:r>
            <a:r>
              <a:rPr kumimoji="0" lang="zh-CN" altLang="en-US" sz="4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、医疗资源覆盖广泛，不限地区及治疗手法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3</a:t>
            </a:r>
            <a:r>
              <a:rPr kumimoji="0" lang="zh-CN" altLang="en-US" sz="4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、直付政策，由保险公司直接与医院结算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4</a:t>
            </a:r>
            <a:r>
              <a:rPr kumimoji="0" lang="zh-CN" altLang="en-US" sz="4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、其他增值服务，预约专家诊疗、全球救援等</a:t>
            </a:r>
            <a:endParaRPr kumimoji="0" lang="zh-CN" altLang="en-US" sz="4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详见</a:t>
            </a:r>
            <a:r>
              <a:rPr kumimoji="0" lang="en-US" altLang="zh-CN" sz="44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MSH</a:t>
            </a:r>
            <a:endParaRPr kumimoji="0" lang="en-US" altLang="zh-CN" sz="44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5473065" y="1792605"/>
            <a:ext cx="12470765" cy="13081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ctr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意外风险：意外</a:t>
            </a:r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险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9745345" y="3568065"/>
            <a:ext cx="4272915" cy="0"/>
          </a:xfrm>
          <a:prstGeom prst="line">
            <a:avLst/>
          </a:prstGeom>
          <a:noFill/>
          <a:ln w="12700" cap="flat">
            <a:solidFill>
              <a:srgbClr val="1BD6B7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文本框 1"/>
          <p:cNvSpPr txBox="1"/>
          <p:nvPr/>
        </p:nvSpPr>
        <p:spPr>
          <a:xfrm>
            <a:off x="2427605" y="4471035"/>
            <a:ext cx="16305530" cy="2121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适用人群：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/>
              </a:rPr>
              <a:t>经常开车、经常差旅、职业环境恶劣等等易发生意外人群，以及小朋友、老人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27605" y="8030845"/>
            <a:ext cx="16305530" cy="2121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定期寿险的替代品</a:t>
            </a:r>
            <a:endParaRPr lang="en-US" altLang="zh-CN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A</a:t>
            </a: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、当定期寿险健告未能通过时</a:t>
            </a:r>
            <a:endParaRPr kumimoji="0" lang="en-US" altLang="zh-CN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0" lang="zh-CN" alt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保额过高导致预算不足时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4067810"/>
            <a:ext cx="20095845" cy="5702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93180" y="2473325"/>
            <a:ext cx="10326370" cy="10134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/>
            <a:r>
              <a:rPr lang="zh-CN" altLang="en-US" sz="6000" dirty="0">
                <a:latin typeface="微软雅黑" panose="020B0503020204020204" charset="-122"/>
                <a:ea typeface="微软雅黑" panose="020B0503020204020204" charset="-122"/>
              </a:rPr>
              <a:t>合理保费预算</a:t>
            </a:r>
            <a:endParaRPr lang="zh-CN" altLang="en-US" sz="6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93815" y="11163935"/>
            <a:ext cx="10326370" cy="13208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algn="ctr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保费</a:t>
            </a:r>
            <a:r>
              <a:rPr lang="zh-CN" altLang="en-US" sz="4000" dirty="0" smtClean="0">
                <a:latin typeface="微软雅黑" panose="020B0503020204020204" charset="-122"/>
                <a:ea typeface="微软雅黑" panose="020B0503020204020204" charset="-122"/>
              </a:rPr>
              <a:t>预算不可过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高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保费</a:t>
            </a:r>
            <a:r>
              <a:rPr lang="zh-CN" altLang="en-US" sz="4000" dirty="0" smtClean="0">
                <a:latin typeface="微软雅黑" panose="020B0503020204020204" charset="-122"/>
                <a:ea typeface="微软雅黑" panose="020B0503020204020204" charset="-122"/>
              </a:rPr>
              <a:t>预算不可过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低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355" y="2066290"/>
            <a:ext cx="10515600" cy="850265"/>
          </a:xfrm>
        </p:spPr>
        <p:txBody>
          <a:bodyPr>
            <a:noAutofit/>
          </a:bodyPr>
          <a:p>
            <a:pPr algn="l"/>
            <a:r>
              <a:rPr lang="zh-CN" altLang="en-US" sz="8000">
                <a:latin typeface="微软雅黑" panose="020B0503020204020204" charset="-122"/>
                <a:ea typeface="微软雅黑" panose="020B0503020204020204" charset="-122"/>
              </a:rPr>
              <a:t>例子：单身贵族</a:t>
            </a:r>
            <a:endParaRPr lang="zh-CN" altLang="en-US" sz="8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355" y="5129530"/>
            <a:ext cx="17572990" cy="4351655"/>
          </a:xfrm>
        </p:spPr>
        <p:txBody>
          <a:bodyPr>
            <a:noAutofit/>
          </a:bodyPr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寿险：假设客户单身，无负债，父母有退休金。</a:t>
            </a:r>
            <a:endParaRPr lang="zh-CN" altLang="en-US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重疾险：假设客户年收入</a:t>
            </a:r>
            <a:r>
              <a:rPr lang="en-US" altLang="zh-CN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万，普通民企员工（非体力）。</a:t>
            </a:r>
            <a:endParaRPr lang="zh-CN" altLang="en-US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住院医疗险：客户单位并没有额外补充医疗。</a:t>
            </a:r>
            <a:endParaRPr lang="en-US" altLang="zh-CN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意外险：客户经常要出差。</a:t>
            </a:r>
            <a:endParaRPr lang="zh-CN" altLang="en-US" sz="4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838200" y="1438275"/>
            <a:ext cx="20648295" cy="227393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9pPr>
          </a:lstStyle>
          <a:p>
            <a:r>
              <a:rPr lang="zh-CN" altLang="en-US" sz="5400">
                <a:latin typeface="微软雅黑" panose="020B0503020204020204" charset="-122"/>
                <a:ea typeface="微软雅黑" panose="020B0503020204020204" charset="-122"/>
              </a:rPr>
              <a:t>例子：一家三口</a:t>
            </a:r>
            <a:endParaRPr lang="zh-CN" altLang="en-US" sz="5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838200" y="3909060"/>
            <a:ext cx="20648295" cy="589788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>
              <a:buNone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假设该家庭有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万房贷余额（剩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年）、</a:t>
            </a:r>
            <a:r>
              <a:rPr 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孩子教育责任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万，孩子成年前的生活费现值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万，父母赡养责任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万。现有流动资金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万。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先生收入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万，经常出差且有公司补充医疗；太太收入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万，内勤。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孩子</a:t>
            </a:r>
            <a:r>
              <a:rPr lang="en-US" altLang="zh-CN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岁。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怎么配置？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8870315"/>
            <a:ext cx="20572095" cy="34137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先生：定期寿险保额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147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万，保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30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年；重疾险保额</a:t>
            </a:r>
            <a:r>
              <a:rPr lang="en-US" altLang="zh-CN" sz="3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万；综合意外险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太太：定期寿险保额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73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万，保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30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年；重疾险保额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50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万；住院医疗险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孩子：重疾险保额</a:t>
            </a:r>
            <a:r>
              <a:rPr lang="en-US" altLang="zh-CN" sz="3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万；百万住院医疗险；少儿意外险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保费预算：</a:t>
            </a:r>
            <a:r>
              <a:rPr kumimoji="0" lang="en-US" altLang="zh-CN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3</a:t>
            </a:r>
            <a:r>
              <a:rPr kumimoji="0" lang="zh-CN" alt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万</a:t>
            </a:r>
            <a:endParaRPr kumimoji="0" lang="zh-CN" alt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838200" y="1946275"/>
            <a:ext cx="14498955" cy="234124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9pPr>
          </a:lstStyle>
          <a:p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</a:rPr>
              <a:t>例子</a:t>
            </a:r>
            <a:r>
              <a:rPr lang="zh-CN" altLang="en-US" sz="4800" dirty="0" smtClean="0">
                <a:latin typeface="微软雅黑" panose="020B0503020204020204" charset="-122"/>
                <a:ea typeface="微软雅黑" panose="020B0503020204020204" charset="-122"/>
              </a:rPr>
              <a:t>：高净值客户</a:t>
            </a:r>
            <a:endParaRPr lang="zh-CN" altLang="en-US" sz="4800" dirty="0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822960" y="4393565"/>
            <a:ext cx="14498955" cy="249428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>
              <a:buNone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假设该</a:t>
            </a:r>
            <a:r>
              <a:rPr lang="zh-CN" altLang="en-US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家庭年收入</a:t>
            </a:r>
            <a:r>
              <a:rPr lang="en-US" altLang="zh-CN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r>
              <a:rPr lang="zh-CN" altLang="en-US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万，有</a:t>
            </a:r>
            <a:r>
              <a:rPr lang="en-US" altLang="zh-CN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</a:t>
            </a:r>
            <a:r>
              <a:rPr lang="zh-CN" altLang="en-US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万的金融资产及</a:t>
            </a:r>
            <a:r>
              <a:rPr lang="en-US" altLang="zh-CN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1500</a:t>
            </a:r>
            <a:r>
              <a:rPr lang="zh-CN" altLang="en-US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万的房产</a:t>
            </a: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先生是企业主，太太是公务员，小孩</a:t>
            </a:r>
            <a:r>
              <a:rPr lang="en-US" altLang="zh-CN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36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岁。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r>
              <a:rPr lang="zh-CN" altLang="en-US" sz="3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怎么配置？</a:t>
            </a:r>
            <a:endParaRPr lang="zh-CN" altLang="en-US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buNone/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6935" y="8057515"/>
            <a:ext cx="14444980" cy="1075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先生</a:t>
            </a:r>
            <a:r>
              <a:rPr lang="en-US" altLang="zh-CN" sz="3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3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太太</a:t>
            </a: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：终身寿险</a:t>
            </a:r>
            <a:r>
              <a:rPr kumimoji="0" lang="en-US" altLang="zh-CN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+</a:t>
            </a: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重疾险</a:t>
            </a:r>
            <a:r>
              <a:rPr kumimoji="0" lang="en-US" altLang="zh-CN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+</a:t>
            </a: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高端医疗险</a:t>
            </a:r>
            <a:r>
              <a:rPr kumimoji="0" lang="en-US" altLang="zh-CN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+</a:t>
            </a: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养老年金险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宝宝：重疾险</a:t>
            </a:r>
            <a:r>
              <a:rPr kumimoji="0" lang="en-US" altLang="zh-CN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+</a:t>
            </a: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高端医疗险</a:t>
            </a:r>
            <a:r>
              <a:rPr kumimoji="0" lang="en-US" altLang="zh-CN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+</a:t>
            </a:r>
            <a:r>
              <a:rPr kumimoji="0" lang="zh-CN" altLang="en-US" sz="32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/>
              </a:rPr>
              <a:t>教育年金险</a:t>
            </a:r>
            <a:endParaRPr kumimoji="0" lang="zh-CN" altLang="en-US" sz="3200" b="0" i="0" u="none" strike="noStrike" cap="none" spc="0" normalizeH="0" baseline="0" dirty="0" smtClean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hanks"/>
          <p:cNvSpPr txBox="1"/>
          <p:nvPr/>
        </p:nvSpPr>
        <p:spPr>
          <a:xfrm>
            <a:off x="7686860" y="5004098"/>
            <a:ext cx="9010279" cy="2564805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rotWithShape="0">
              <a:srgbClr val="075C4C">
                <a:alpha val="20000"/>
              </a:srgbClr>
            </a:outerShdw>
          </a:effectLst>
        </p:spPr>
        <p:txBody>
          <a:bodyPr wrap="none" lIns="50800" tIns="50800" rIns="50800" bIns="50800" anchor="ctr">
            <a:spAutoFit/>
          </a:bodyPr>
          <a:lstStyle>
            <a:lvl1pPr>
              <a:defRPr sz="16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71" name="成组"/>
          <p:cNvGrpSpPr/>
          <p:nvPr/>
        </p:nvGrpSpPr>
        <p:grpSpPr>
          <a:xfrm>
            <a:off x="7479585" y="7742784"/>
            <a:ext cx="9424831" cy="872034"/>
            <a:chOff x="0" y="52934"/>
            <a:chExt cx="9424830" cy="872033"/>
          </a:xfrm>
        </p:grpSpPr>
        <p:sp>
          <p:nvSpPr>
            <p:cNvPr id="168" name="谢谢观看"/>
            <p:cNvSpPr txBox="1"/>
            <p:nvPr/>
          </p:nvSpPr>
          <p:spPr>
            <a:xfrm>
              <a:off x="3378716" y="52934"/>
              <a:ext cx="2667397" cy="8720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76200" dist="101600" dir="5400000" rotWithShape="0">
                <a:srgbClr val="075C4C">
                  <a:alpha val="20000"/>
                </a:srgbClr>
              </a:outerShdw>
            </a:effec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 b="0" cap="all">
                  <a:solidFill>
                    <a:srgbClr val="FFFFFF"/>
                  </a:solidFill>
                  <a:latin typeface="Alibaba-PuHuiTi-M"/>
                  <a:ea typeface="Alibaba-PuHuiTi-M"/>
                  <a:cs typeface="Alibaba-PuHuiTi-M"/>
                  <a:sym typeface="Alibaba-PuHuiTi-M"/>
                </a:defRPr>
              </a:lvl1pPr>
            </a:lstStyle>
            <a:p>
              <a:r>
                <a:rPr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谢谢观看</a:t>
              </a:r>
              <a:endPara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69" name="矩形2.png" descr="矩形2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437096"/>
              <a:ext cx="3246359" cy="13440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70" name="矩形2.png" descr="矩形2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6178470" y="437096"/>
              <a:ext cx="3246360" cy="13440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1462</Words>
  <Application>WPS 演示</Application>
  <PresentationFormat>自定义</PresentationFormat>
  <Paragraphs>167</Paragraphs>
  <Slides>22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4" baseType="lpstr">
      <vt:lpstr>Arial</vt:lpstr>
      <vt:lpstr>宋体</vt:lpstr>
      <vt:lpstr>Wingdings</vt:lpstr>
      <vt:lpstr>Helvetica Neue</vt:lpstr>
      <vt:lpstr>Helvetica Neue Medium</vt:lpstr>
      <vt:lpstr>Helvetica Neue Light</vt:lpstr>
      <vt:lpstr>Alibaba-PuHuiTi-R</vt:lpstr>
      <vt:lpstr>阿里巴巴普惠体-B</vt:lpstr>
      <vt:lpstr>Alibaba-PuHuiTi-M</vt:lpstr>
      <vt:lpstr>微软雅黑</vt:lpstr>
      <vt:lpstr>Alibaba PuHuiTi</vt:lpstr>
      <vt:lpstr>Segoe Print</vt:lpstr>
      <vt:lpstr>Arial Unicode MS</vt:lpstr>
      <vt:lpstr>冬青黑体简体中文 W3</vt:lpstr>
      <vt:lpstr>微软雅黑 Light</vt:lpstr>
      <vt:lpstr>黑体</vt:lpstr>
      <vt:lpstr>Calibri</vt:lpstr>
      <vt:lpstr>Helvetica Neue Medium</vt:lpstr>
      <vt:lpstr>Calibri Light</vt:lpstr>
      <vt:lpstr>Arial</vt:lpstr>
      <vt:lpstr>Calibri Light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例子：单身贵族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melinda.zhou</cp:lastModifiedBy>
  <cp:revision>39</cp:revision>
  <dcterms:created xsi:type="dcterms:W3CDTF">2020-04-15T09:25:12Z</dcterms:created>
  <dcterms:modified xsi:type="dcterms:W3CDTF">2020-04-15T10:42:00Z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2052-10.8.2.6666</vt:lpwstr>
  </property>
</Properties>
</file>