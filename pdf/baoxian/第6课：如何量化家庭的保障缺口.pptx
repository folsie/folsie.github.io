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7" r:id="rId3"/>
    <p:sldId id="258" r:id="rId4"/>
    <p:sldId id="287" r:id="rId5"/>
    <p:sldId id="290" r:id="rId6"/>
    <p:sldId id="291" r:id="rId7"/>
    <p:sldId id="293" r:id="rId8"/>
    <p:sldId id="292" r:id="rId9"/>
    <p:sldId id="294" r:id="rId10"/>
    <p:sldId id="295" r:id="rId11"/>
    <p:sldId id="296" r:id="rId12"/>
    <p:sldId id="298" r:id="rId13"/>
    <p:sldId id="299" r:id="rId14"/>
    <p:sldId id="300" r:id="rId15"/>
    <p:sldId id="301" r:id="rId16"/>
    <p:sldId id="297" r:id="rId17"/>
    <p:sldId id="302" r:id="rId18"/>
    <p:sldId id="303" r:id="rId19"/>
    <p:sldId id="304" r:id="rId20"/>
    <p:sldId id="266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D0"/>
    <a:srgbClr val="FFE6A5"/>
    <a:srgbClr val="1BD6B7"/>
    <a:srgbClr val="656BFF"/>
    <a:srgbClr val="FEB350"/>
    <a:srgbClr val="FD7982"/>
    <a:srgbClr val="6D53FF"/>
    <a:srgbClr val="6700FF"/>
    <a:srgbClr val="1CB9FF"/>
    <a:srgbClr val="129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1"/>
    <p:restoredTop sz="94653"/>
  </p:normalViewPr>
  <p:slideViewPr>
    <p:cSldViewPr snapToGrid="0" snapToObjects="1">
      <p:cViewPr>
        <p:scale>
          <a:sx n="55" d="100"/>
          <a:sy n="55" d="100"/>
        </p:scale>
        <p:origin x="-1056" y="-784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458883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7046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有图片样式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5098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有图片样式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6277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有图片样式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732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有图片样式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329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有图片样式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0878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有图片样式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148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文本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组7.jpg" descr="组7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组3.jpg" descr="组3.jp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pt主标题内容"/>
          <p:cNvSpPr txBox="1"/>
          <p:nvPr/>
        </p:nvSpPr>
        <p:spPr>
          <a:xfrm>
            <a:off x="12140703" y="5539729"/>
            <a:ext cx="102592" cy="2103140"/>
          </a:xfrm>
          <a:prstGeom prst="rect">
            <a:avLst/>
          </a:prstGeom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0" cap="all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endParaRPr b="0" dirty="0">
              <a:latin typeface="阿里巴巴普惠体-B"/>
              <a:ea typeface="阿里巴巴普惠体-B"/>
              <a:cs typeface="阿里巴巴普惠体-B"/>
            </a:endParaRPr>
          </a:p>
        </p:txBody>
      </p:sp>
      <p:sp>
        <p:nvSpPr>
          <p:cNvPr id="39" name="演讲人：李xx"/>
          <p:cNvSpPr txBox="1"/>
          <p:nvPr/>
        </p:nvSpPr>
        <p:spPr>
          <a:xfrm>
            <a:off x="10841471" y="7742783"/>
            <a:ext cx="2701060" cy="872034"/>
          </a:xfrm>
          <a:prstGeom prst="rect">
            <a:avLst/>
          </a:prstGeom>
          <a:ln w="12700">
            <a:miter lim="400000"/>
          </a:ln>
          <a:effectLst>
            <a:outerShdw blurRad="76200" dist="101600" dir="5400000" rotWithShape="0">
              <a:srgbClr val="075C4C">
                <a:alpha val="2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0" cap="all"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保险课堂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科学保障  幸福一生"/>
          <p:cNvSpPr txBox="1"/>
          <p:nvPr/>
        </p:nvSpPr>
        <p:spPr>
          <a:xfrm>
            <a:off x="9665095" y="11283032"/>
            <a:ext cx="5066511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lvl="1" algn="l">
              <a:defRPr sz="3200" b="0" spc="96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defRPr>
            </a:pPr>
            <a:r>
              <a:rPr sz="3200" b="0" dirty="0" smtClean="0">
                <a:latin typeface="微软雅黑"/>
                <a:ea typeface="微软雅黑"/>
                <a:cs typeface="微软雅黑"/>
              </a:rPr>
              <a:t>科学保障  幸福一生</a:t>
            </a:r>
            <a:endParaRPr sz="3200" b="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1" name="矩形2.png" descr="矩形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18943" y="11537032"/>
            <a:ext cx="3987801" cy="165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矩形2.png" descr="矩形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4877256" y="11537032"/>
            <a:ext cx="3987801" cy="1651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" name="成组"/>
          <p:cNvGrpSpPr/>
          <p:nvPr/>
        </p:nvGrpSpPr>
        <p:grpSpPr>
          <a:xfrm>
            <a:off x="10912164" y="2662932"/>
            <a:ext cx="2559672" cy="2559671"/>
            <a:chOff x="0" y="0"/>
            <a:chExt cx="2559670" cy="2559670"/>
          </a:xfrm>
        </p:grpSpPr>
        <p:sp>
          <p:nvSpPr>
            <p:cNvPr id="43" name="圆角矩形"/>
            <p:cNvSpPr/>
            <p:nvPr/>
          </p:nvSpPr>
          <p:spPr>
            <a:xfrm>
              <a:off x="124383" y="124383"/>
              <a:ext cx="2310904" cy="2310904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4" name="圆角矩形"/>
            <p:cNvSpPr/>
            <p:nvPr/>
          </p:nvSpPr>
          <p:spPr>
            <a:xfrm>
              <a:off x="0" y="0"/>
              <a:ext cx="2559671" cy="2559671"/>
            </a:xfrm>
            <a:prstGeom prst="roundRect">
              <a:avLst>
                <a:gd name="adj" fmla="val 15000"/>
              </a:avLst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45" name="图像" descr="图像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542197" y="412173"/>
              <a:ext cx="1475277" cy="1735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文本框 1"/>
          <p:cNvSpPr txBox="1"/>
          <p:nvPr/>
        </p:nvSpPr>
        <p:spPr>
          <a:xfrm>
            <a:off x="5248711" y="5821028"/>
            <a:ext cx="13783983" cy="21031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CN" altLang="en-US" sz="13000" dirty="0" smtClean="0">
                <a:solidFill>
                  <a:schemeClr val="bg1"/>
                </a:solidFill>
                <a:effectLst>
                  <a:outerShdw blurRad="76200" dist="38100" dir="5400000" algn="t" rotWithShape="0">
                    <a:srgbClr val="179479">
                      <a:alpha val="99000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量化家庭保障缺口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目录"/>
          <p:cNvSpPr txBox="1"/>
          <p:nvPr/>
        </p:nvSpPr>
        <p:spPr>
          <a:xfrm>
            <a:off x="4219447" y="5929841"/>
            <a:ext cx="3077766" cy="1887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16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dirty="0"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57" name="标题1"/>
          <p:cNvSpPr txBox="1"/>
          <p:nvPr/>
        </p:nvSpPr>
        <p:spPr>
          <a:xfrm>
            <a:off x="12953763" y="4102527"/>
            <a:ext cx="3092193" cy="9335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solidFill>
                  <a:srgbClr val="000000">
                    <a:alpha val="80000"/>
                  </a:srgbClr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algn="l">
              <a:lnSpc>
                <a:spcPct val="200000"/>
              </a:lnSpc>
            </a:pPr>
            <a:r>
              <a:rPr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1.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量化寿险</a:t>
            </a:r>
            <a:endParaRPr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l">
              <a:lnSpc>
                <a:spcPct val="200000"/>
              </a:lnSpc>
            </a:pP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2.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量化重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疾险</a:t>
            </a:r>
            <a:endParaRPr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l">
              <a:lnSpc>
                <a:spcPct val="200000"/>
              </a:lnSpc>
            </a:pP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3.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量化医疗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险</a:t>
            </a:r>
            <a:endParaRPr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l">
              <a:lnSpc>
                <a:spcPct val="200000"/>
              </a:lnSpc>
            </a:pP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4.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量化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预算</a:t>
            </a:r>
            <a:endParaRPr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l">
              <a:lnSpc>
                <a:spcPct val="200000"/>
              </a:lnSpc>
            </a:pPr>
            <a:r>
              <a:rPr lang="en-US" altLang="zh-CN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  <a:sym typeface="Helvetica Neue"/>
              </a:rPr>
              <a:t>5.</a:t>
            </a:r>
            <a:r>
              <a:rPr lang="zh-CN" altLang="en-US" dirty="0">
                <a:solidFill>
                  <a:srgbClr val="000000"/>
                </a:solidFill>
                <a:latin typeface="Microsoft YaHei" charset="-122"/>
                <a:ea typeface="Microsoft YaHei" charset="-122"/>
                <a:cs typeface="Microsoft YaHei" charset="-122"/>
                <a:sym typeface="Helvetica Neue"/>
              </a:rPr>
              <a:t>实战演练</a:t>
            </a:r>
          </a:p>
          <a:p>
            <a:pPr algn="l"/>
            <a:endParaRPr lang="zh-CN" altLang="en-US" dirty="0">
              <a:latin typeface="微软雅黑"/>
              <a:ea typeface="微软雅黑"/>
              <a:cs typeface="微软雅黑"/>
            </a:endParaRPr>
          </a:p>
          <a:p>
            <a:pPr algn="l"/>
            <a:endParaRPr lang="zh-CN" altLang="en-US" dirty="0">
              <a:latin typeface="微软雅黑"/>
              <a:ea typeface="微软雅黑"/>
              <a:cs typeface="微软雅黑"/>
            </a:endParaRPr>
          </a:p>
          <a:p>
            <a:pPr algn="l"/>
            <a:endParaRPr lang="zh-CN" altLang="en-US" dirty="0">
              <a:latin typeface="微软雅黑"/>
              <a:ea typeface="微软雅黑"/>
              <a:cs typeface="微软雅黑"/>
            </a:endParaRPr>
          </a:p>
          <a:p>
            <a:pPr algn="l"/>
            <a:endParaRPr lang="en-US" altLang="zh-CN" dirty="0" smtClean="0">
              <a:latin typeface="微软雅黑"/>
              <a:ea typeface="微软雅黑"/>
              <a:cs typeface="微软雅黑"/>
            </a:endParaRPr>
          </a:p>
          <a:p>
            <a:pPr algn="l"/>
            <a:endParaRPr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12234" y="7889686"/>
            <a:ext cx="273030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C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A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T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A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L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O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G</a:t>
            </a:r>
          </a:p>
        </p:txBody>
      </p:sp>
      <p:sp>
        <p:nvSpPr>
          <p:cNvPr id="5" name="矩形 4"/>
          <p:cNvSpPr/>
          <p:nvPr/>
        </p:nvSpPr>
        <p:spPr>
          <a:xfrm>
            <a:off x="4512234" y="8650943"/>
            <a:ext cx="2584825" cy="119529"/>
          </a:xfrm>
          <a:prstGeom prst="rect">
            <a:avLst/>
          </a:prstGeom>
          <a:solidFill>
            <a:srgbClr val="1CC2A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4352072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一级标题内容"/>
          <p:cNvSpPr txBox="1"/>
          <p:nvPr/>
        </p:nvSpPr>
        <p:spPr>
          <a:xfrm>
            <a:off x="9103525" y="6225679"/>
            <a:ext cx="5745163" cy="1795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1000" cap="all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量化寿险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66" name="成组"/>
          <p:cNvGrpSpPr/>
          <p:nvPr/>
        </p:nvGrpSpPr>
        <p:grpSpPr>
          <a:xfrm>
            <a:off x="7378700" y="4697338"/>
            <a:ext cx="9626600" cy="1498601"/>
            <a:chOff x="0" y="0"/>
            <a:chExt cx="9626600" cy="1498600"/>
          </a:xfrm>
        </p:grpSpPr>
        <p:sp>
          <p:nvSpPr>
            <p:cNvPr id="63" name="part 01"/>
            <p:cNvSpPr txBox="1"/>
            <p:nvPr/>
          </p:nvSpPr>
          <p:spPr>
            <a:xfrm>
              <a:off x="2903473" y="-1"/>
              <a:ext cx="4073653" cy="149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 cap="all">
                  <a:solidFill>
                    <a:srgbClr val="0BC9BB"/>
                  </a:solidFill>
                  <a:latin typeface="Alibaba-PuHuiTi-R"/>
                  <a:ea typeface="Alibaba-PuHuiTi-R"/>
                  <a:cs typeface="Alibaba-PuHuiTi-R"/>
                  <a:sym typeface="Alibaba-PuHuiTi-R"/>
                </a:defRPr>
              </a:lvl1pPr>
            </a:lstStyle>
            <a:p>
              <a:r>
                <a:t>part 01</a:t>
              </a:r>
            </a:p>
          </p:txBody>
        </p:sp>
        <p:pic>
          <p:nvPicPr>
            <p:cNvPr id="64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92150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0" name="成组"/>
          <p:cNvGrpSpPr/>
          <p:nvPr/>
        </p:nvGrpSpPr>
        <p:grpSpPr>
          <a:xfrm>
            <a:off x="11837144" y="9581991"/>
            <a:ext cx="709713" cy="577662"/>
            <a:chOff x="0" y="0"/>
            <a:chExt cx="709712" cy="577661"/>
          </a:xfrm>
        </p:grpSpPr>
        <p:sp>
          <p:nvSpPr>
            <p:cNvPr id="67" name="三角形"/>
            <p:cNvSpPr/>
            <p:nvPr/>
          </p:nvSpPr>
          <p:spPr>
            <a:xfrm rot="10800000" flipH="1">
              <a:off x="0" y="101599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8" name="三角形"/>
            <p:cNvSpPr/>
            <p:nvPr/>
          </p:nvSpPr>
          <p:spPr>
            <a:xfrm rot="10800000" flipH="1">
              <a:off x="0" y="-1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9" name="三角形"/>
            <p:cNvSpPr/>
            <p:nvPr/>
          </p:nvSpPr>
          <p:spPr>
            <a:xfrm>
              <a:off x="116416" y="78090"/>
              <a:ext cx="476879" cy="3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692" y="2901735"/>
            <a:ext cx="20404980" cy="774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3014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" name="二级标题"/>
          <p:cNvSpPr txBox="1"/>
          <p:nvPr/>
        </p:nvSpPr>
        <p:spPr>
          <a:xfrm>
            <a:off x="8909054" y="2084519"/>
            <a:ext cx="6565900" cy="1813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家庭责任分析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031" y="4134425"/>
            <a:ext cx="20997200" cy="912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6373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" name="二级标题"/>
          <p:cNvSpPr txBox="1"/>
          <p:nvPr/>
        </p:nvSpPr>
        <p:spPr>
          <a:xfrm>
            <a:off x="8909054" y="2084519"/>
            <a:ext cx="6565900" cy="1813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家庭责任分析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231" y="3897708"/>
            <a:ext cx="17584615" cy="52206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231" y="9256040"/>
            <a:ext cx="17584615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349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" name="二级标题"/>
          <p:cNvSpPr txBox="1"/>
          <p:nvPr/>
        </p:nvSpPr>
        <p:spPr>
          <a:xfrm>
            <a:off x="8909054" y="2084519"/>
            <a:ext cx="6565900" cy="1813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家庭责任分析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78" y="5636089"/>
            <a:ext cx="12744346" cy="495185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6700" y="5879769"/>
            <a:ext cx="8712968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2920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" name="二级标题"/>
          <p:cNvSpPr txBox="1"/>
          <p:nvPr/>
        </p:nvSpPr>
        <p:spPr>
          <a:xfrm>
            <a:off x="8651146" y="2047115"/>
            <a:ext cx="6565900" cy="1813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家庭责任分析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898" y="4450431"/>
            <a:ext cx="18095317" cy="783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09129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" name="二级标题"/>
          <p:cNvSpPr txBox="1"/>
          <p:nvPr/>
        </p:nvSpPr>
        <p:spPr>
          <a:xfrm>
            <a:off x="8909053" y="2084519"/>
            <a:ext cx="6565900" cy="1813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寿险缺口计算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221" y="4163704"/>
            <a:ext cx="17511779" cy="927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838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一级标题内容"/>
          <p:cNvSpPr txBox="1"/>
          <p:nvPr/>
        </p:nvSpPr>
        <p:spPr>
          <a:xfrm>
            <a:off x="8398204" y="6225679"/>
            <a:ext cx="7155805" cy="1795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1000" cap="all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量化重疾险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66" name="成组"/>
          <p:cNvGrpSpPr/>
          <p:nvPr/>
        </p:nvGrpSpPr>
        <p:grpSpPr>
          <a:xfrm>
            <a:off x="7378700" y="4779789"/>
            <a:ext cx="9626600" cy="1333698"/>
            <a:chOff x="0" y="82451"/>
            <a:chExt cx="9626600" cy="1333697"/>
          </a:xfrm>
        </p:grpSpPr>
        <p:sp>
          <p:nvSpPr>
            <p:cNvPr id="63" name="part 01"/>
            <p:cNvSpPr txBox="1"/>
            <p:nvPr/>
          </p:nvSpPr>
          <p:spPr>
            <a:xfrm>
              <a:off x="2851586" y="82451"/>
              <a:ext cx="4177427" cy="13336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 cap="all">
                  <a:solidFill>
                    <a:srgbClr val="0BC9BB"/>
                  </a:solidFill>
                  <a:latin typeface="Alibaba-PuHuiTi-R"/>
                  <a:ea typeface="Alibaba-PuHuiTi-R"/>
                  <a:cs typeface="Alibaba-PuHuiTi-R"/>
                  <a:sym typeface="Alibaba-PuHuiTi-R"/>
                </a:defRPr>
              </a:lvl1pPr>
            </a:lstStyle>
            <a:p>
              <a:r>
                <a:rPr dirty="0"/>
                <a:t>part </a:t>
              </a:r>
              <a:r>
                <a:rPr dirty="0" smtClean="0"/>
                <a:t>0</a:t>
              </a:r>
              <a:r>
                <a:rPr lang="en-US" altLang="zh-CN" dirty="0" smtClean="0"/>
                <a:t>2</a:t>
              </a:r>
              <a:endParaRPr dirty="0"/>
            </a:p>
          </p:txBody>
        </p:sp>
        <p:pic>
          <p:nvPicPr>
            <p:cNvPr id="64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92150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0" name="成组"/>
          <p:cNvGrpSpPr/>
          <p:nvPr/>
        </p:nvGrpSpPr>
        <p:grpSpPr>
          <a:xfrm>
            <a:off x="11837144" y="9581991"/>
            <a:ext cx="709713" cy="577662"/>
            <a:chOff x="0" y="0"/>
            <a:chExt cx="709712" cy="577661"/>
          </a:xfrm>
        </p:grpSpPr>
        <p:sp>
          <p:nvSpPr>
            <p:cNvPr id="67" name="三角形"/>
            <p:cNvSpPr/>
            <p:nvPr/>
          </p:nvSpPr>
          <p:spPr>
            <a:xfrm rot="10800000" flipH="1">
              <a:off x="0" y="101599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8" name="三角形"/>
            <p:cNvSpPr/>
            <p:nvPr/>
          </p:nvSpPr>
          <p:spPr>
            <a:xfrm rot="10800000" flipH="1">
              <a:off x="0" y="-1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9" name="三角形"/>
            <p:cNvSpPr/>
            <p:nvPr/>
          </p:nvSpPr>
          <p:spPr>
            <a:xfrm>
              <a:off x="116416" y="78090"/>
              <a:ext cx="476879" cy="3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3848939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73" y="1724488"/>
            <a:ext cx="21505069" cy="1053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0033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" name="二级标题"/>
          <p:cNvSpPr txBox="1"/>
          <p:nvPr/>
        </p:nvSpPr>
        <p:spPr>
          <a:xfrm>
            <a:off x="8370453" y="2084519"/>
            <a:ext cx="7643118" cy="1813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重疾保额的量化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701" y="4108130"/>
            <a:ext cx="17073930" cy="923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1164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一级标题内容"/>
          <p:cNvSpPr txBox="1"/>
          <p:nvPr/>
        </p:nvSpPr>
        <p:spPr>
          <a:xfrm>
            <a:off x="8398205" y="6225679"/>
            <a:ext cx="7155805" cy="1795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1000" cap="all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量化医疗险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66" name="成组"/>
          <p:cNvGrpSpPr/>
          <p:nvPr/>
        </p:nvGrpSpPr>
        <p:grpSpPr>
          <a:xfrm>
            <a:off x="7378700" y="4779789"/>
            <a:ext cx="9626600" cy="1333698"/>
            <a:chOff x="0" y="82451"/>
            <a:chExt cx="9626600" cy="1333697"/>
          </a:xfrm>
        </p:grpSpPr>
        <p:sp>
          <p:nvSpPr>
            <p:cNvPr id="63" name="part 01"/>
            <p:cNvSpPr txBox="1"/>
            <p:nvPr/>
          </p:nvSpPr>
          <p:spPr>
            <a:xfrm>
              <a:off x="2851586" y="82451"/>
              <a:ext cx="4177427" cy="13336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 cap="all">
                  <a:solidFill>
                    <a:srgbClr val="0BC9BB"/>
                  </a:solidFill>
                  <a:latin typeface="Alibaba-PuHuiTi-R"/>
                  <a:ea typeface="Alibaba-PuHuiTi-R"/>
                  <a:cs typeface="Alibaba-PuHuiTi-R"/>
                  <a:sym typeface="Alibaba-PuHuiTi-R"/>
                </a:defRPr>
              </a:lvl1pPr>
            </a:lstStyle>
            <a:p>
              <a:r>
                <a:rPr dirty="0"/>
                <a:t>part </a:t>
              </a:r>
              <a:r>
                <a:rPr dirty="0" smtClean="0"/>
                <a:t>0</a:t>
              </a:r>
              <a:r>
                <a:rPr lang="en-US" altLang="zh-CN" dirty="0"/>
                <a:t>3</a:t>
              </a:r>
              <a:endParaRPr dirty="0"/>
            </a:p>
          </p:txBody>
        </p:sp>
        <p:pic>
          <p:nvPicPr>
            <p:cNvPr id="64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92150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0" name="成组"/>
          <p:cNvGrpSpPr/>
          <p:nvPr/>
        </p:nvGrpSpPr>
        <p:grpSpPr>
          <a:xfrm>
            <a:off x="11837144" y="9581991"/>
            <a:ext cx="709713" cy="577662"/>
            <a:chOff x="0" y="0"/>
            <a:chExt cx="709712" cy="577661"/>
          </a:xfrm>
        </p:grpSpPr>
        <p:sp>
          <p:nvSpPr>
            <p:cNvPr id="67" name="三角形"/>
            <p:cNvSpPr/>
            <p:nvPr/>
          </p:nvSpPr>
          <p:spPr>
            <a:xfrm rot="10800000" flipH="1">
              <a:off x="0" y="101599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8" name="三角形"/>
            <p:cNvSpPr/>
            <p:nvPr/>
          </p:nvSpPr>
          <p:spPr>
            <a:xfrm rot="10800000" flipH="1">
              <a:off x="0" y="-1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9" name="三角形"/>
            <p:cNvSpPr/>
            <p:nvPr/>
          </p:nvSpPr>
          <p:spPr>
            <a:xfrm>
              <a:off x="116416" y="78090"/>
              <a:ext cx="476879" cy="3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6848300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25" y="2461846"/>
            <a:ext cx="22758222" cy="940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665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一级标题内容"/>
          <p:cNvSpPr txBox="1"/>
          <p:nvPr/>
        </p:nvSpPr>
        <p:spPr>
          <a:xfrm>
            <a:off x="9103527" y="6225679"/>
            <a:ext cx="5745163" cy="1795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1000" cap="all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量化预算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66" name="成组"/>
          <p:cNvGrpSpPr/>
          <p:nvPr/>
        </p:nvGrpSpPr>
        <p:grpSpPr>
          <a:xfrm>
            <a:off x="7378700" y="4779789"/>
            <a:ext cx="9626600" cy="1333698"/>
            <a:chOff x="0" y="82451"/>
            <a:chExt cx="9626600" cy="1333697"/>
          </a:xfrm>
        </p:grpSpPr>
        <p:sp>
          <p:nvSpPr>
            <p:cNvPr id="63" name="part 01"/>
            <p:cNvSpPr txBox="1"/>
            <p:nvPr/>
          </p:nvSpPr>
          <p:spPr>
            <a:xfrm>
              <a:off x="2851586" y="82451"/>
              <a:ext cx="4177427" cy="13336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 cap="all">
                  <a:solidFill>
                    <a:srgbClr val="0BC9BB"/>
                  </a:solidFill>
                  <a:latin typeface="Alibaba-PuHuiTi-R"/>
                  <a:ea typeface="Alibaba-PuHuiTi-R"/>
                  <a:cs typeface="Alibaba-PuHuiTi-R"/>
                  <a:sym typeface="Alibaba-PuHuiTi-R"/>
                </a:defRPr>
              </a:lvl1pPr>
            </a:lstStyle>
            <a:p>
              <a:r>
                <a:rPr dirty="0"/>
                <a:t>part </a:t>
              </a:r>
              <a:r>
                <a:rPr dirty="0" smtClean="0"/>
                <a:t>0</a:t>
              </a:r>
              <a:r>
                <a:rPr lang="en-US" altLang="zh-CN" dirty="0"/>
                <a:t>4</a:t>
              </a:r>
              <a:endParaRPr dirty="0"/>
            </a:p>
          </p:txBody>
        </p:sp>
        <p:pic>
          <p:nvPicPr>
            <p:cNvPr id="64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92150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0" name="成组"/>
          <p:cNvGrpSpPr/>
          <p:nvPr/>
        </p:nvGrpSpPr>
        <p:grpSpPr>
          <a:xfrm>
            <a:off x="11837144" y="9581991"/>
            <a:ext cx="709713" cy="577662"/>
            <a:chOff x="0" y="0"/>
            <a:chExt cx="709712" cy="577661"/>
          </a:xfrm>
        </p:grpSpPr>
        <p:sp>
          <p:nvSpPr>
            <p:cNvPr id="67" name="三角形"/>
            <p:cNvSpPr/>
            <p:nvPr/>
          </p:nvSpPr>
          <p:spPr>
            <a:xfrm rot="10800000" flipH="1">
              <a:off x="0" y="101599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8" name="三角形"/>
            <p:cNvSpPr/>
            <p:nvPr/>
          </p:nvSpPr>
          <p:spPr>
            <a:xfrm rot="10800000" flipH="1">
              <a:off x="0" y="-1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9" name="三角形"/>
            <p:cNvSpPr/>
            <p:nvPr/>
          </p:nvSpPr>
          <p:spPr>
            <a:xfrm>
              <a:off x="116416" y="78090"/>
              <a:ext cx="476879" cy="3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232595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21" y="2485291"/>
            <a:ext cx="22421238" cy="903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9915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一级标题内容"/>
          <p:cNvSpPr txBox="1"/>
          <p:nvPr/>
        </p:nvSpPr>
        <p:spPr>
          <a:xfrm>
            <a:off x="9103530" y="6225679"/>
            <a:ext cx="5745163" cy="1795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1000" cap="all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实战演练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66" name="成组"/>
          <p:cNvGrpSpPr/>
          <p:nvPr/>
        </p:nvGrpSpPr>
        <p:grpSpPr>
          <a:xfrm>
            <a:off x="7378700" y="4779789"/>
            <a:ext cx="9626600" cy="1333698"/>
            <a:chOff x="0" y="82451"/>
            <a:chExt cx="9626600" cy="1333697"/>
          </a:xfrm>
        </p:grpSpPr>
        <p:sp>
          <p:nvSpPr>
            <p:cNvPr id="63" name="part 01"/>
            <p:cNvSpPr txBox="1"/>
            <p:nvPr/>
          </p:nvSpPr>
          <p:spPr>
            <a:xfrm>
              <a:off x="2851587" y="82451"/>
              <a:ext cx="4177426" cy="13336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 cap="all">
                  <a:solidFill>
                    <a:srgbClr val="0BC9BB"/>
                  </a:solidFill>
                  <a:latin typeface="Alibaba-PuHuiTi-R"/>
                  <a:ea typeface="Alibaba-PuHuiTi-R"/>
                  <a:cs typeface="Alibaba-PuHuiTi-R"/>
                  <a:sym typeface="Alibaba-PuHuiTi-R"/>
                </a:defRPr>
              </a:lvl1pPr>
            </a:lstStyle>
            <a:p>
              <a:r>
                <a:rPr dirty="0"/>
                <a:t>part </a:t>
              </a:r>
              <a:r>
                <a:rPr dirty="0" smtClean="0"/>
                <a:t>0</a:t>
              </a:r>
              <a:r>
                <a:rPr lang="en-US" altLang="zh-CN" dirty="0" smtClean="0"/>
                <a:t>5</a:t>
              </a:r>
              <a:endParaRPr dirty="0"/>
            </a:p>
          </p:txBody>
        </p:sp>
        <p:pic>
          <p:nvPicPr>
            <p:cNvPr id="64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92150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0" name="成组"/>
          <p:cNvGrpSpPr/>
          <p:nvPr/>
        </p:nvGrpSpPr>
        <p:grpSpPr>
          <a:xfrm>
            <a:off x="11837144" y="9581991"/>
            <a:ext cx="709713" cy="577662"/>
            <a:chOff x="0" y="0"/>
            <a:chExt cx="709712" cy="577661"/>
          </a:xfrm>
        </p:grpSpPr>
        <p:sp>
          <p:nvSpPr>
            <p:cNvPr id="67" name="三角形"/>
            <p:cNvSpPr/>
            <p:nvPr/>
          </p:nvSpPr>
          <p:spPr>
            <a:xfrm rot="10800000" flipH="1">
              <a:off x="0" y="101599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8" name="三角形"/>
            <p:cNvSpPr/>
            <p:nvPr/>
          </p:nvSpPr>
          <p:spPr>
            <a:xfrm rot="10800000" flipH="1">
              <a:off x="0" y="-1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9" name="三角形"/>
            <p:cNvSpPr/>
            <p:nvPr/>
          </p:nvSpPr>
          <p:spPr>
            <a:xfrm>
              <a:off x="116416" y="78090"/>
              <a:ext cx="476879" cy="3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363971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 bwMode="auto">
          <a:xfrm>
            <a:off x="9198992" y="4594540"/>
            <a:ext cx="6743908" cy="3778154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2833" tIns="86414" rIns="172833" bIns="86414" numCol="1" rtlCol="0" anchor="t" anchorCtr="0" compatLnSpc="1"/>
          <a:lstStyle/>
          <a:p>
            <a:pPr defTabSz="1777914" fontAlgn="base">
              <a:spcBef>
                <a:spcPct val="0"/>
              </a:spcBef>
              <a:spcAft>
                <a:spcPct val="0"/>
              </a:spcAft>
            </a:pPr>
            <a:endParaRPr lang="zh-CN" altLang="en-US" sz="3407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圆角矩形 24"/>
          <p:cNvSpPr/>
          <p:nvPr/>
        </p:nvSpPr>
        <p:spPr bwMode="auto">
          <a:xfrm>
            <a:off x="2145174" y="4539235"/>
            <a:ext cx="6743908" cy="3778154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2833" tIns="86414" rIns="172833" bIns="86414" numCol="1" rtlCol="0" anchor="t" anchorCtr="0" compatLnSpc="1"/>
          <a:lstStyle/>
          <a:p>
            <a:pPr defTabSz="1777914" fontAlgn="base">
              <a:spcBef>
                <a:spcPct val="0"/>
              </a:spcBef>
              <a:spcAft>
                <a:spcPct val="0"/>
              </a:spcAft>
            </a:pPr>
            <a:endParaRPr lang="zh-CN" altLang="en-US" sz="3407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文本框 137"/>
          <p:cNvSpPr>
            <a:spLocks noChangeArrowheads="1"/>
          </p:cNvSpPr>
          <p:nvPr/>
        </p:nvSpPr>
        <p:spPr bwMode="auto">
          <a:xfrm>
            <a:off x="4193974" y="3469327"/>
            <a:ext cx="3092513" cy="183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1343" dirty="0">
                <a:solidFill>
                  <a:srgbClr val="FFC000"/>
                </a:solidFill>
                <a:latin typeface="Microsoft JhengHei" panose="020B0604030504040204" charset="-120"/>
                <a:ea typeface="Microsoft JhengHei" panose="020B0604030504040204" charset="-120"/>
                <a:sym typeface="Microsoft JhengHei" panose="020B0604030504040204" charset="-120"/>
              </a:rPr>
              <a:t>收入</a:t>
            </a:r>
          </a:p>
        </p:txBody>
      </p:sp>
      <p:sp>
        <p:nvSpPr>
          <p:cNvPr id="27" name="文本框 137"/>
          <p:cNvSpPr>
            <a:spLocks noChangeArrowheads="1"/>
          </p:cNvSpPr>
          <p:nvPr/>
        </p:nvSpPr>
        <p:spPr bwMode="auto">
          <a:xfrm>
            <a:off x="11256465" y="3341986"/>
            <a:ext cx="3092513" cy="183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1343" dirty="0">
                <a:solidFill>
                  <a:srgbClr val="FFC000"/>
                </a:solidFill>
                <a:latin typeface="Microsoft JhengHei" panose="020B0604030504040204" charset="-120"/>
                <a:ea typeface="Microsoft JhengHei" panose="020B0604030504040204" charset="-120"/>
                <a:sym typeface="Microsoft JhengHei" panose="020B0604030504040204" charset="-120"/>
              </a:rPr>
              <a:t>支出</a:t>
            </a:r>
          </a:p>
        </p:txBody>
      </p:sp>
      <p:sp>
        <p:nvSpPr>
          <p:cNvPr id="28" name="圆角矩形 27"/>
          <p:cNvSpPr/>
          <p:nvPr/>
        </p:nvSpPr>
        <p:spPr bwMode="auto">
          <a:xfrm>
            <a:off x="2154293" y="9543349"/>
            <a:ext cx="6743908" cy="3778154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2833" tIns="86414" rIns="172833" bIns="86414" numCol="1" rtlCol="0" anchor="t" anchorCtr="0" compatLnSpc="1"/>
          <a:lstStyle/>
          <a:p>
            <a:pPr defTabSz="1777914" fontAlgn="base">
              <a:spcBef>
                <a:spcPct val="0"/>
              </a:spcBef>
              <a:spcAft>
                <a:spcPct val="0"/>
              </a:spcAft>
            </a:pPr>
            <a:endParaRPr lang="zh-CN" altLang="en-US" sz="3407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圆角矩形 28"/>
          <p:cNvSpPr/>
          <p:nvPr/>
        </p:nvSpPr>
        <p:spPr bwMode="auto">
          <a:xfrm>
            <a:off x="9430765" y="9502420"/>
            <a:ext cx="6743908" cy="3778154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2833" tIns="86414" rIns="172833" bIns="86414" numCol="1" rtlCol="0" anchor="t" anchorCtr="0" compatLnSpc="1"/>
          <a:lstStyle/>
          <a:p>
            <a:pPr defTabSz="1777914" fontAlgn="base">
              <a:spcBef>
                <a:spcPct val="0"/>
              </a:spcBef>
              <a:spcAft>
                <a:spcPct val="0"/>
              </a:spcAft>
            </a:pPr>
            <a:endParaRPr lang="zh-CN" altLang="en-US" sz="3407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文本框 137"/>
          <p:cNvSpPr>
            <a:spLocks noChangeArrowheads="1"/>
          </p:cNvSpPr>
          <p:nvPr/>
        </p:nvSpPr>
        <p:spPr bwMode="auto">
          <a:xfrm>
            <a:off x="4017268" y="8583483"/>
            <a:ext cx="3092513" cy="183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1343" dirty="0">
                <a:solidFill>
                  <a:srgbClr val="FFC000"/>
                </a:solidFill>
                <a:latin typeface="Microsoft JhengHei" panose="020B0604030504040204" charset="-120"/>
                <a:ea typeface="Microsoft JhengHei" panose="020B0604030504040204" charset="-120"/>
                <a:sym typeface="Microsoft JhengHei" panose="020B0604030504040204" charset="-120"/>
              </a:rPr>
              <a:t>资产</a:t>
            </a:r>
          </a:p>
        </p:txBody>
      </p:sp>
      <p:sp>
        <p:nvSpPr>
          <p:cNvPr id="31" name="文本框 137"/>
          <p:cNvSpPr>
            <a:spLocks noChangeArrowheads="1"/>
          </p:cNvSpPr>
          <p:nvPr/>
        </p:nvSpPr>
        <p:spPr bwMode="auto">
          <a:xfrm>
            <a:off x="11256463" y="8666619"/>
            <a:ext cx="3092513" cy="183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1343" dirty="0">
                <a:solidFill>
                  <a:srgbClr val="FFC000"/>
                </a:solidFill>
                <a:latin typeface="Microsoft JhengHei" panose="020B0604030504040204" charset="-120"/>
                <a:ea typeface="Microsoft JhengHei" panose="020B0604030504040204" charset="-120"/>
                <a:sym typeface="Microsoft JhengHei" panose="020B0604030504040204" charset="-120"/>
              </a:rPr>
              <a:t>负债</a:t>
            </a:r>
          </a:p>
        </p:txBody>
      </p:sp>
      <p:sp>
        <p:nvSpPr>
          <p:cNvPr id="32" name="圆角矩形 31"/>
          <p:cNvSpPr/>
          <p:nvPr/>
        </p:nvSpPr>
        <p:spPr bwMode="auto">
          <a:xfrm>
            <a:off x="17095822" y="4192126"/>
            <a:ext cx="6710007" cy="8721157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2833" tIns="86414" rIns="172833" bIns="86414" numCol="1" rtlCol="0" anchor="t" anchorCtr="0" compatLnSpc="1"/>
          <a:lstStyle/>
          <a:p>
            <a:pPr defTabSz="1777914" fontAlgn="base">
              <a:spcBef>
                <a:spcPct val="0"/>
              </a:spcBef>
              <a:spcAft>
                <a:spcPct val="0"/>
              </a:spcAft>
            </a:pPr>
            <a:endParaRPr lang="zh-CN" altLang="en-US" sz="3407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文本框 8"/>
          <p:cNvSpPr>
            <a:spLocks noChangeArrowheads="1"/>
          </p:cNvSpPr>
          <p:nvPr/>
        </p:nvSpPr>
        <p:spPr bwMode="auto">
          <a:xfrm>
            <a:off x="2876041" y="5389059"/>
            <a:ext cx="3978973" cy="1665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407" dirty="0">
                <a:solidFill>
                  <a:schemeClr val="bg1"/>
                </a:solidFill>
              </a:rPr>
              <a:t>黄先生  年收入</a:t>
            </a:r>
            <a:r>
              <a:rPr lang="en-US" altLang="zh-CN" sz="3407" dirty="0">
                <a:solidFill>
                  <a:schemeClr val="bg1"/>
                </a:solidFill>
              </a:rPr>
              <a:t>20</a:t>
            </a:r>
            <a:r>
              <a:rPr lang="zh-CN" altLang="en-US" sz="3407" dirty="0">
                <a:solidFill>
                  <a:schemeClr val="bg1"/>
                </a:solidFill>
              </a:rPr>
              <a:t>万</a:t>
            </a:r>
          </a:p>
          <a:p>
            <a:r>
              <a:rPr lang="zh-CN" altLang="en-US" sz="3407" dirty="0">
                <a:solidFill>
                  <a:schemeClr val="bg1"/>
                </a:solidFill>
              </a:rPr>
              <a:t>林小姐  年收入</a:t>
            </a:r>
            <a:r>
              <a:rPr lang="en-US" altLang="zh-CN" sz="3407" dirty="0">
                <a:solidFill>
                  <a:schemeClr val="bg1"/>
                </a:solidFill>
              </a:rPr>
              <a:t>15</a:t>
            </a:r>
            <a:r>
              <a:rPr lang="zh-CN" altLang="en-US" sz="3407" dirty="0">
                <a:solidFill>
                  <a:schemeClr val="bg1"/>
                </a:solidFill>
              </a:rPr>
              <a:t>万</a:t>
            </a:r>
          </a:p>
          <a:p>
            <a:r>
              <a:rPr lang="zh-CN" altLang="en-US" sz="3407" dirty="0">
                <a:solidFill>
                  <a:schemeClr val="bg1"/>
                </a:solidFill>
              </a:rPr>
              <a:t>总收入：</a:t>
            </a:r>
            <a:r>
              <a:rPr lang="en-US" altLang="zh-CN" sz="3407" dirty="0">
                <a:solidFill>
                  <a:schemeClr val="bg1"/>
                </a:solidFill>
              </a:rPr>
              <a:t>35</a:t>
            </a:r>
            <a:r>
              <a:rPr lang="zh-CN" altLang="en-US" sz="3407" dirty="0">
                <a:solidFill>
                  <a:schemeClr val="bg1"/>
                </a:solidFill>
              </a:rPr>
              <a:t>万</a:t>
            </a:r>
          </a:p>
        </p:txBody>
      </p:sp>
      <p:sp>
        <p:nvSpPr>
          <p:cNvPr id="34" name="文本框 8"/>
          <p:cNvSpPr>
            <a:spLocks noChangeArrowheads="1"/>
          </p:cNvSpPr>
          <p:nvPr/>
        </p:nvSpPr>
        <p:spPr bwMode="auto">
          <a:xfrm>
            <a:off x="17110500" y="6370151"/>
            <a:ext cx="5133136" cy="2363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539" dirty="0">
                <a:latin typeface="Hiragino Sans GB W3" charset="-122"/>
                <a:ea typeface="Hiragino Sans GB W3" charset="-122"/>
                <a:cs typeface="Hiragino Sans GB W3" charset="-122"/>
              </a:rPr>
              <a:t>三口之家</a:t>
            </a:r>
          </a:p>
          <a:p>
            <a:r>
              <a:rPr lang="zh-CN" altLang="en-US" sz="3407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先生  </a:t>
            </a:r>
            <a:r>
              <a:rPr lang="en-US" altLang="zh-CN" sz="3407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1990/1/1</a:t>
            </a:r>
            <a:r>
              <a:rPr lang="zh-CN" altLang="en-US" sz="3407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公务员</a:t>
            </a:r>
            <a:endParaRPr lang="en-US" altLang="zh-CN" sz="3407" dirty="0">
              <a:latin typeface="Hiragino Sans GB W3" charset="-122"/>
              <a:ea typeface="Hiragino Sans GB W3" charset="-122"/>
              <a:cs typeface="Hiragino Sans GB W3" charset="-122"/>
            </a:endParaRPr>
          </a:p>
          <a:p>
            <a:r>
              <a:rPr lang="zh-CN" altLang="en-US" sz="3407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太太  </a:t>
            </a:r>
            <a:r>
              <a:rPr lang="en-US" altLang="zh-CN" sz="3407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1991/1/1</a:t>
            </a:r>
            <a:r>
              <a:rPr lang="zh-CN" altLang="en-US" sz="3407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  </a:t>
            </a:r>
            <a:r>
              <a:rPr lang="zh-CN" altLang="en-US" sz="3407" dirty="0">
                <a:latin typeface="Hiragino Sans GB W3" charset="-122"/>
                <a:ea typeface="Hiragino Sans GB W3" charset="-122"/>
                <a:cs typeface="Hiragino Sans GB W3" charset="-122"/>
              </a:rPr>
              <a:t>会计</a:t>
            </a:r>
          </a:p>
          <a:p>
            <a:r>
              <a:rPr lang="zh-CN" altLang="en-US" sz="3407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宝宝    </a:t>
            </a:r>
            <a:r>
              <a:rPr lang="en-US" altLang="zh-CN" sz="3407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2019/1/1</a:t>
            </a:r>
            <a:r>
              <a:rPr lang="zh-CN" altLang="en-US" sz="3407" dirty="0">
                <a:latin typeface="Hiragino Sans GB W3" charset="-122"/>
                <a:ea typeface="Hiragino Sans GB W3" charset="-122"/>
                <a:cs typeface="Hiragino Sans GB W3" charset="-122"/>
              </a:rPr>
              <a:t> </a:t>
            </a:r>
            <a:r>
              <a:rPr lang="zh-CN" altLang="en-US" sz="3407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 男孩</a:t>
            </a:r>
            <a:endParaRPr lang="zh-CN" altLang="en-US" sz="3407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35" name="文本框 8"/>
          <p:cNvSpPr>
            <a:spLocks noChangeArrowheads="1"/>
          </p:cNvSpPr>
          <p:nvPr/>
        </p:nvSpPr>
        <p:spPr bwMode="auto">
          <a:xfrm>
            <a:off x="2917804" y="10507532"/>
            <a:ext cx="3978974" cy="1665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407" dirty="0">
                <a:solidFill>
                  <a:schemeClr val="bg1"/>
                </a:solidFill>
              </a:rPr>
              <a:t>现金存款</a:t>
            </a:r>
            <a:r>
              <a:rPr lang="en-US" altLang="zh-CN" sz="3407" dirty="0">
                <a:solidFill>
                  <a:schemeClr val="bg1"/>
                </a:solidFill>
              </a:rPr>
              <a:t>30</a:t>
            </a:r>
            <a:r>
              <a:rPr lang="zh-CN" altLang="en-US" sz="3407" dirty="0">
                <a:solidFill>
                  <a:schemeClr val="bg1"/>
                </a:solidFill>
              </a:rPr>
              <a:t>万</a:t>
            </a:r>
          </a:p>
          <a:p>
            <a:r>
              <a:rPr lang="zh-CN" altLang="en-US" sz="3407" dirty="0">
                <a:solidFill>
                  <a:schemeClr val="bg1"/>
                </a:solidFill>
              </a:rPr>
              <a:t>股票资产</a:t>
            </a:r>
            <a:r>
              <a:rPr lang="en-US" altLang="zh-CN" sz="3407" dirty="0">
                <a:solidFill>
                  <a:schemeClr val="bg1"/>
                </a:solidFill>
              </a:rPr>
              <a:t>20</a:t>
            </a:r>
            <a:r>
              <a:rPr lang="zh-CN" altLang="en-US" sz="3407" dirty="0">
                <a:solidFill>
                  <a:schemeClr val="bg1"/>
                </a:solidFill>
              </a:rPr>
              <a:t>万</a:t>
            </a:r>
          </a:p>
          <a:p>
            <a:r>
              <a:rPr lang="zh-CN" altLang="en-US" sz="3407" dirty="0">
                <a:solidFill>
                  <a:schemeClr val="bg1"/>
                </a:solidFill>
              </a:rPr>
              <a:t>一套房产市值</a:t>
            </a:r>
            <a:r>
              <a:rPr lang="en-US" altLang="zh-CN" sz="3407" dirty="0">
                <a:solidFill>
                  <a:schemeClr val="bg1"/>
                </a:solidFill>
              </a:rPr>
              <a:t>150</a:t>
            </a:r>
            <a:r>
              <a:rPr lang="zh-CN" altLang="en-US" sz="3407" dirty="0" smtClean="0">
                <a:solidFill>
                  <a:schemeClr val="bg1"/>
                </a:solidFill>
              </a:rPr>
              <a:t>万</a:t>
            </a:r>
            <a:endParaRPr lang="zh-CN" altLang="en-US" sz="3407" dirty="0">
              <a:solidFill>
                <a:schemeClr val="bg1"/>
              </a:solidFill>
            </a:endParaRPr>
          </a:p>
        </p:txBody>
      </p:sp>
      <p:sp>
        <p:nvSpPr>
          <p:cNvPr id="36" name="文本框 8"/>
          <p:cNvSpPr>
            <a:spLocks noChangeArrowheads="1"/>
          </p:cNvSpPr>
          <p:nvPr/>
        </p:nvSpPr>
        <p:spPr bwMode="auto">
          <a:xfrm>
            <a:off x="9819350" y="10555626"/>
            <a:ext cx="5655112" cy="2189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3407" dirty="0" smtClean="0">
                <a:solidFill>
                  <a:schemeClr val="bg1"/>
                </a:solidFill>
              </a:rPr>
              <a:t>房贷本金</a:t>
            </a:r>
            <a:r>
              <a:rPr lang="en-US" altLang="zh-CN" sz="3407" dirty="0" smtClean="0">
                <a:solidFill>
                  <a:schemeClr val="bg1"/>
                </a:solidFill>
              </a:rPr>
              <a:t>100</a:t>
            </a:r>
            <a:r>
              <a:rPr lang="zh-CN" altLang="en-US" sz="3407" dirty="0" smtClean="0">
                <a:solidFill>
                  <a:schemeClr val="bg1"/>
                </a:solidFill>
              </a:rPr>
              <a:t>万</a:t>
            </a:r>
            <a:endParaRPr lang="en-US" altLang="zh-CN" sz="3407" dirty="0" smtClean="0">
              <a:solidFill>
                <a:schemeClr val="bg1"/>
              </a:solidFill>
            </a:endParaRPr>
          </a:p>
          <a:p>
            <a:pPr algn="l"/>
            <a:r>
              <a:rPr lang="zh-CN" altLang="en-US" sz="3407" dirty="0" smtClean="0">
                <a:solidFill>
                  <a:schemeClr val="bg1"/>
                </a:solidFill>
              </a:rPr>
              <a:t>商业贷款，</a:t>
            </a:r>
            <a:r>
              <a:rPr lang="en-US" altLang="zh-CN" sz="3407" dirty="0" smtClean="0">
                <a:solidFill>
                  <a:schemeClr val="bg1"/>
                </a:solidFill>
              </a:rPr>
              <a:t>30</a:t>
            </a:r>
            <a:r>
              <a:rPr lang="zh-CN" altLang="en-US" sz="3407" dirty="0" smtClean="0">
                <a:solidFill>
                  <a:schemeClr val="bg1"/>
                </a:solidFill>
              </a:rPr>
              <a:t>年</a:t>
            </a:r>
            <a:endParaRPr lang="en-US" altLang="zh-CN" sz="3407" dirty="0" smtClean="0">
              <a:solidFill>
                <a:schemeClr val="bg1"/>
              </a:solidFill>
            </a:endParaRPr>
          </a:p>
          <a:p>
            <a:pPr algn="l"/>
            <a:r>
              <a:rPr lang="en-US" altLang="zh-CN" sz="3407" dirty="0" smtClean="0">
                <a:solidFill>
                  <a:schemeClr val="bg1"/>
                </a:solidFill>
              </a:rPr>
              <a:t>2019</a:t>
            </a:r>
            <a:r>
              <a:rPr lang="zh-CN" altLang="en-US" sz="3407" dirty="0" smtClean="0">
                <a:solidFill>
                  <a:schemeClr val="bg1"/>
                </a:solidFill>
              </a:rPr>
              <a:t>年初开始还贷</a:t>
            </a:r>
            <a:endParaRPr lang="en-US" altLang="zh-CN" sz="3407" dirty="0" smtClean="0">
              <a:solidFill>
                <a:schemeClr val="bg1"/>
              </a:solidFill>
            </a:endParaRPr>
          </a:p>
          <a:p>
            <a:pPr algn="l"/>
            <a:r>
              <a:rPr lang="zh-CN" altLang="en-US" sz="3407" dirty="0" smtClean="0">
                <a:solidFill>
                  <a:schemeClr val="bg1"/>
                </a:solidFill>
              </a:rPr>
              <a:t>每月还贷</a:t>
            </a:r>
            <a:r>
              <a:rPr lang="en-US" altLang="zh-CN" sz="3407" dirty="0" smtClean="0">
                <a:solidFill>
                  <a:schemeClr val="bg1"/>
                </a:solidFill>
              </a:rPr>
              <a:t>5500</a:t>
            </a:r>
            <a:endParaRPr lang="zh-CN" altLang="en-US" sz="3407" dirty="0">
              <a:solidFill>
                <a:schemeClr val="bg1"/>
              </a:solidFill>
            </a:endParaRPr>
          </a:p>
        </p:txBody>
      </p:sp>
      <p:sp>
        <p:nvSpPr>
          <p:cNvPr id="37" name="文本框 8"/>
          <p:cNvSpPr>
            <a:spLocks noChangeArrowheads="1"/>
          </p:cNvSpPr>
          <p:nvPr/>
        </p:nvSpPr>
        <p:spPr bwMode="auto">
          <a:xfrm>
            <a:off x="9974769" y="5267078"/>
            <a:ext cx="4294765" cy="2189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407" dirty="0">
                <a:solidFill>
                  <a:schemeClr val="bg1"/>
                </a:solidFill>
              </a:rPr>
              <a:t>家庭开支</a:t>
            </a:r>
            <a:r>
              <a:rPr lang="en-US" altLang="zh-CN" sz="3407" dirty="0">
                <a:solidFill>
                  <a:schemeClr val="bg1"/>
                </a:solidFill>
              </a:rPr>
              <a:t>3.6</a:t>
            </a:r>
            <a:r>
              <a:rPr lang="zh-CN" altLang="en-US" sz="3407" dirty="0">
                <a:solidFill>
                  <a:schemeClr val="bg1"/>
                </a:solidFill>
              </a:rPr>
              <a:t>万</a:t>
            </a:r>
          </a:p>
          <a:p>
            <a:r>
              <a:rPr lang="zh-CN" altLang="en-US" sz="3407" dirty="0">
                <a:solidFill>
                  <a:schemeClr val="bg1"/>
                </a:solidFill>
              </a:rPr>
              <a:t>大人生活总开支</a:t>
            </a:r>
            <a:r>
              <a:rPr lang="en-US" altLang="zh-CN" sz="3407" dirty="0">
                <a:solidFill>
                  <a:schemeClr val="bg1"/>
                </a:solidFill>
              </a:rPr>
              <a:t>9.6</a:t>
            </a:r>
            <a:r>
              <a:rPr lang="zh-CN" altLang="en-US" sz="3407" dirty="0">
                <a:solidFill>
                  <a:schemeClr val="bg1"/>
                </a:solidFill>
              </a:rPr>
              <a:t>万</a:t>
            </a:r>
          </a:p>
          <a:p>
            <a:r>
              <a:rPr lang="zh-CN" altLang="en-US" sz="3407" dirty="0">
                <a:solidFill>
                  <a:schemeClr val="bg1"/>
                </a:solidFill>
              </a:rPr>
              <a:t>孩子和其他支出</a:t>
            </a:r>
            <a:r>
              <a:rPr lang="en-US" altLang="zh-CN" sz="3407" dirty="0">
                <a:solidFill>
                  <a:schemeClr val="bg1"/>
                </a:solidFill>
              </a:rPr>
              <a:t>3.6</a:t>
            </a:r>
            <a:r>
              <a:rPr lang="zh-CN" altLang="en-US" sz="3407" dirty="0">
                <a:solidFill>
                  <a:schemeClr val="bg1"/>
                </a:solidFill>
              </a:rPr>
              <a:t>万</a:t>
            </a:r>
          </a:p>
          <a:p>
            <a:r>
              <a:rPr lang="zh-CN" altLang="en-US" sz="3407" dirty="0">
                <a:solidFill>
                  <a:schemeClr val="bg1"/>
                </a:solidFill>
              </a:rPr>
              <a:t>总支出：</a:t>
            </a:r>
            <a:r>
              <a:rPr lang="en-US" altLang="zh-CN" sz="3407" dirty="0">
                <a:solidFill>
                  <a:schemeClr val="bg1"/>
                </a:solidFill>
              </a:rPr>
              <a:t>16.8</a:t>
            </a:r>
            <a:r>
              <a:rPr lang="zh-CN" altLang="en-US" sz="3407" dirty="0">
                <a:solidFill>
                  <a:schemeClr val="bg1"/>
                </a:solidFill>
              </a:rPr>
              <a:t>万</a:t>
            </a:r>
          </a:p>
        </p:txBody>
      </p:sp>
      <p:sp>
        <p:nvSpPr>
          <p:cNvPr id="38" name="文本框 8"/>
          <p:cNvSpPr>
            <a:spLocks noChangeArrowheads="1"/>
          </p:cNvSpPr>
          <p:nvPr/>
        </p:nvSpPr>
        <p:spPr bwMode="auto">
          <a:xfrm>
            <a:off x="17266878" y="9419899"/>
            <a:ext cx="6633547" cy="2888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539" dirty="0">
                <a:latin typeface="Hiragino Sans GB W3" charset="-122"/>
                <a:ea typeface="Hiragino Sans GB W3" charset="-122"/>
                <a:cs typeface="Hiragino Sans GB W3" charset="-122"/>
              </a:rPr>
              <a:t>家庭责任</a:t>
            </a:r>
          </a:p>
          <a:p>
            <a:pPr algn="l"/>
            <a:r>
              <a:rPr lang="zh-CN" altLang="en-US" sz="3407" dirty="0">
                <a:latin typeface="Hiragino Sans GB W3" charset="-122"/>
                <a:ea typeface="Hiragino Sans GB W3" charset="-122"/>
                <a:cs typeface="Hiragino Sans GB W3" charset="-122"/>
              </a:rPr>
              <a:t>负担房贷责任</a:t>
            </a:r>
          </a:p>
          <a:p>
            <a:pPr algn="l"/>
            <a:r>
              <a:rPr lang="zh-CN" altLang="en-US" sz="3407" dirty="0">
                <a:latin typeface="Hiragino Sans GB W3" charset="-122"/>
                <a:ea typeface="Hiragino Sans GB W3" charset="-122"/>
                <a:cs typeface="Hiragino Sans GB W3" charset="-122"/>
              </a:rPr>
              <a:t>考虑把孩子在国内读本科</a:t>
            </a:r>
          </a:p>
          <a:p>
            <a:pPr algn="l"/>
            <a:r>
              <a:rPr lang="zh-CN" altLang="en-US" sz="3407" dirty="0">
                <a:latin typeface="Hiragino Sans GB W3" charset="-122"/>
                <a:ea typeface="Hiragino Sans GB W3" charset="-122"/>
                <a:cs typeface="Hiragino Sans GB W3" charset="-122"/>
              </a:rPr>
              <a:t>生活费准备到孩子读完本科</a:t>
            </a:r>
          </a:p>
          <a:p>
            <a:pPr algn="l"/>
            <a:r>
              <a:rPr lang="zh-CN" altLang="en-US" sz="3407" dirty="0">
                <a:latin typeface="Hiragino Sans GB W3" charset="-122"/>
                <a:ea typeface="Hiragino Sans GB W3" charset="-122"/>
                <a:cs typeface="Hiragino Sans GB W3" charset="-122"/>
              </a:rPr>
              <a:t>父母心意金</a:t>
            </a:r>
            <a:r>
              <a:rPr lang="en-US" altLang="zh-CN" sz="3407" dirty="0">
                <a:latin typeface="Hiragino Sans GB W3" charset="-122"/>
                <a:ea typeface="Hiragino Sans GB W3" charset="-122"/>
                <a:cs typeface="Hiragino Sans GB W3" charset="-122"/>
              </a:rPr>
              <a:t>5w</a:t>
            </a:r>
            <a:r>
              <a:rPr lang="zh-CN" altLang="en-US" sz="3407" dirty="0">
                <a:latin typeface="Hiragino Sans GB W3" charset="-122"/>
                <a:ea typeface="Hiragino Sans GB W3" charset="-122"/>
                <a:cs typeface="Hiragino Sans GB W3" charset="-122"/>
              </a:rPr>
              <a:t>（父母目前</a:t>
            </a:r>
            <a:r>
              <a:rPr lang="en-US" altLang="zh-CN" sz="3407" dirty="0">
                <a:latin typeface="Hiragino Sans GB W3" charset="-122"/>
                <a:ea typeface="Hiragino Sans GB W3" charset="-122"/>
                <a:cs typeface="Hiragino Sans GB W3" charset="-122"/>
              </a:rPr>
              <a:t>65</a:t>
            </a:r>
            <a:r>
              <a:rPr lang="zh-CN" altLang="en-US" sz="3407" dirty="0">
                <a:latin typeface="Hiragino Sans GB W3" charset="-122"/>
                <a:ea typeface="Hiragino Sans GB W3" charset="-122"/>
                <a:cs typeface="Hiragino Sans GB W3" charset="-122"/>
              </a:rPr>
              <a:t>岁）</a:t>
            </a:r>
          </a:p>
        </p:txBody>
      </p:sp>
      <p:sp>
        <p:nvSpPr>
          <p:cNvPr id="39" name="标题 1"/>
          <p:cNvSpPr txBox="1">
            <a:spLocks/>
          </p:cNvSpPr>
          <p:nvPr/>
        </p:nvSpPr>
        <p:spPr>
          <a:xfrm>
            <a:off x="1675771" y="1475387"/>
            <a:ext cx="21031116" cy="205338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zh-CN" altLang="en-US" sz="8465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endParaRPr lang="zh-CN" altLang="en-US" sz="846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257749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345220" y="2802461"/>
            <a:ext cx="7304996" cy="109213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zh-CN" altLang="en-US" sz="8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zh-CN" altLang="en-US" sz="8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6472280" y="5150066"/>
            <a:ext cx="9589680" cy="3438149"/>
          </a:xfrm>
          <a:prstGeom prst="rect">
            <a:avLst/>
          </a:prstGeom>
        </p:spPr>
        <p:txBody>
          <a:bodyPr/>
          <a:lstStyle>
            <a:lvl1pPr marL="63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FontTx/>
              <a:buNone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量化额度要点：</a:t>
            </a:r>
          </a:p>
          <a:p>
            <a:pPr marL="0" indent="0" hangingPunct="1">
              <a:buFontTx/>
              <a:buNone/>
            </a:pPr>
            <a:r>
              <a:rPr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1.计算详细而精确</a:t>
            </a:r>
          </a:p>
          <a:p>
            <a:pPr marL="0" indent="0" hangingPunct="1">
              <a:buFontTx/>
              <a:buNone/>
            </a:pPr>
            <a:r>
              <a:rPr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2.沟通注重达成每一个small yes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"/>
          <p:cNvSpPr/>
          <p:nvPr/>
        </p:nvSpPr>
        <p:spPr>
          <a:xfrm>
            <a:off x="9953018" y="4246247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389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hanks"/>
          <p:cNvSpPr txBox="1"/>
          <p:nvPr/>
        </p:nvSpPr>
        <p:spPr>
          <a:xfrm>
            <a:off x="7686860" y="5004098"/>
            <a:ext cx="9010279" cy="2564805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rotWithShape="0">
              <a:srgbClr val="075C4C">
                <a:alpha val="2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0" cap="all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dirty="0">
                <a:latin typeface="微软雅黑"/>
                <a:ea typeface="微软雅黑"/>
                <a:cs typeface="微软雅黑"/>
              </a:rPr>
              <a:t>thanks</a:t>
            </a:r>
          </a:p>
        </p:txBody>
      </p:sp>
      <p:grpSp>
        <p:nvGrpSpPr>
          <p:cNvPr id="171" name="成组"/>
          <p:cNvGrpSpPr/>
          <p:nvPr/>
        </p:nvGrpSpPr>
        <p:grpSpPr>
          <a:xfrm>
            <a:off x="7479585" y="7742784"/>
            <a:ext cx="9424831" cy="872034"/>
            <a:chOff x="0" y="52934"/>
            <a:chExt cx="9424830" cy="872033"/>
          </a:xfrm>
        </p:grpSpPr>
        <p:sp>
          <p:nvSpPr>
            <p:cNvPr id="168" name="谢谢观看"/>
            <p:cNvSpPr txBox="1"/>
            <p:nvPr/>
          </p:nvSpPr>
          <p:spPr>
            <a:xfrm>
              <a:off x="3378716" y="52934"/>
              <a:ext cx="2667397" cy="8720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76200" dist="101600" dir="5400000" rotWithShape="0">
                <a:srgbClr val="075C4C">
                  <a:alpha val="2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 b="0" cap="all">
                  <a:solidFill>
                    <a:srgbClr val="FFFFFF"/>
                  </a:solidFill>
                  <a:latin typeface="Alibaba-PuHuiTi-M"/>
                  <a:ea typeface="Alibaba-PuHuiTi-M"/>
                  <a:cs typeface="Alibaba-PuHuiTi-M"/>
                  <a:sym typeface="Alibaba-PuHuiTi-M"/>
                </a:defRPr>
              </a:lvl1pPr>
            </a:lstStyle>
            <a:p>
              <a:r>
                <a:rPr dirty="0">
                  <a:latin typeface="微软雅黑"/>
                  <a:ea typeface="微软雅黑"/>
                  <a:cs typeface="微软雅黑"/>
                </a:rPr>
                <a:t>谢谢观看</a:t>
              </a:r>
            </a:p>
          </p:txBody>
        </p:sp>
        <p:pic>
          <p:nvPicPr>
            <p:cNvPr id="169" name="矩形2.png" descr="矩形2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437096"/>
              <a:ext cx="3246359" cy="1344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矩形2.png" descr="矩形2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6178470" y="437096"/>
              <a:ext cx="3246360" cy="1344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229</Words>
  <Application>Microsoft Macintosh PowerPoint</Application>
  <PresentationFormat>自定义</PresentationFormat>
  <Paragraphs>69</Paragraphs>
  <Slides>20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Alibaba PuHuiTi</vt:lpstr>
      <vt:lpstr>Alibaba-PuHuiTi-M</vt:lpstr>
      <vt:lpstr>Alibaba-PuHuiTi-R</vt:lpstr>
      <vt:lpstr>Helvetica Neue</vt:lpstr>
      <vt:lpstr>Helvetica Neue Light</vt:lpstr>
      <vt:lpstr>Helvetica Neue Medium</vt:lpstr>
      <vt:lpstr>Hiragino Sans GB W3</vt:lpstr>
      <vt:lpstr>Microsoft JhengHei</vt:lpstr>
      <vt:lpstr>Microsoft YaHei</vt:lpstr>
      <vt:lpstr>阿里巴巴普惠体-B</vt:lpstr>
      <vt:lpstr>宋体</vt:lpstr>
      <vt:lpstr>微软雅黑</vt:lpstr>
      <vt:lpstr>Arial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Microsoft Office 用户</cp:lastModifiedBy>
  <cp:revision>43</cp:revision>
  <dcterms:modified xsi:type="dcterms:W3CDTF">2020-04-12T08:26:29Z</dcterms:modified>
</cp:coreProperties>
</file>