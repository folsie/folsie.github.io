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07" r:id="rId2"/>
    <p:sldId id="862" r:id="rId3"/>
    <p:sldId id="951" r:id="rId4"/>
    <p:sldId id="952" r:id="rId5"/>
    <p:sldId id="953" r:id="rId6"/>
    <p:sldId id="955" r:id="rId7"/>
    <p:sldId id="956" r:id="rId8"/>
    <p:sldId id="883" r:id="rId9"/>
    <p:sldId id="863" r:id="rId10"/>
    <p:sldId id="957" r:id="rId11"/>
    <p:sldId id="958" r:id="rId12"/>
    <p:sldId id="959" r:id="rId13"/>
    <p:sldId id="960" r:id="rId14"/>
    <p:sldId id="961" r:id="rId15"/>
    <p:sldId id="962" r:id="rId16"/>
    <p:sldId id="933" r:id="rId17"/>
    <p:sldId id="877" r:id="rId18"/>
    <p:sldId id="945" r:id="rId19"/>
    <p:sldId id="946" r:id="rId20"/>
    <p:sldId id="885" r:id="rId21"/>
    <p:sldId id="947" r:id="rId22"/>
    <p:sldId id="948" r:id="rId23"/>
    <p:sldId id="970" r:id="rId24"/>
    <p:sldId id="949" r:id="rId25"/>
    <p:sldId id="963" r:id="rId26"/>
    <p:sldId id="964" r:id="rId27"/>
    <p:sldId id="965" r:id="rId28"/>
    <p:sldId id="967" r:id="rId29"/>
    <p:sldId id="968" r:id="rId30"/>
    <p:sldId id="969" r:id="rId31"/>
    <p:sldId id="881" r:id="rId3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9pPr>
  </p:defaultTextStyle>
  <p:extLst>
    <p:ext uri="{521415D9-36F7-43E2-AB2F-B90AF26B5E84}">
      <p14:sectionLst xmlns:p14="http://schemas.microsoft.com/office/powerpoint/2010/main">
        <p14:section name="封面" id="{A85C3847-FCF1-7641-8BCA-B54C46F67225}">
          <p14:sldIdLst>
            <p14:sldId id="307"/>
          </p14:sldIdLst>
        </p14:section>
        <p14:section name="目录" id="{12EFD506-B216-6940-BC69-84A3B1E99C87}">
          <p14:sldIdLst>
            <p14:sldId id="862"/>
            <p14:sldId id="951"/>
            <p14:sldId id="952"/>
            <p14:sldId id="953"/>
            <p14:sldId id="955"/>
            <p14:sldId id="956"/>
            <p14:sldId id="883"/>
          </p14:sldIdLst>
        </p14:section>
        <p14:section name="内容" id="{5E20769F-C356-CE49-8E37-E0C646E2079C}">
          <p14:sldIdLst>
            <p14:sldId id="863"/>
            <p14:sldId id="957"/>
            <p14:sldId id="958"/>
            <p14:sldId id="959"/>
            <p14:sldId id="960"/>
            <p14:sldId id="961"/>
            <p14:sldId id="962"/>
            <p14:sldId id="933"/>
            <p14:sldId id="877"/>
            <p14:sldId id="945"/>
            <p14:sldId id="946"/>
            <p14:sldId id="885"/>
            <p14:sldId id="947"/>
            <p14:sldId id="948"/>
            <p14:sldId id="970"/>
            <p14:sldId id="949"/>
            <p14:sldId id="963"/>
            <p14:sldId id="964"/>
            <p14:sldId id="965"/>
            <p14:sldId id="967"/>
            <p14:sldId id="968"/>
            <p14:sldId id="969"/>
            <p14:sldId id="881"/>
          </p14:sldIdLst>
        </p14:section>
        <p14:section name="图形" id="{D053DEA9-B241-5844-93DC-C0DB314314B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AEE6CA"/>
    <a:srgbClr val="D8A967"/>
    <a:srgbClr val="AC8855"/>
    <a:srgbClr val="F7C174"/>
    <a:srgbClr val="CCA063"/>
    <a:srgbClr val="F2E8A1"/>
    <a:srgbClr val="442E00"/>
    <a:srgbClr val="372A6A"/>
    <a:srgbClr val="27316A"/>
    <a:srgbClr val="8166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25"/>
    <p:restoredTop sz="94715"/>
  </p:normalViewPr>
  <p:slideViewPr>
    <p:cSldViewPr snapToGrid="0" snapToObjects="1">
      <p:cViewPr varScale="1">
        <p:scale>
          <a:sx n="68" d="100"/>
          <a:sy n="68" d="100"/>
        </p:scale>
        <p:origin x="48" y="49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7" name="Shape 107"/>
          <p:cNvSpPr>
            <a:spLocks noGrp="1" noRot="1" noChangeAspect="1"/>
          </p:cNvSpPr>
          <p:nvPr>
            <p:ph type="sldImg"/>
          </p:nvPr>
        </p:nvSpPr>
        <p:spPr>
          <a:xfrm>
            <a:off x="1143000" y="685800"/>
            <a:ext cx="4572000" cy="3429000"/>
          </a:xfrm>
          <a:prstGeom prst="rect">
            <a:avLst/>
          </a:prstGeom>
        </p:spPr>
        <p:txBody>
          <a:bodyPr/>
          <a:lstStyle/>
          <a:p>
            <a:endParaRPr/>
          </a:p>
        </p:txBody>
      </p:sp>
      <p:sp>
        <p:nvSpPr>
          <p:cNvPr id="108" name="Shape 10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panose="020F0502020204030204"/>
      </a:defRPr>
    </a:lvl1pPr>
    <a:lvl2pPr indent="228600" latinLnBrk="0">
      <a:defRPr sz="1200">
        <a:latin typeface="+mn-lt"/>
        <a:ea typeface="+mn-ea"/>
        <a:cs typeface="+mn-cs"/>
        <a:sym typeface="Calibri" panose="020F0502020204030204"/>
      </a:defRPr>
    </a:lvl2pPr>
    <a:lvl3pPr indent="457200" latinLnBrk="0">
      <a:defRPr sz="1200">
        <a:latin typeface="+mn-lt"/>
        <a:ea typeface="+mn-ea"/>
        <a:cs typeface="+mn-cs"/>
        <a:sym typeface="Calibri" panose="020F0502020204030204"/>
      </a:defRPr>
    </a:lvl3pPr>
    <a:lvl4pPr indent="685800" latinLnBrk="0">
      <a:defRPr sz="1200">
        <a:latin typeface="+mn-lt"/>
        <a:ea typeface="+mn-ea"/>
        <a:cs typeface="+mn-cs"/>
        <a:sym typeface="Calibri" panose="020F0502020204030204"/>
      </a:defRPr>
    </a:lvl4pPr>
    <a:lvl5pPr indent="914400" latinLnBrk="0">
      <a:defRPr sz="1200">
        <a:latin typeface="+mn-lt"/>
        <a:ea typeface="+mn-ea"/>
        <a:cs typeface="+mn-cs"/>
        <a:sym typeface="Calibri" panose="020F0502020204030204"/>
      </a:defRPr>
    </a:lvl5pPr>
    <a:lvl6pPr indent="1143000" latinLnBrk="0">
      <a:defRPr sz="1200">
        <a:latin typeface="+mn-lt"/>
        <a:ea typeface="+mn-ea"/>
        <a:cs typeface="+mn-cs"/>
        <a:sym typeface="Calibri" panose="020F0502020204030204"/>
      </a:defRPr>
    </a:lvl6pPr>
    <a:lvl7pPr indent="1371600" latinLnBrk="0">
      <a:defRPr sz="1200">
        <a:latin typeface="+mn-lt"/>
        <a:ea typeface="+mn-ea"/>
        <a:cs typeface="+mn-cs"/>
        <a:sym typeface="Calibri" panose="020F0502020204030204"/>
      </a:defRPr>
    </a:lvl7pPr>
    <a:lvl8pPr indent="1600200" latinLnBrk="0">
      <a:defRPr sz="1200">
        <a:latin typeface="+mn-lt"/>
        <a:ea typeface="+mn-ea"/>
        <a:cs typeface="+mn-cs"/>
        <a:sym typeface="Calibri" panose="020F0502020204030204"/>
      </a:defRPr>
    </a:lvl8pPr>
    <a:lvl9pPr indent="1828800" latinLnBrk="0">
      <a:defRPr sz="1200">
        <a:latin typeface="+mn-lt"/>
        <a:ea typeface="+mn-ea"/>
        <a:cs typeface="+mn-cs"/>
        <a:sym typeface="Calibri" panose="020F050202020403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a:xfrm>
            <a:off x="3884613" y="8685213"/>
            <a:ext cx="2971800" cy="458787"/>
          </a:xfrm>
          <a:prstGeom prst="rect">
            <a:avLst/>
          </a:prstGeom>
        </p:spPr>
        <p:txBody>
          <a:bodyPr/>
          <a:lstStyle/>
          <a:p>
            <a:fld id="{9822B8B1-4E9E-E944-ABD3-FEEB2FAC2EA0}" type="slidenum">
              <a:rPr kumimoji="1" lang="zh-CN" altLang="en-US" smtClean="0"/>
              <a:t>11</a:t>
            </a:fld>
            <a:endParaRPr kumimoji="1" lang="zh-CN" altLang="en-US"/>
          </a:p>
        </p:txBody>
      </p:sp>
    </p:spTree>
    <p:extLst>
      <p:ext uri="{BB962C8B-B14F-4D97-AF65-F5344CB8AC3E}">
        <p14:creationId xmlns:p14="http://schemas.microsoft.com/office/powerpoint/2010/main" val="59542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a:xfrm>
            <a:off x="3884613" y="8685213"/>
            <a:ext cx="2971800" cy="458787"/>
          </a:xfrm>
          <a:prstGeom prst="rect">
            <a:avLst/>
          </a:prstGeom>
        </p:spPr>
        <p:txBody>
          <a:bodyPr/>
          <a:lstStyle/>
          <a:p>
            <a:fld id="{DFBB9D77-E0EC-5B4E-A818-5872EE2F1589}" type="slidenum">
              <a:rPr kumimoji="1" lang="zh-CN" altLang="en-US" smtClean="0"/>
              <a:t>14</a:t>
            </a:fld>
            <a:endParaRPr kumimoji="1" lang="zh-CN" altLang="en-US"/>
          </a:p>
        </p:txBody>
      </p:sp>
    </p:spTree>
    <p:extLst>
      <p:ext uri="{BB962C8B-B14F-4D97-AF65-F5344CB8AC3E}">
        <p14:creationId xmlns:p14="http://schemas.microsoft.com/office/powerpoint/2010/main" val="522710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a:xfrm>
            <a:off x="3884613" y="8685213"/>
            <a:ext cx="2971800" cy="458787"/>
          </a:xfrm>
          <a:prstGeom prst="rect">
            <a:avLst/>
          </a:prstGeom>
        </p:spPr>
        <p:txBody>
          <a:bodyPr/>
          <a:lstStyle/>
          <a:p>
            <a:fld id="{DFBB9D77-E0EC-5B4E-A818-5872EE2F1589}" type="slidenum">
              <a:rPr kumimoji="1" lang="zh-CN" altLang="en-US" smtClean="0"/>
              <a:t>15</a:t>
            </a:fld>
            <a:endParaRPr kumimoji="1" lang="zh-CN" altLang="en-US"/>
          </a:p>
        </p:txBody>
      </p:sp>
    </p:spTree>
    <p:extLst>
      <p:ext uri="{BB962C8B-B14F-4D97-AF65-F5344CB8AC3E}">
        <p14:creationId xmlns:p14="http://schemas.microsoft.com/office/powerpoint/2010/main" val="1079490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a:xfrm>
            <a:off x="3884613" y="8685213"/>
            <a:ext cx="2971800" cy="458787"/>
          </a:xfrm>
          <a:prstGeom prst="rect">
            <a:avLst/>
          </a:prstGeom>
        </p:spPr>
        <p:txBody>
          <a:bodyPr/>
          <a:lstStyle/>
          <a:p>
            <a:fld id="{DFBB9D77-E0EC-5B4E-A818-5872EE2F1589}" type="slidenum">
              <a:rPr kumimoji="1" lang="zh-CN" altLang="en-US" smtClean="0"/>
              <a:t>25</a:t>
            </a:fld>
            <a:endParaRPr kumimoji="1" lang="zh-CN" altLang="en-US"/>
          </a:p>
        </p:txBody>
      </p:sp>
    </p:spTree>
    <p:extLst>
      <p:ext uri="{BB962C8B-B14F-4D97-AF65-F5344CB8AC3E}">
        <p14:creationId xmlns:p14="http://schemas.microsoft.com/office/powerpoint/2010/main" val="1318541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a:xfrm>
            <a:off x="3884613" y="8685213"/>
            <a:ext cx="2971800" cy="458787"/>
          </a:xfrm>
          <a:prstGeom prst="rect">
            <a:avLst/>
          </a:prstGeom>
        </p:spPr>
        <p:txBody>
          <a:bodyPr/>
          <a:lstStyle/>
          <a:p>
            <a:fld id="{DFBB9D77-E0EC-5B4E-A818-5872EE2F1589}" type="slidenum">
              <a:rPr kumimoji="1" lang="zh-CN" altLang="en-US" smtClean="0"/>
              <a:t>29</a:t>
            </a:fld>
            <a:endParaRPr kumimoji="1" lang="zh-CN" altLang="en-US"/>
          </a:p>
        </p:txBody>
      </p:sp>
    </p:spTree>
    <p:extLst>
      <p:ext uri="{BB962C8B-B14F-4D97-AF65-F5344CB8AC3E}">
        <p14:creationId xmlns:p14="http://schemas.microsoft.com/office/powerpoint/2010/main" val="1305513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a:xfrm>
            <a:off x="3884613" y="8685213"/>
            <a:ext cx="2971800" cy="458787"/>
          </a:xfrm>
          <a:prstGeom prst="rect">
            <a:avLst/>
          </a:prstGeom>
        </p:spPr>
        <p:txBody>
          <a:bodyPr/>
          <a:lstStyle/>
          <a:p>
            <a:fld id="{DFBB9D77-E0EC-5B4E-A818-5872EE2F1589}" type="slidenum">
              <a:rPr kumimoji="1" lang="zh-CN" altLang="en-US" smtClean="0"/>
              <a:t>30</a:t>
            </a:fld>
            <a:endParaRPr kumimoji="1" lang="zh-CN" altLang="en-US"/>
          </a:p>
        </p:txBody>
      </p:sp>
    </p:spTree>
    <p:extLst>
      <p:ext uri="{BB962C8B-B14F-4D97-AF65-F5344CB8AC3E}">
        <p14:creationId xmlns:p14="http://schemas.microsoft.com/office/powerpoint/2010/main" val="1596388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38" name="标题文本"/>
          <p:cNvSpPr>
            <a:spLocks noGrp="1"/>
          </p:cNvSpPr>
          <p:nvPr>
            <p:ph type="title" hasCustomPrompt="1"/>
          </p:nvPr>
        </p:nvSpPr>
        <p:spPr>
          <a:prstGeom prst="rect">
            <a:avLst/>
          </a:prstGeom>
        </p:spPr>
        <p:txBody>
          <a:bodyPr/>
          <a:lstStyle/>
          <a:p>
            <a:r>
              <a:t>标题文本</a:t>
            </a:r>
          </a:p>
        </p:txBody>
      </p:sp>
      <p:sp>
        <p:nvSpPr>
          <p:cNvPr id="39" name="正文级别 1…"/>
          <p:cNvSpPr>
            <a:spLocks noGrp="1"/>
          </p:cNvSpPr>
          <p:nvPr>
            <p:ph type="body" sz="half" idx="1" hasCustomPrompt="1"/>
          </p:nvPr>
        </p:nvSpPr>
        <p:spPr>
          <a:xfrm>
            <a:off x="838200" y="1825625"/>
            <a:ext cx="5181601" cy="4351339"/>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40" name="幻灯片编号"/>
          <p:cNvSpPr>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47" name="标题文本"/>
          <p:cNvSpPr>
            <a:spLocks noGrp="1"/>
          </p:cNvSpPr>
          <p:nvPr>
            <p:ph type="title" hasCustomPrompt="1"/>
          </p:nvPr>
        </p:nvSpPr>
        <p:spPr>
          <a:xfrm>
            <a:off x="839787" y="365127"/>
            <a:ext cx="10515601" cy="1325563"/>
          </a:xfrm>
          <a:prstGeom prst="rect">
            <a:avLst/>
          </a:prstGeom>
        </p:spPr>
        <p:txBody>
          <a:bodyPr/>
          <a:lstStyle/>
          <a:p>
            <a:r>
              <a:t>标题文本</a:t>
            </a:r>
          </a:p>
        </p:txBody>
      </p:sp>
      <p:sp>
        <p:nvSpPr>
          <p:cNvPr id="48" name="正文级别 1…"/>
          <p:cNvSpPr>
            <a:spLocks noGrp="1"/>
          </p:cNvSpPr>
          <p:nvPr>
            <p:ph type="body" sz="quarter" idx="1" hasCustomPrompt="1"/>
          </p:nvPr>
        </p:nvSpPr>
        <p:spPr>
          <a:xfrm>
            <a:off x="1186773" y="1778440"/>
            <a:ext cx="4873575" cy="823913"/>
          </a:xfrm>
          <a:prstGeom prst="rect">
            <a:avLst/>
          </a:prstGeom>
        </p:spPr>
        <p:txBody>
          <a:bodyPr anchor="ctr"/>
          <a:lstStyle>
            <a:lvl1pPr marL="0" indent="0">
              <a:buSzTx/>
              <a:buFontTx/>
              <a:buNone/>
            </a:lvl1pPr>
            <a:lvl2pPr marL="0" indent="457200">
              <a:buSzTx/>
              <a:buFontTx/>
              <a:buNone/>
            </a:lvl2pPr>
            <a:lvl3pPr marL="0" indent="914400">
              <a:buSzTx/>
              <a:buFontTx/>
              <a:buNone/>
            </a:lvl3pPr>
            <a:lvl4pPr marL="0" indent="1371600">
              <a:buSzTx/>
              <a:buFontTx/>
              <a:buNone/>
            </a:lvl4pPr>
            <a:lvl5pPr marL="0" indent="1828800">
              <a:buSzTx/>
              <a:buFontTx/>
              <a:buNone/>
            </a:lvl5pPr>
          </a:lstStyle>
          <a:p>
            <a:r>
              <a:t>正文级别 1</a:t>
            </a:r>
          </a:p>
          <a:p>
            <a:pPr lvl="1"/>
            <a:r>
              <a:t>正文级别 2</a:t>
            </a:r>
          </a:p>
          <a:p>
            <a:pPr lvl="2"/>
            <a:r>
              <a:t>正文级别 3</a:t>
            </a:r>
          </a:p>
          <a:p>
            <a:pPr lvl="3"/>
            <a:r>
              <a:t>正文级别 4</a:t>
            </a:r>
          </a:p>
          <a:p>
            <a:pPr lvl="4"/>
            <a:r>
              <a:t>正文级别 5</a:t>
            </a:r>
          </a:p>
        </p:txBody>
      </p:sp>
      <p:sp>
        <p:nvSpPr>
          <p:cNvPr id="49" name="文本占位符 4"/>
          <p:cNvSpPr>
            <a:spLocks noGrp="1"/>
          </p:cNvSpPr>
          <p:nvPr>
            <p:ph type="body" sz="quarter" idx="13"/>
          </p:nvPr>
        </p:nvSpPr>
        <p:spPr>
          <a:xfrm>
            <a:off x="6256937" y="1778440"/>
            <a:ext cx="4897578" cy="823913"/>
          </a:xfrm>
          <a:prstGeom prst="rect">
            <a:avLst/>
          </a:prstGeom>
        </p:spPr>
        <p:txBody>
          <a:bodyPr anchor="ctr"/>
          <a:lstStyle/>
          <a:p>
            <a:pPr marL="0" indent="0">
              <a:buSzTx/>
              <a:buFontTx/>
              <a:buNone/>
            </a:pPr>
            <a:endParaRPr/>
          </a:p>
        </p:txBody>
      </p:sp>
      <p:sp>
        <p:nvSpPr>
          <p:cNvPr id="50" name="幻灯片编号"/>
          <p:cNvSpPr>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57" name="标题文本"/>
          <p:cNvSpPr>
            <a:spLocks noGrp="1"/>
          </p:cNvSpPr>
          <p:nvPr>
            <p:ph type="title" hasCustomPrompt="1"/>
          </p:nvPr>
        </p:nvSpPr>
        <p:spPr>
          <a:prstGeom prst="rect">
            <a:avLst/>
          </a:prstGeom>
        </p:spPr>
        <p:txBody>
          <a:bodyPr/>
          <a:lstStyle/>
          <a:p>
            <a:r>
              <a:t>标题文本</a:t>
            </a:r>
          </a:p>
        </p:txBody>
      </p:sp>
      <p:sp>
        <p:nvSpPr>
          <p:cNvPr id="58" name="幻灯片编号"/>
          <p:cNvSpPr>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72" name="标题文本"/>
          <p:cNvSpPr>
            <a:spLocks noGrp="1"/>
          </p:cNvSpPr>
          <p:nvPr>
            <p:ph type="title" hasCustomPrompt="1"/>
          </p:nvPr>
        </p:nvSpPr>
        <p:spPr>
          <a:xfrm>
            <a:off x="839881" y="457200"/>
            <a:ext cx="4165349" cy="1600200"/>
          </a:xfrm>
          <a:prstGeom prst="rect">
            <a:avLst/>
          </a:prstGeom>
        </p:spPr>
        <p:txBody>
          <a:bodyPr anchor="b"/>
          <a:lstStyle>
            <a:lvl1pPr>
              <a:defRPr sz="3200"/>
            </a:lvl1pPr>
          </a:lstStyle>
          <a:p>
            <a:r>
              <a:t>标题文本</a:t>
            </a:r>
          </a:p>
        </p:txBody>
      </p:sp>
      <p:sp>
        <p:nvSpPr>
          <p:cNvPr id="73" name="图片占位符 2"/>
          <p:cNvSpPr>
            <a:spLocks noGrp="1"/>
          </p:cNvSpPr>
          <p:nvPr>
            <p:ph type="pic" sz="half" idx="13"/>
          </p:nvPr>
        </p:nvSpPr>
        <p:spPr>
          <a:xfrm>
            <a:off x="5183187" y="457201"/>
            <a:ext cx="6172201" cy="5403851"/>
          </a:xfrm>
          <a:prstGeom prst="rect">
            <a:avLst/>
          </a:prstGeom>
        </p:spPr>
        <p:txBody>
          <a:bodyPr lIns="91439" rIns="91439">
            <a:noAutofit/>
          </a:bodyPr>
          <a:lstStyle/>
          <a:p>
            <a:endParaRPr/>
          </a:p>
        </p:txBody>
      </p:sp>
      <p:sp>
        <p:nvSpPr>
          <p:cNvPr id="74" name="正文级别 1…"/>
          <p:cNvSpPr>
            <a:spLocks noGrp="1"/>
          </p:cNvSpPr>
          <p:nvPr>
            <p:ph type="body" sz="quarter" idx="1" hasCustomPrompt="1"/>
          </p:nvPr>
        </p:nvSpPr>
        <p:spPr>
          <a:xfrm>
            <a:off x="839881" y="2057402"/>
            <a:ext cx="4165349" cy="3811589"/>
          </a:xfrm>
          <a:prstGeom prst="rect">
            <a:avLst/>
          </a:prstGeom>
        </p:spPr>
        <p:txBody>
          <a:bodyPr/>
          <a:lstStyle>
            <a:lvl1pPr marL="0" indent="0">
              <a:buSzTx/>
              <a:buFontTx/>
              <a:buNone/>
              <a:defRPr sz="2000"/>
            </a:lvl1pPr>
            <a:lvl2pPr marL="0" indent="457200">
              <a:buSzTx/>
              <a:buFontTx/>
              <a:buNone/>
              <a:defRPr sz="2000"/>
            </a:lvl2pPr>
            <a:lvl3pPr marL="0" indent="914400">
              <a:buSzTx/>
              <a:buFontTx/>
              <a:buNone/>
              <a:defRPr sz="2000"/>
            </a:lvl3pPr>
            <a:lvl4pPr marL="0" indent="1371600">
              <a:buSzTx/>
              <a:buFontTx/>
              <a:buNone/>
              <a:defRPr sz="2000"/>
            </a:lvl4pPr>
            <a:lvl5pPr marL="0" indent="1828800">
              <a:buSzTx/>
              <a:buFontTx/>
              <a:buNone/>
              <a:defRPr sz="2000"/>
            </a:lvl5pPr>
          </a:lstStyle>
          <a:p>
            <a:r>
              <a:t>正文级别 1</a:t>
            </a:r>
          </a:p>
          <a:p>
            <a:pPr lvl="1"/>
            <a:r>
              <a:t>正文级别 2</a:t>
            </a:r>
          </a:p>
          <a:p>
            <a:pPr lvl="2"/>
            <a:r>
              <a:t>正文级别 3</a:t>
            </a:r>
          </a:p>
          <a:p>
            <a:pPr lvl="3"/>
            <a:r>
              <a:t>正文级别 4</a:t>
            </a:r>
          </a:p>
          <a:p>
            <a:pPr lvl="4"/>
            <a:r>
              <a:t>正文级别 5</a:t>
            </a:r>
          </a:p>
        </p:txBody>
      </p:sp>
      <p:sp>
        <p:nvSpPr>
          <p:cNvPr id="75" name="幻灯片编号"/>
          <p:cNvSpPr>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竖版">
    <p:spTree>
      <p:nvGrpSpPr>
        <p:cNvPr id="1" name=""/>
        <p:cNvGrpSpPr/>
        <p:nvPr/>
      </p:nvGrpSpPr>
      <p:grpSpPr>
        <a:xfrm>
          <a:off x="0" y="0"/>
          <a:ext cx="0" cy="0"/>
          <a:chOff x="0" y="0"/>
          <a:chExt cx="0" cy="0"/>
        </a:xfrm>
      </p:grpSpPr>
      <p:sp>
        <p:nvSpPr>
          <p:cNvPr id="82" name="标题文本"/>
          <p:cNvSpPr>
            <a:spLocks noGrp="1"/>
          </p:cNvSpPr>
          <p:nvPr>
            <p:ph type="title" hasCustomPrompt="1"/>
          </p:nvPr>
        </p:nvSpPr>
        <p:spPr>
          <a:xfrm>
            <a:off x="8724900" y="365124"/>
            <a:ext cx="2628900" cy="5811838"/>
          </a:xfrm>
          <a:prstGeom prst="rect">
            <a:avLst/>
          </a:prstGeom>
        </p:spPr>
        <p:txBody>
          <a:bodyPr/>
          <a:lstStyle/>
          <a:p>
            <a:r>
              <a:t>标题文本</a:t>
            </a:r>
          </a:p>
        </p:txBody>
      </p:sp>
      <p:sp>
        <p:nvSpPr>
          <p:cNvPr id="83" name="正文级别 1…"/>
          <p:cNvSpPr>
            <a:spLocks noGrp="1"/>
          </p:cNvSpPr>
          <p:nvPr>
            <p:ph type="body" idx="1" hasCustomPrompt="1"/>
          </p:nvPr>
        </p:nvSpPr>
        <p:spPr>
          <a:xfrm>
            <a:off x="838200" y="365124"/>
            <a:ext cx="7734300" cy="58118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84" name="幻灯片编号"/>
          <p:cNvSpPr>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内容">
    <p:spTree>
      <p:nvGrpSpPr>
        <p:cNvPr id="1" name=""/>
        <p:cNvGrpSpPr/>
        <p:nvPr/>
      </p:nvGrpSpPr>
      <p:grpSpPr>
        <a:xfrm>
          <a:off x="0" y="0"/>
          <a:ext cx="0" cy="0"/>
          <a:chOff x="0" y="0"/>
          <a:chExt cx="0" cy="0"/>
        </a:xfrm>
      </p:grpSpPr>
      <p:sp>
        <p:nvSpPr>
          <p:cNvPr id="91" name="正文级别 1…"/>
          <p:cNvSpPr>
            <a:spLocks noGrp="1"/>
          </p:cNvSpPr>
          <p:nvPr>
            <p:ph type="body" idx="1" hasCustomPrompt="1"/>
          </p:nvPr>
        </p:nvSpPr>
        <p:spPr>
          <a:xfrm>
            <a:off x="838203" y="365124"/>
            <a:ext cx="10515601" cy="58118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92" name="幻灯片编号"/>
          <p:cNvSpPr>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99" name="标题文本"/>
          <p:cNvSpPr>
            <a:spLocks noGrp="1"/>
          </p:cNvSpPr>
          <p:nvPr>
            <p:ph type="title" hasCustomPrompt="1"/>
          </p:nvPr>
        </p:nvSpPr>
        <p:spPr>
          <a:prstGeom prst="rect">
            <a:avLst/>
          </a:prstGeom>
        </p:spPr>
        <p:txBody>
          <a:bodyPr/>
          <a:lstStyle/>
          <a:p>
            <a:r>
              <a:t>标题文本</a:t>
            </a:r>
          </a:p>
        </p:txBody>
      </p:sp>
      <p:sp>
        <p:nvSpPr>
          <p:cNvPr id="100" name="正文级别 1…"/>
          <p:cNvSpPr>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01" name="幻灯片编号"/>
          <p:cNvSpPr>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1_仅标题">
    <p:spTree>
      <p:nvGrpSpPr>
        <p:cNvPr id="1" name=""/>
        <p:cNvGrpSpPr/>
        <p:nvPr/>
      </p:nvGrpSpPr>
      <p:grpSpPr>
        <a:xfrm>
          <a:off x="0" y="0"/>
          <a:ext cx="0" cy="0"/>
          <a:chOff x="0" y="0"/>
          <a:chExt cx="0" cy="0"/>
        </a:xfrm>
      </p:grpSpPr>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2020/4/16</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fld id="{86CB4B4D-7CA3-9044-876B-883B54F8677D}" type="slidenum">
              <a:rPr/>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lvl1pPr>
              <a:defRPr/>
            </a:lvl1pPr>
          </a:lstStyle>
          <a:p>
            <a:fld id="{4A83FE3B-F59E-D247-A94E-24726C2CE91E}" type="datetime1">
              <a:rPr lang="zh-CN" altLang="en-US"/>
              <a:pPr/>
              <a:t>2020/4/16</a:t>
            </a:fld>
            <a:endParaRPr lang="zh-CN" altLang="en-US" sz="1800">
              <a:solidFill>
                <a:schemeClr val="tx1"/>
              </a:solidFill>
            </a:endParaRPr>
          </a:p>
        </p:txBody>
      </p:sp>
      <p:sp>
        <p:nvSpPr>
          <p:cNvPr id="4" name="页脚占位符 3"/>
          <p:cNvSpPr>
            <a:spLocks noGrp="1"/>
          </p:cNvSpPr>
          <p:nvPr>
            <p:ph type="ftr" sz="quarter" idx="11"/>
          </p:nvPr>
        </p:nvSpPr>
        <p:spPr>
          <a:xfrm>
            <a:off x="4038600" y="6356350"/>
            <a:ext cx="4114800" cy="365125"/>
          </a:xfrm>
          <a:prstGeom prst="rect">
            <a:avLst/>
          </a:prstGeom>
        </p:spPr>
        <p:txBody>
          <a:bodyPr/>
          <a:lstStyle>
            <a:lvl1pPr>
              <a:defRPr/>
            </a:lvl1pPr>
          </a:lstStyle>
          <a:p>
            <a:endParaRPr lang="zh-CN" altLang="zh-CN"/>
          </a:p>
        </p:txBody>
      </p:sp>
      <p:sp>
        <p:nvSpPr>
          <p:cNvPr id="5" name="幻灯片编号占位符 4"/>
          <p:cNvSpPr>
            <a:spLocks noGrp="1"/>
          </p:cNvSpPr>
          <p:nvPr>
            <p:ph type="sldNum" sz="quarter" idx="12"/>
          </p:nvPr>
        </p:nvSpPr>
        <p:spPr>
          <a:xfrm>
            <a:off x="8610600" y="6356350"/>
            <a:ext cx="2743200" cy="365125"/>
          </a:xfrm>
        </p:spPr>
        <p:txBody>
          <a:bodyPr/>
          <a:lstStyle>
            <a:lvl1pPr>
              <a:defRPr/>
            </a:lvl1pPr>
          </a:lstStyle>
          <a:p>
            <a:fld id="{5A660F92-6D1A-E048-8EC5-C1229A534EDB}"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1238909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a:spLocks noGrp="1"/>
          </p:cNvSpPr>
          <p:nvPr>
            <p:ph type="title"/>
          </p:nvPr>
        </p:nvSpPr>
        <p:spPr>
          <a:xfrm>
            <a:off x="838203" y="365127"/>
            <a:ext cx="10515601" cy="1325563"/>
          </a:xfrm>
          <a:prstGeom prst="rect">
            <a:avLst/>
          </a:prstGeom>
          <a:ln w="12700">
            <a:miter lim="400000"/>
          </a:ln>
        </p:spPr>
        <p:txBody>
          <a:bodyPr lIns="45719" rIns="45719" anchor="ctr">
            <a:normAutofit/>
          </a:bodyPr>
          <a:lstStyle/>
          <a:p>
            <a:r>
              <a:t>标题文本</a:t>
            </a:r>
          </a:p>
        </p:txBody>
      </p:sp>
      <p:sp>
        <p:nvSpPr>
          <p:cNvPr id="3" name="正文级别 1…"/>
          <p:cNvSpPr>
            <a:spLocks noGrp="1"/>
          </p:cNvSpPr>
          <p:nvPr>
            <p:ph type="body" idx="1"/>
          </p:nvPr>
        </p:nvSpPr>
        <p:spPr>
          <a:xfrm>
            <a:off x="838203" y="1825625"/>
            <a:ext cx="10515601" cy="4351339"/>
          </a:xfrm>
          <a:prstGeom prst="rect">
            <a:avLst/>
          </a:prstGeom>
          <a:ln w="12700">
            <a:miter lim="400000"/>
          </a:ln>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sp>
        <p:nvSpPr>
          <p:cNvPr id="4" name="幻灯片编号"/>
          <p:cNvSpPr>
            <a:spLocks noGrp="1"/>
          </p:cNvSpPr>
          <p:nvPr>
            <p:ph type="sldNum" sz="quarter" idx="2"/>
          </p:nvPr>
        </p:nvSpPr>
        <p:spPr>
          <a:xfrm>
            <a:off x="11089818" y="6404403"/>
            <a:ext cx="263983" cy="26924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EE6CA"/>
        </a:solidFill>
        <a:effectLst/>
      </p:bgPr>
    </p:bg>
    <p:spTree>
      <p:nvGrpSpPr>
        <p:cNvPr id="1" name=""/>
        <p:cNvGrpSpPr/>
        <p:nvPr/>
      </p:nvGrpSpPr>
      <p:grpSpPr>
        <a:xfrm>
          <a:off x="0" y="0"/>
          <a:ext cx="0" cy="0"/>
          <a:chOff x="0" y="0"/>
          <a:chExt cx="0" cy="0"/>
        </a:xfrm>
      </p:grpSpPr>
      <p:sp>
        <p:nvSpPr>
          <p:cNvPr id="38" name="ppt主标题内容"/>
          <p:cNvSpPr txBox="1"/>
          <p:nvPr/>
        </p:nvSpPr>
        <p:spPr>
          <a:xfrm>
            <a:off x="6070352" y="2769865"/>
            <a:ext cx="51361" cy="1051570"/>
          </a:xfrm>
          <a:prstGeom prst="rect">
            <a:avLst/>
          </a:prstGeom>
          <a:ln w="12700">
            <a:miter lim="400000"/>
          </a:ln>
          <a:effectLst>
            <a:outerShdw blurRad="50800" dist="38100" dir="2700000" algn="tl" rotWithShape="0">
              <a:prstClr val="black">
                <a:alpha val="40000"/>
              </a:prstClr>
            </a:outerShdw>
          </a:effectLst>
        </p:spPr>
        <p:txBody>
          <a:bodyPr wrap="none" lIns="25400" tIns="25400" rIns="25400" bIns="25400" anchor="ctr">
            <a:spAutoFit/>
          </a:bodyPr>
          <a:lstStyle>
            <a:lvl1pPr>
              <a:defRPr sz="13000" cap="all">
                <a:solidFill>
                  <a:srgbClr val="FFFFFF"/>
                </a:solidFill>
                <a:latin typeface="Alibaba-PuHuiTi-R"/>
                <a:ea typeface="Alibaba-PuHuiTi-R"/>
                <a:cs typeface="Alibaba-PuHuiTi-R"/>
                <a:sym typeface="Alibaba-PuHuiTi-R"/>
              </a:defRPr>
            </a:lvl1pPr>
          </a:lstStyle>
          <a:p>
            <a:endParaRPr sz="6500" dirty="0">
              <a:latin typeface="阿里巴巴普惠体-B"/>
              <a:ea typeface="阿里巴巴普惠体-B"/>
              <a:cs typeface="阿里巴巴普惠体-B"/>
            </a:endParaRPr>
          </a:p>
        </p:txBody>
      </p:sp>
      <p:sp>
        <p:nvSpPr>
          <p:cNvPr id="40" name="科学保障  幸福一生"/>
          <p:cNvSpPr txBox="1"/>
          <p:nvPr/>
        </p:nvSpPr>
        <p:spPr>
          <a:xfrm>
            <a:off x="4600135" y="5641516"/>
            <a:ext cx="3305907" cy="297517"/>
          </a:xfrm>
          <a:prstGeom prst="rect">
            <a:avLst/>
          </a:prstGeom>
          <a:ln w="12700">
            <a:miter lim="400000"/>
          </a:ln>
        </p:spPr>
        <p:txBody>
          <a:bodyPr wrap="square" lIns="25400" tIns="25400" rIns="25400" bIns="25400">
            <a:spAutoFit/>
          </a:bodyPr>
          <a:lstStyle/>
          <a:p>
            <a:pPr lvl="1" algn="l">
              <a:defRPr sz="3200" b="0" spc="960">
                <a:solidFill>
                  <a:srgbClr val="FFFFFF"/>
                </a:solidFill>
                <a:latin typeface="Alibaba PuHuiTi"/>
                <a:ea typeface="Alibaba PuHuiTi"/>
                <a:cs typeface="Alibaba PuHuiTi"/>
                <a:sym typeface="Alibaba PuHuiTi"/>
              </a:defRPr>
            </a:pPr>
            <a:r>
              <a:rPr sz="1600" dirty="0" err="1">
                <a:latin typeface="微软雅黑" panose="020B0503020204020204" charset="-122"/>
                <a:ea typeface="微软雅黑" panose="020B0503020204020204" charset="-122"/>
                <a:cs typeface="微软雅黑" panose="020B0503020204020204" charset="-122"/>
              </a:rPr>
              <a:t>科学保障幸福一生</a:t>
            </a:r>
            <a:endParaRPr sz="1600" dirty="0">
              <a:latin typeface="微软雅黑" panose="020B0503020204020204" charset="-122"/>
              <a:ea typeface="微软雅黑" panose="020B0503020204020204" charset="-122"/>
              <a:cs typeface="微软雅黑" panose="020B0503020204020204" charset="-122"/>
            </a:endParaRPr>
          </a:p>
        </p:txBody>
      </p:sp>
      <p:pic>
        <p:nvPicPr>
          <p:cNvPr id="41" name="矩形2.png" descr="矩形2.png"/>
          <p:cNvPicPr>
            <a:picLocks noChangeAspect="1"/>
          </p:cNvPicPr>
          <p:nvPr/>
        </p:nvPicPr>
        <p:blipFill>
          <a:blip r:embed="rId2"/>
          <a:stretch>
            <a:fillRect/>
          </a:stretch>
        </p:blipFill>
        <p:spPr>
          <a:xfrm>
            <a:off x="2759472" y="5768516"/>
            <a:ext cx="1993901" cy="82551"/>
          </a:xfrm>
          <a:prstGeom prst="rect">
            <a:avLst/>
          </a:prstGeom>
          <a:ln w="12700">
            <a:miter lim="400000"/>
            <a:headEnd/>
            <a:tailEnd/>
          </a:ln>
        </p:spPr>
      </p:pic>
      <p:pic>
        <p:nvPicPr>
          <p:cNvPr id="42" name="矩形2.png" descr="矩形2.png"/>
          <p:cNvPicPr>
            <a:picLocks noChangeAspect="1"/>
          </p:cNvPicPr>
          <p:nvPr/>
        </p:nvPicPr>
        <p:blipFill>
          <a:blip r:embed="rId2"/>
          <a:stretch>
            <a:fillRect/>
          </a:stretch>
        </p:blipFill>
        <p:spPr>
          <a:xfrm flipH="1">
            <a:off x="7438628" y="5768516"/>
            <a:ext cx="1993901" cy="82551"/>
          </a:xfrm>
          <a:prstGeom prst="rect">
            <a:avLst/>
          </a:prstGeom>
          <a:ln w="12700">
            <a:miter lim="400000"/>
            <a:headEnd/>
            <a:tailEnd/>
          </a:ln>
        </p:spPr>
      </p:pic>
      <p:grpSp>
        <p:nvGrpSpPr>
          <p:cNvPr id="46" name="成组"/>
          <p:cNvGrpSpPr/>
          <p:nvPr/>
        </p:nvGrpSpPr>
        <p:grpSpPr>
          <a:xfrm>
            <a:off x="5456082" y="1331466"/>
            <a:ext cx="1279836" cy="1279836"/>
            <a:chOff x="0" y="0"/>
            <a:chExt cx="2559670" cy="2559670"/>
          </a:xfrm>
        </p:grpSpPr>
        <p:sp>
          <p:nvSpPr>
            <p:cNvPr id="43" name="圆角矩形"/>
            <p:cNvSpPr/>
            <p:nvPr/>
          </p:nvSpPr>
          <p:spPr>
            <a:xfrm>
              <a:off x="124383" y="124383"/>
              <a:ext cx="2310904" cy="2310904"/>
            </a:xfrm>
            <a:prstGeom prst="roundRect">
              <a:avLst>
                <a:gd name="adj" fmla="val 15000"/>
              </a:avLst>
            </a:prstGeom>
            <a:solidFill>
              <a:srgbClr val="FFFFFF"/>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a:p>
          </p:txBody>
        </p:sp>
        <p:sp>
          <p:nvSpPr>
            <p:cNvPr id="44" name="圆角矩形"/>
            <p:cNvSpPr/>
            <p:nvPr/>
          </p:nvSpPr>
          <p:spPr>
            <a:xfrm>
              <a:off x="0" y="0"/>
              <a:ext cx="2559671" cy="2559671"/>
            </a:xfrm>
            <a:prstGeom prst="roundRect">
              <a:avLst>
                <a:gd name="adj" fmla="val 15000"/>
              </a:avLst>
            </a:prstGeom>
            <a:noFill/>
            <a:ln w="12700" cap="flat">
              <a:solidFill>
                <a:srgbClr val="FFFFFF"/>
              </a:solidFill>
              <a:prstDash val="solid"/>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a:p>
          </p:txBody>
        </p:sp>
        <p:pic>
          <p:nvPicPr>
            <p:cNvPr id="45" name="图像" descr="图像"/>
            <p:cNvPicPr>
              <a:picLocks noChangeAspect="1"/>
            </p:cNvPicPr>
            <p:nvPr/>
          </p:nvPicPr>
          <p:blipFill>
            <a:blip r:embed="rId3"/>
            <a:stretch>
              <a:fillRect/>
            </a:stretch>
          </p:blipFill>
          <p:spPr>
            <a:xfrm>
              <a:off x="542197" y="412173"/>
              <a:ext cx="1475277" cy="1735324"/>
            </a:xfrm>
            <a:prstGeom prst="rect">
              <a:avLst/>
            </a:prstGeom>
            <a:ln w="12700" cap="flat">
              <a:noFill/>
              <a:miter lim="400000"/>
              <a:headEnd/>
              <a:tailEnd/>
            </a:ln>
            <a:effectLst/>
          </p:spPr>
        </p:pic>
      </p:grpSp>
      <p:sp>
        <p:nvSpPr>
          <p:cNvPr id="2" name="文本框 1"/>
          <p:cNvSpPr txBox="1"/>
          <p:nvPr/>
        </p:nvSpPr>
        <p:spPr>
          <a:xfrm>
            <a:off x="2237740" y="2910518"/>
            <a:ext cx="7568565" cy="10515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r>
              <a:rPr lang="zh-CN" altLang="en-US" sz="6500" dirty="0">
                <a:solidFill>
                  <a:schemeClr val="bg1"/>
                </a:solidFill>
                <a:effectLst>
                  <a:outerShdw blurRad="76200" dist="38100" dir="5400000" algn="t" rotWithShape="0">
                    <a:srgbClr val="179479">
                      <a:alpha val="99000"/>
                    </a:srgbClr>
                  </a:outerShdw>
                </a:effectLst>
                <a:latin typeface="微软雅黑" panose="020B0503020204020204" charset="-122"/>
                <a:ea typeface="微软雅黑" panose="020B0503020204020204" charset="-122"/>
                <a:cs typeface="微软雅黑" panose="020B0503020204020204" charset="-122"/>
              </a:rPr>
              <a:t>    保单分析与对比</a:t>
            </a:r>
            <a:endParaRPr lang="zh-CN" altLang="en-US" sz="1500" b="1" dirty="0">
              <a:solidFill>
                <a:schemeClr val="bg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56281779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AEE6CA"/>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矩形 3"/>
          <p:cNvSpPr/>
          <p:nvPr/>
        </p:nvSpPr>
        <p:spPr>
          <a:xfrm>
            <a:off x="407964" y="1849915"/>
            <a:ext cx="2945914" cy="1309269"/>
          </a:xfrm>
          <a:prstGeom prst="rect">
            <a:avLst/>
          </a:prstGeom>
        </p:spPr>
        <p:txBody>
          <a:bodyPr wrap="square">
            <a:spAutoFit/>
          </a:bodyPr>
          <a:lstStyle/>
          <a:p>
            <a:pPr>
              <a:lnSpc>
                <a:spcPct val="120000"/>
              </a:lnSpc>
            </a:pPr>
            <a:r>
              <a:rPr lang="zh-CN" altLang="en-US" sz="7200" b="1" dirty="0">
                <a:solidFill>
                  <a:schemeClr val="bg1"/>
                </a:solidFill>
                <a:latin typeface="微软雅黑" panose="020B0503020204020204" pitchFamily="34" charset="-122"/>
                <a:ea typeface="微软雅黑" panose="020B0503020204020204" pitchFamily="34" charset="-122"/>
              </a:rPr>
              <a:t>目 录</a:t>
            </a:r>
          </a:p>
        </p:txBody>
      </p:sp>
      <p:sp>
        <p:nvSpPr>
          <p:cNvPr id="5" name="标题 2"/>
          <p:cNvSpPr txBox="1"/>
          <p:nvPr/>
        </p:nvSpPr>
        <p:spPr>
          <a:xfrm>
            <a:off x="7389995" y="2498353"/>
            <a:ext cx="3464026" cy="354386"/>
          </a:xfrm>
          <a:prstGeom prst="rect">
            <a:avLst/>
          </a:prstGeom>
        </p:spPr>
        <p:txBody>
          <a:bodyPr vert="horz" lIns="91440" tIns="45720" rIns="91440" bIns="45720" rtlCol="0" anchor="t">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kumimoji="1" lang="zh-CN" altLang="en-US" sz="1600" dirty="0">
              <a:solidFill>
                <a:schemeClr val="bg1">
                  <a:lumMod val="9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6" name="标题 2"/>
          <p:cNvSpPr txBox="1"/>
          <p:nvPr/>
        </p:nvSpPr>
        <p:spPr>
          <a:xfrm>
            <a:off x="6302327" y="2192750"/>
            <a:ext cx="1298862" cy="638511"/>
          </a:xfrm>
          <a:prstGeom prst="rect">
            <a:avLst/>
          </a:prstGeom>
        </p:spPr>
        <p:txBody>
          <a:bodyPr vert="horz"/>
          <a:lstStyle>
            <a:lvl1pPr algn="l" defTabSz="457200" rtl="0" eaLnBrk="1" latinLnBrk="0" hangingPunct="1">
              <a:spcBef>
                <a:spcPct val="0"/>
              </a:spcBef>
              <a:buNone/>
              <a:defRPr sz="3200" kern="1200">
                <a:solidFill>
                  <a:schemeClr val="tx1"/>
                </a:solidFill>
                <a:latin typeface="+mj-lt"/>
                <a:ea typeface="微软雅黑" panose="020B0503020204020204" pitchFamily="34" charset="-122"/>
                <a:cs typeface="+mj-cs"/>
              </a:defRPr>
            </a:lvl1pPr>
          </a:lstStyle>
          <a:p>
            <a:pPr algn="ctr"/>
            <a:r>
              <a:rPr kumimoji="1" lang="en-US" altLang="zh-CN" dirty="0">
                <a:solidFill>
                  <a:srgbClr val="F7C174"/>
                </a:solidFill>
                <a:latin typeface="Arial" panose="020B0604020202020204"/>
                <a:cs typeface="Arial" panose="020B0604020202020204"/>
              </a:rPr>
              <a:t>01</a:t>
            </a:r>
            <a:endParaRPr kumimoji="1" lang="zh-CN" altLang="en-US" dirty="0">
              <a:solidFill>
                <a:srgbClr val="F7C174"/>
              </a:solidFill>
              <a:latin typeface="Arial" panose="020B0604020202020204"/>
              <a:cs typeface="Arial" panose="020B0604020202020204"/>
            </a:endParaRPr>
          </a:p>
        </p:txBody>
      </p:sp>
      <p:sp>
        <p:nvSpPr>
          <p:cNvPr id="13" name="文本框 12"/>
          <p:cNvSpPr txBox="1"/>
          <p:nvPr/>
        </p:nvSpPr>
        <p:spPr>
          <a:xfrm>
            <a:off x="1312331" y="3220061"/>
            <a:ext cx="1431985" cy="369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altLang="zh-CN" dirty="0">
                <a:solidFill>
                  <a:schemeClr val="tx1">
                    <a:lumMod val="65000"/>
                    <a:lumOff val="35000"/>
                  </a:schemeClr>
                </a:solidFill>
              </a:rPr>
              <a:t>c</a:t>
            </a:r>
            <a:r>
              <a:rPr lang="zh-CN" altLang="en-US" dirty="0">
                <a:solidFill>
                  <a:schemeClr val="tx1">
                    <a:lumMod val="65000"/>
                    <a:lumOff val="35000"/>
                  </a:schemeClr>
                </a:solidFill>
              </a:rPr>
              <a:t> </a:t>
            </a:r>
            <a:r>
              <a:rPr lang="en-US" altLang="zh-CN" dirty="0">
                <a:solidFill>
                  <a:schemeClr val="tx1">
                    <a:lumMod val="65000"/>
                    <a:lumOff val="35000"/>
                  </a:schemeClr>
                </a:solidFill>
              </a:rPr>
              <a:t>o</a:t>
            </a:r>
            <a:r>
              <a:rPr lang="zh-CN" altLang="en-US" dirty="0">
                <a:solidFill>
                  <a:schemeClr val="tx1">
                    <a:lumMod val="65000"/>
                    <a:lumOff val="35000"/>
                  </a:schemeClr>
                </a:solidFill>
              </a:rPr>
              <a:t> </a:t>
            </a:r>
            <a:r>
              <a:rPr lang="en-US" altLang="zh-CN" dirty="0">
                <a:solidFill>
                  <a:schemeClr val="tx1">
                    <a:lumMod val="65000"/>
                    <a:lumOff val="35000"/>
                  </a:schemeClr>
                </a:solidFill>
              </a:rPr>
              <a:t>n t e n t</a:t>
            </a:r>
            <a:endParaRPr kumimoji="0" lang="zh-CN" altLang="en-US" sz="1800" b="0" i="0" u="none" strike="noStrike" cap="none" spc="0" normalizeH="0" baseline="0" dirty="0">
              <a:ln>
                <a:noFill/>
              </a:ln>
              <a:solidFill>
                <a:schemeClr val="tx1">
                  <a:lumMod val="65000"/>
                  <a:lumOff val="35000"/>
                </a:schemeClr>
              </a:solidFill>
              <a:effectLst/>
              <a:uFillTx/>
              <a:sym typeface="Calibri" panose="020F0502020204030204"/>
            </a:endParaRPr>
          </a:p>
        </p:txBody>
      </p:sp>
      <p:sp>
        <p:nvSpPr>
          <p:cNvPr id="30" name="标题 2"/>
          <p:cNvSpPr txBox="1"/>
          <p:nvPr/>
        </p:nvSpPr>
        <p:spPr>
          <a:xfrm>
            <a:off x="7389995" y="3048196"/>
            <a:ext cx="3464026" cy="354386"/>
          </a:xfrm>
          <a:prstGeom prst="rect">
            <a:avLst/>
          </a:prstGeom>
        </p:spPr>
        <p:txBody>
          <a:bodyPr vert="horz" lIns="91440" tIns="45720" rIns="91440" bIns="45720" rtlCol="0" anchor="t">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a:solidFill>
                  <a:schemeClr val="bg1">
                    <a:lumMod val="95000"/>
                  </a:schemeClr>
                </a:solidFill>
                <a:latin typeface="微软雅黑 Light" panose="020B0502040204020203" charset="-122"/>
                <a:ea typeface="微软雅黑 Light" panose="020B0502040204020203" charset="-122"/>
                <a:cs typeface="微软雅黑 Light" panose="020B0502040204020203" charset="-122"/>
              </a:rPr>
              <a:t>年金险／万能险</a:t>
            </a:r>
          </a:p>
        </p:txBody>
      </p:sp>
      <p:sp>
        <p:nvSpPr>
          <p:cNvPr id="31" name="标题 2"/>
          <p:cNvSpPr txBox="1"/>
          <p:nvPr/>
        </p:nvSpPr>
        <p:spPr>
          <a:xfrm>
            <a:off x="6302327" y="3001105"/>
            <a:ext cx="1298861" cy="588467"/>
          </a:xfrm>
          <a:prstGeom prst="rect">
            <a:avLst/>
          </a:prstGeom>
        </p:spPr>
        <p:txBody>
          <a:bodyPr vert="horz"/>
          <a:lstStyle>
            <a:lvl1pPr algn="l" defTabSz="457200" rtl="0" eaLnBrk="1" latinLnBrk="0" hangingPunct="1">
              <a:spcBef>
                <a:spcPct val="0"/>
              </a:spcBef>
              <a:buNone/>
              <a:defRPr sz="3200" kern="1200">
                <a:solidFill>
                  <a:schemeClr val="tx1"/>
                </a:solidFill>
                <a:latin typeface="+mj-lt"/>
                <a:ea typeface="微软雅黑" panose="020B0503020204020204" pitchFamily="34" charset="-122"/>
                <a:cs typeface="+mj-cs"/>
              </a:defRPr>
            </a:lvl1pPr>
          </a:lstStyle>
          <a:p>
            <a:pPr algn="ctr"/>
            <a:r>
              <a:rPr kumimoji="1" lang="en-US" altLang="zh-CN" dirty="0">
                <a:solidFill>
                  <a:srgbClr val="F7C174"/>
                </a:solidFill>
                <a:latin typeface="Arial" panose="020B0604020202020204"/>
                <a:cs typeface="Arial" panose="020B0604020202020204"/>
              </a:rPr>
              <a:t>02</a:t>
            </a:r>
            <a:endParaRPr kumimoji="1" lang="zh-CN" altLang="en-US" dirty="0">
              <a:solidFill>
                <a:srgbClr val="F7C174"/>
              </a:solidFill>
              <a:latin typeface="Arial" panose="020B0604020202020204"/>
              <a:cs typeface="Arial" panose="020B0604020202020204"/>
            </a:endParaRPr>
          </a:p>
        </p:txBody>
      </p:sp>
      <p:cxnSp>
        <p:nvCxnSpPr>
          <p:cNvPr id="14" name="直线连接符 13"/>
          <p:cNvCxnSpPr/>
          <p:nvPr/>
        </p:nvCxnSpPr>
        <p:spPr>
          <a:xfrm>
            <a:off x="0" y="3227907"/>
            <a:ext cx="2438031" cy="0"/>
          </a:xfrm>
          <a:prstGeom prst="line">
            <a:avLst/>
          </a:prstGeom>
          <a:noFill/>
          <a:ln w="12700" cap="flat">
            <a:solidFill>
              <a:srgbClr val="AC8855"/>
            </a:solidFill>
            <a:prstDash val="solid"/>
            <a:miter lim="800000"/>
          </a:ln>
        </p:spPr>
        <p:style>
          <a:lnRef idx="0">
            <a:scrgbClr r="0" g="0" b="0"/>
          </a:lnRef>
          <a:fillRef idx="0">
            <a:scrgbClr r="0" g="0" b="0"/>
          </a:fillRef>
          <a:effectRef idx="0">
            <a:scrgbClr r="0" g="0" b="0"/>
          </a:effectRef>
          <a:fontRef idx="none"/>
        </p:style>
      </p:cxnSp>
      <p:sp>
        <p:nvSpPr>
          <p:cNvPr id="2" name="标题 2"/>
          <p:cNvSpPr txBox="1"/>
          <p:nvPr/>
        </p:nvSpPr>
        <p:spPr>
          <a:xfrm>
            <a:off x="6302327" y="3856449"/>
            <a:ext cx="1298861" cy="557988"/>
          </a:xfrm>
          <a:prstGeom prst="rect">
            <a:avLst/>
          </a:prstGeom>
        </p:spPr>
        <p:txBody>
          <a:bodyPr vert="horz"/>
          <a:lstStyle>
            <a:lvl1pPr algn="l" defTabSz="457200" rtl="0" eaLnBrk="1" latinLnBrk="0" hangingPunct="1">
              <a:spcBef>
                <a:spcPct val="0"/>
              </a:spcBef>
              <a:buNone/>
              <a:defRPr sz="3200" kern="1200">
                <a:solidFill>
                  <a:schemeClr val="tx1"/>
                </a:solidFill>
                <a:latin typeface="+mj-lt"/>
                <a:ea typeface="微软雅黑" panose="020B0503020204020204" pitchFamily="34" charset="-122"/>
                <a:cs typeface="+mj-cs"/>
              </a:defRPr>
            </a:lvl1pPr>
          </a:lstStyle>
          <a:p>
            <a:pPr algn="ctr"/>
            <a:r>
              <a:rPr kumimoji="1" lang="en-US" altLang="zh-CN" dirty="0">
                <a:solidFill>
                  <a:srgbClr val="F7C174"/>
                </a:solidFill>
                <a:latin typeface="Arial" panose="020B0604020202020204"/>
                <a:cs typeface="Arial" panose="020B0604020202020204"/>
              </a:rPr>
              <a:t>03</a:t>
            </a:r>
            <a:endParaRPr kumimoji="1" lang="zh-CN" altLang="en-US" dirty="0">
              <a:solidFill>
                <a:srgbClr val="F7C174"/>
              </a:solidFill>
              <a:latin typeface="Arial" panose="020B0604020202020204"/>
              <a:cs typeface="Arial" panose="020B0604020202020204"/>
            </a:endParaRPr>
          </a:p>
        </p:txBody>
      </p:sp>
      <p:sp>
        <p:nvSpPr>
          <p:cNvPr id="3" name="标题 2"/>
          <p:cNvSpPr txBox="1"/>
          <p:nvPr/>
        </p:nvSpPr>
        <p:spPr>
          <a:xfrm>
            <a:off x="7389995" y="3846597"/>
            <a:ext cx="3464026" cy="354386"/>
          </a:xfrm>
          <a:prstGeom prst="rect">
            <a:avLst/>
          </a:prstGeom>
        </p:spPr>
        <p:txBody>
          <a:bodyPr vert="horz" lIns="91440" tIns="45720" rIns="91440" bIns="45720" rtlCol="0" anchor="t">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3200" b="1" dirty="0">
                <a:solidFill>
                  <a:schemeClr val="bg1">
                    <a:lumMod val="95000"/>
                  </a:schemeClr>
                </a:solidFill>
                <a:latin typeface="微软雅黑 Light" panose="020B0502040204020203" charset="-122"/>
                <a:ea typeface="微软雅黑 Light" panose="020B0502040204020203" charset="-122"/>
                <a:cs typeface="微软雅黑 Light" panose="020B0502040204020203" charset="-122"/>
              </a:rPr>
              <a:t>保障型保险</a:t>
            </a:r>
          </a:p>
        </p:txBody>
      </p:sp>
      <p:sp>
        <p:nvSpPr>
          <p:cNvPr id="15" name="标题 2"/>
          <p:cNvSpPr txBox="1"/>
          <p:nvPr/>
        </p:nvSpPr>
        <p:spPr>
          <a:xfrm>
            <a:off x="7389995" y="2237138"/>
            <a:ext cx="3464026" cy="354386"/>
          </a:xfrm>
          <a:prstGeom prst="rect">
            <a:avLst/>
          </a:prstGeom>
        </p:spPr>
        <p:txBody>
          <a:bodyPr vert="horz" lIns="91440" tIns="45720" rIns="91440" bIns="45720" rtlCol="0" anchor="t">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a:solidFill>
                  <a:schemeClr val="bg1">
                    <a:lumMod val="95000"/>
                  </a:schemeClr>
                </a:solidFill>
                <a:latin typeface="微软雅黑 Light" panose="020B0502040204020203" charset="-122"/>
                <a:ea typeface="微软雅黑 Light" panose="020B0502040204020203" charset="-122"/>
                <a:cs typeface="微软雅黑 Light" panose="020B0502040204020203" charset="-122"/>
              </a:rPr>
              <a:t>保单分析所需资料</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843080" y="2735073"/>
            <a:ext cx="1597470" cy="1597470"/>
          </a:xfrm>
          <a:prstGeom prst="rect">
            <a:avLst/>
          </a:prstGeom>
          <a:solidFill>
            <a:srgbClr val="92D050"/>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8" name="文本框 7"/>
          <p:cNvSpPr txBox="1"/>
          <p:nvPr/>
        </p:nvSpPr>
        <p:spPr>
          <a:xfrm>
            <a:off x="3858885" y="2779847"/>
            <a:ext cx="1901884" cy="1569658"/>
          </a:xfrm>
          <a:prstGeom prst="rect">
            <a:avLst/>
          </a:prstGeom>
          <a:solidFill>
            <a:srgbClr val="AEE6CA"/>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altLang="zh-CN" sz="9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01</a:t>
            </a:r>
            <a:endParaRPr kumimoji="0" lang="zh-CN" altLang="en-US" sz="960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p:txBody>
      </p:sp>
      <p:sp>
        <p:nvSpPr>
          <p:cNvPr id="13" name="文本框 12"/>
          <p:cNvSpPr txBox="1"/>
          <p:nvPr/>
        </p:nvSpPr>
        <p:spPr>
          <a:xfrm>
            <a:off x="5918834" y="2489200"/>
            <a:ext cx="5825491" cy="1005017"/>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r" defTabSz="914400" rtl="0" fontAlgn="auto" latinLnBrk="0" hangingPunct="0">
              <a:lnSpc>
                <a:spcPct val="120000"/>
              </a:lnSpc>
              <a:spcBef>
                <a:spcPts val="0"/>
              </a:spcBef>
              <a:spcAft>
                <a:spcPts val="0"/>
              </a:spcAft>
              <a:buClrTx/>
              <a:buSzTx/>
              <a:buFontTx/>
              <a:buNone/>
            </a:pPr>
            <a:r>
              <a:rPr lang="zh-CN" altLang="en-US" sz="5400" b="1" dirty="0">
                <a:solidFill>
                  <a:schemeClr val="tx1">
                    <a:lumMod val="95000"/>
                    <a:lumOff val="5000"/>
                  </a:schemeClr>
                </a:solidFill>
                <a:latin typeface="微软雅黑" panose="020B0503020204020204" pitchFamily="34" charset="-122"/>
                <a:ea typeface="微软雅黑" panose="020B0503020204020204" pitchFamily="34" charset="-122"/>
              </a:rPr>
              <a:t>保单分析所需资料</a:t>
            </a:r>
          </a:p>
        </p:txBody>
      </p:sp>
      <p:sp>
        <p:nvSpPr>
          <p:cNvPr id="11" name="矩形 10"/>
          <p:cNvSpPr/>
          <p:nvPr/>
        </p:nvSpPr>
        <p:spPr>
          <a:xfrm flipH="1">
            <a:off x="5919105" y="3739300"/>
            <a:ext cx="533673" cy="62354"/>
          </a:xfrm>
          <a:prstGeom prst="rect">
            <a:avLst/>
          </a:prstGeom>
          <a:solidFill>
            <a:schemeClr val="tx1">
              <a:lumMod val="95000"/>
              <a:lumOff val="5000"/>
            </a:schemeClr>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6" name="矩形 15"/>
          <p:cNvSpPr/>
          <p:nvPr/>
        </p:nvSpPr>
        <p:spPr>
          <a:xfrm flipH="1">
            <a:off x="6452778" y="3739300"/>
            <a:ext cx="5205550" cy="62354"/>
          </a:xfrm>
          <a:prstGeom prst="rect">
            <a:avLst/>
          </a:prstGeom>
          <a:solidFill>
            <a:srgbClr val="AEE6CA"/>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extLst>
      <p:ext uri="{BB962C8B-B14F-4D97-AF65-F5344CB8AC3E}">
        <p14:creationId xmlns:p14="http://schemas.microsoft.com/office/powerpoint/2010/main" val="161257263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099595" y="0"/>
            <a:ext cx="5375776" cy="6858000"/>
          </a:xfrm>
          <a:prstGeom prst="rect">
            <a:avLst/>
          </a:prstGeom>
        </p:spPr>
      </p:pic>
      <p:sp>
        <p:nvSpPr>
          <p:cNvPr id="4" name="矩形 3"/>
          <p:cNvSpPr/>
          <p:nvPr/>
        </p:nvSpPr>
        <p:spPr>
          <a:xfrm>
            <a:off x="7879028" y="2522250"/>
            <a:ext cx="2998257" cy="830997"/>
          </a:xfrm>
          <a:prstGeom prst="rect">
            <a:avLst/>
          </a:prstGeom>
        </p:spPr>
        <p:txBody>
          <a:bodyPr wrap="none">
            <a:spAutoFit/>
          </a:bodyPr>
          <a:lstStyle/>
          <a:p>
            <a:pPr marL="347980" lvl="1" indent="0"/>
            <a:r>
              <a:rPr lang="zh-CN" altLang="en-US" sz="4800" b="1" dirty="0">
                <a:solidFill>
                  <a:srgbClr val="AEE6CA"/>
                </a:solidFill>
                <a:latin typeface="Hiragino Sans GB W3" charset="-122"/>
                <a:ea typeface="Hiragino Sans GB W3" charset="-122"/>
                <a:cs typeface="Hiragino Sans GB W3" charset="-122"/>
              </a:rPr>
              <a:t>保险单页</a:t>
            </a:r>
            <a:endParaRPr lang="en-US" altLang="zh-CN" sz="4800" b="1" dirty="0">
              <a:solidFill>
                <a:srgbClr val="AEE6CA"/>
              </a:solidFill>
            </a:endParaRPr>
          </a:p>
        </p:txBody>
      </p:sp>
    </p:spTree>
    <p:extLst>
      <p:ext uri="{BB962C8B-B14F-4D97-AF65-F5344CB8AC3E}">
        <p14:creationId xmlns:p14="http://schemas.microsoft.com/office/powerpoint/2010/main" val="21037968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6502292" y="0"/>
            <a:ext cx="4986570" cy="6858000"/>
          </a:xfrm>
          <a:prstGeom prst="rect">
            <a:avLst/>
          </a:prstGeom>
        </p:spPr>
      </p:pic>
      <p:sp>
        <p:nvSpPr>
          <p:cNvPr id="3" name="矩形 2"/>
          <p:cNvSpPr/>
          <p:nvPr/>
        </p:nvSpPr>
        <p:spPr>
          <a:xfrm>
            <a:off x="1402833" y="2580418"/>
            <a:ext cx="3613810" cy="830997"/>
          </a:xfrm>
          <a:prstGeom prst="rect">
            <a:avLst/>
          </a:prstGeom>
        </p:spPr>
        <p:txBody>
          <a:bodyPr wrap="none">
            <a:spAutoFit/>
          </a:bodyPr>
          <a:lstStyle/>
          <a:p>
            <a:pPr marL="347980" lvl="1" indent="0"/>
            <a:r>
              <a:rPr lang="zh-CN" altLang="en-US" sz="4800" b="1" dirty="0">
                <a:solidFill>
                  <a:srgbClr val="AEE6CA"/>
                </a:solidFill>
                <a:latin typeface="Hiragino Sans GB W3" charset="-122"/>
                <a:ea typeface="Hiragino Sans GB W3" charset="-122"/>
                <a:cs typeface="Hiragino Sans GB W3" charset="-122"/>
              </a:rPr>
              <a:t>保险责任页</a:t>
            </a:r>
            <a:endParaRPr lang="en-US" altLang="zh-CN" sz="4800" b="1" dirty="0">
              <a:solidFill>
                <a:srgbClr val="AEE6CA"/>
              </a:solidFill>
            </a:endParaRPr>
          </a:p>
        </p:txBody>
      </p:sp>
    </p:spTree>
    <p:extLst>
      <p:ext uri="{BB962C8B-B14F-4D97-AF65-F5344CB8AC3E}">
        <p14:creationId xmlns:p14="http://schemas.microsoft.com/office/powerpoint/2010/main" val="195207315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071812" y="0"/>
            <a:ext cx="9334500" cy="6819900"/>
          </a:xfrm>
          <a:prstGeom prst="rect">
            <a:avLst/>
          </a:prstGeom>
        </p:spPr>
      </p:pic>
      <p:sp>
        <p:nvSpPr>
          <p:cNvPr id="3" name="矩形 2"/>
          <p:cNvSpPr/>
          <p:nvPr/>
        </p:nvSpPr>
        <p:spPr>
          <a:xfrm>
            <a:off x="-123511" y="2825175"/>
            <a:ext cx="3100849" cy="707886"/>
          </a:xfrm>
          <a:prstGeom prst="rect">
            <a:avLst/>
          </a:prstGeom>
        </p:spPr>
        <p:txBody>
          <a:bodyPr wrap="none">
            <a:spAutoFit/>
          </a:bodyPr>
          <a:lstStyle/>
          <a:p>
            <a:pPr marL="347980" lvl="1" indent="0"/>
            <a:r>
              <a:rPr lang="zh-CN" altLang="en-US" sz="4000" b="1" dirty="0">
                <a:solidFill>
                  <a:srgbClr val="AEE6CA"/>
                </a:solidFill>
                <a:latin typeface="Hiragino Sans GB W3" charset="-122"/>
                <a:ea typeface="Hiragino Sans GB W3" charset="-122"/>
                <a:cs typeface="Hiragino Sans GB W3" charset="-122"/>
              </a:rPr>
              <a:t>保险责任页</a:t>
            </a:r>
            <a:endParaRPr lang="en-US" altLang="zh-CN" sz="4000" b="1" dirty="0">
              <a:solidFill>
                <a:srgbClr val="AEE6CA"/>
              </a:solidFill>
            </a:endParaRPr>
          </a:p>
        </p:txBody>
      </p:sp>
    </p:spTree>
    <p:extLst>
      <p:ext uri="{BB962C8B-B14F-4D97-AF65-F5344CB8AC3E}">
        <p14:creationId xmlns:p14="http://schemas.microsoft.com/office/powerpoint/2010/main" val="352945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304885" y="0"/>
            <a:ext cx="4986570" cy="6858000"/>
          </a:xfrm>
          <a:prstGeom prst="rect">
            <a:avLst/>
          </a:prstGeom>
        </p:spPr>
      </p:pic>
      <p:sp>
        <p:nvSpPr>
          <p:cNvPr id="4" name="矩形 3"/>
          <p:cNvSpPr/>
          <p:nvPr/>
        </p:nvSpPr>
        <p:spPr>
          <a:xfrm>
            <a:off x="599662" y="2876390"/>
            <a:ext cx="3357329" cy="769441"/>
          </a:xfrm>
          <a:prstGeom prst="rect">
            <a:avLst/>
          </a:prstGeom>
        </p:spPr>
        <p:txBody>
          <a:bodyPr wrap="none">
            <a:spAutoFit/>
          </a:bodyPr>
          <a:lstStyle/>
          <a:p>
            <a:pPr marL="347980" lvl="1" indent="0"/>
            <a:r>
              <a:rPr lang="zh-CN" altLang="en-US" sz="4400" b="1" dirty="0">
                <a:solidFill>
                  <a:srgbClr val="AEE6CA"/>
                </a:solidFill>
                <a:latin typeface="Hiragino Sans GB W3" charset="-122"/>
                <a:ea typeface="Hiragino Sans GB W3" charset="-122"/>
                <a:cs typeface="Hiragino Sans GB W3" charset="-122"/>
              </a:rPr>
              <a:t>现金价值页</a:t>
            </a:r>
            <a:endParaRPr lang="en-US" altLang="zh-CN" sz="4400" b="1" dirty="0">
              <a:solidFill>
                <a:srgbClr val="AEE6CA"/>
              </a:solidFill>
            </a:endParaRPr>
          </a:p>
        </p:txBody>
      </p:sp>
    </p:spTree>
    <p:extLst>
      <p:ext uri="{BB962C8B-B14F-4D97-AF65-F5344CB8AC3E}">
        <p14:creationId xmlns:p14="http://schemas.microsoft.com/office/powerpoint/2010/main" val="1559944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843080" y="2735073"/>
            <a:ext cx="1597470" cy="1597470"/>
          </a:xfrm>
          <a:prstGeom prst="rect">
            <a:avLst/>
          </a:prstGeom>
          <a:solidFill>
            <a:srgbClr val="AEE6CA"/>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8" name="文本框 7"/>
          <p:cNvSpPr txBox="1"/>
          <p:nvPr/>
        </p:nvSpPr>
        <p:spPr>
          <a:xfrm>
            <a:off x="3858885" y="2779847"/>
            <a:ext cx="1901884" cy="1569658"/>
          </a:xfrm>
          <a:prstGeom prst="rect">
            <a:avLst/>
          </a:prstGeom>
          <a:solidFill>
            <a:srgbClr val="AEE6CA"/>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altLang="zh-CN" sz="9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02</a:t>
            </a:r>
            <a:endParaRPr kumimoji="0" lang="zh-CN" altLang="en-US" sz="960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p:txBody>
      </p:sp>
      <p:sp>
        <p:nvSpPr>
          <p:cNvPr id="13" name="文本框 12"/>
          <p:cNvSpPr txBox="1"/>
          <p:nvPr/>
        </p:nvSpPr>
        <p:spPr>
          <a:xfrm>
            <a:off x="5918834" y="2489200"/>
            <a:ext cx="5396865" cy="200221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r" defTabSz="914400" rtl="0" fontAlgn="auto" latinLnBrk="0" hangingPunct="0">
              <a:lnSpc>
                <a:spcPct val="120000"/>
              </a:lnSpc>
              <a:spcBef>
                <a:spcPts val="0"/>
              </a:spcBef>
              <a:spcAft>
                <a:spcPts val="0"/>
              </a:spcAft>
              <a:buClrTx/>
              <a:buSzTx/>
              <a:buFontTx/>
              <a:buNone/>
            </a:pPr>
            <a:r>
              <a:rPr lang="zh-CN" altLang="en-US" sz="5400" b="1" dirty="0">
                <a:solidFill>
                  <a:schemeClr val="tx1">
                    <a:lumMod val="95000"/>
                    <a:lumOff val="5000"/>
                  </a:schemeClr>
                </a:solidFill>
                <a:latin typeface="微软雅黑" panose="020B0503020204020204" pitchFamily="34" charset="-122"/>
                <a:ea typeface="微软雅黑" panose="020B0503020204020204" pitchFamily="34" charset="-122"/>
              </a:rPr>
              <a:t>年金险／万能险</a:t>
            </a:r>
            <a:endParaRPr lang="en-US" altLang="zh-CN" sz="5400" b="1" dirty="0">
              <a:solidFill>
                <a:schemeClr val="tx1">
                  <a:lumMod val="95000"/>
                  <a:lumOff val="5000"/>
                </a:schemeClr>
              </a:solidFill>
              <a:latin typeface="微软雅黑" panose="020B0503020204020204" pitchFamily="34" charset="-122"/>
              <a:ea typeface="微软雅黑" panose="020B0503020204020204" pitchFamily="34" charset="-122"/>
            </a:endParaRPr>
          </a:p>
          <a:p>
            <a:pPr marL="0" marR="0" indent="0" algn="r" defTabSz="914400" rtl="0" fontAlgn="auto" latinLnBrk="0" hangingPunct="0">
              <a:lnSpc>
                <a:spcPct val="120000"/>
              </a:lnSpc>
              <a:spcBef>
                <a:spcPts val="0"/>
              </a:spcBef>
              <a:spcAft>
                <a:spcPts val="0"/>
              </a:spcAft>
              <a:buClrTx/>
              <a:buSzTx/>
              <a:buFontTx/>
              <a:buNone/>
            </a:pPr>
            <a:endParaRPr lang="zh-CN" altLang="en-US" sz="54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 name="矩形 9"/>
          <p:cNvSpPr/>
          <p:nvPr/>
        </p:nvSpPr>
        <p:spPr>
          <a:xfrm flipH="1">
            <a:off x="6396508" y="3739300"/>
            <a:ext cx="533673" cy="62354"/>
          </a:xfrm>
          <a:prstGeom prst="rect">
            <a:avLst/>
          </a:prstGeom>
          <a:solidFill>
            <a:srgbClr val="AEE6CA"/>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1" name="矩形 10"/>
          <p:cNvSpPr/>
          <p:nvPr/>
        </p:nvSpPr>
        <p:spPr>
          <a:xfrm flipH="1">
            <a:off x="5919105" y="3739300"/>
            <a:ext cx="533673" cy="62354"/>
          </a:xfrm>
          <a:prstGeom prst="rect">
            <a:avLst/>
          </a:prstGeom>
          <a:solidFill>
            <a:schemeClr val="tx1">
              <a:lumMod val="95000"/>
              <a:lumOff val="5000"/>
            </a:schemeClr>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6" name="矩形 15"/>
          <p:cNvSpPr/>
          <p:nvPr/>
        </p:nvSpPr>
        <p:spPr>
          <a:xfrm flipH="1">
            <a:off x="7021618" y="3739300"/>
            <a:ext cx="5205550" cy="62354"/>
          </a:xfrm>
          <a:prstGeom prst="rect">
            <a:avLst/>
          </a:prstGeom>
          <a:solidFill>
            <a:srgbClr val="AEE6CA"/>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rgbClr val="FFFFFF"/>
          </a:fgClr>
          <a:bgClr>
            <a:schemeClr val="bg1"/>
          </a:bgClr>
        </a:pattFill>
        <a:effectLst/>
      </p:bgPr>
    </p:bg>
    <p:spTree>
      <p:nvGrpSpPr>
        <p:cNvPr id="1" name=""/>
        <p:cNvGrpSpPr/>
        <p:nvPr/>
      </p:nvGrpSpPr>
      <p:grpSpPr>
        <a:xfrm>
          <a:off x="0" y="0"/>
          <a:ext cx="0" cy="0"/>
          <a:chOff x="0" y="0"/>
          <a:chExt cx="0" cy="0"/>
        </a:xfrm>
      </p:grpSpPr>
      <p:sp>
        <p:nvSpPr>
          <p:cNvPr id="19" name="文本框 18"/>
          <p:cNvSpPr txBox="1"/>
          <p:nvPr/>
        </p:nvSpPr>
        <p:spPr>
          <a:xfrm>
            <a:off x="3677852" y="547840"/>
            <a:ext cx="4852117" cy="6807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ctr" defTabSz="914400" rtl="0" fontAlgn="auto" latinLnBrk="0" hangingPunct="0">
              <a:lnSpc>
                <a:spcPct val="120000"/>
              </a:lnSpc>
              <a:spcBef>
                <a:spcPts val="0"/>
              </a:spcBef>
              <a:spcAft>
                <a:spcPts val="0"/>
              </a:spcAft>
              <a:buClrTx/>
              <a:buSzTx/>
              <a:buFontTx/>
              <a:buNone/>
            </a:pPr>
            <a:r>
              <a:rPr lang="zh-CN" altLang="en-US" sz="3200" b="1" dirty="0">
                <a:solidFill>
                  <a:schemeClr val="tx1">
                    <a:lumMod val="95000"/>
                    <a:lumOff val="5000"/>
                  </a:schemeClr>
                </a:solidFill>
                <a:latin typeface="微软雅黑" panose="020B0503020204020204" pitchFamily="34" charset="-122"/>
                <a:ea typeface="微软雅黑" panose="020B0503020204020204" pitchFamily="34" charset="-122"/>
              </a:rPr>
              <a:t>年金险</a:t>
            </a:r>
          </a:p>
        </p:txBody>
      </p:sp>
      <p:cxnSp>
        <p:nvCxnSpPr>
          <p:cNvPr id="8" name="直线连接符 7"/>
          <p:cNvCxnSpPr/>
          <p:nvPr/>
        </p:nvCxnSpPr>
        <p:spPr>
          <a:xfrm>
            <a:off x="5716561" y="1384300"/>
            <a:ext cx="774700" cy="0"/>
          </a:xfrm>
          <a:prstGeom prst="line">
            <a:avLst/>
          </a:prstGeom>
          <a:noFill/>
          <a:ln w="12700" cap="flat">
            <a:solidFill>
              <a:srgbClr val="AC8855"/>
            </a:solidFill>
            <a:prstDash val="solid"/>
            <a:miter lim="800000"/>
          </a:ln>
        </p:spPr>
        <p:style>
          <a:lnRef idx="0">
            <a:scrgbClr r="0" g="0" b="0"/>
          </a:lnRef>
          <a:fillRef idx="0">
            <a:scrgbClr r="0" g="0" b="0"/>
          </a:fillRef>
          <a:effectRef idx="0">
            <a:scrgbClr r="0" g="0" b="0"/>
          </a:effectRef>
          <a:fontRef idx="none"/>
        </p:style>
      </p:cxnSp>
      <p:sp>
        <p:nvSpPr>
          <p:cNvPr id="10" name="文本框 9"/>
          <p:cNvSpPr txBox="1"/>
          <p:nvPr/>
        </p:nvSpPr>
        <p:spPr>
          <a:xfrm>
            <a:off x="8959915" y="6359330"/>
            <a:ext cx="1894106" cy="307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altLang="zh-CN" sz="1400" spc="600" dirty="0">
                <a:solidFill>
                  <a:schemeClr val="bg1">
                    <a:lumMod val="75000"/>
                  </a:schemeClr>
                </a:solidFill>
              </a:rPr>
              <a:t>www.jfz.com</a:t>
            </a:r>
            <a:endParaRPr kumimoji="0" lang="zh-CN" altLang="en-US" sz="1400" b="0" i="0" strike="noStrike" cap="none" spc="600" normalizeH="0" baseline="0" dirty="0">
              <a:ln>
                <a:noFill/>
              </a:ln>
              <a:solidFill>
                <a:schemeClr val="bg1">
                  <a:lumMod val="75000"/>
                </a:schemeClr>
              </a:solidFill>
              <a:effectLst/>
              <a:uFillTx/>
              <a:sym typeface="Calibri" panose="020F0502020204030204"/>
            </a:endParaRPr>
          </a:p>
        </p:txBody>
      </p:sp>
      <p:cxnSp>
        <p:nvCxnSpPr>
          <p:cNvPr id="11" name="直线连接符 10"/>
          <p:cNvCxnSpPr/>
          <p:nvPr/>
        </p:nvCxnSpPr>
        <p:spPr>
          <a:xfrm>
            <a:off x="10995838" y="6508880"/>
            <a:ext cx="1196162" cy="4337"/>
          </a:xfrm>
          <a:prstGeom prst="line">
            <a:avLst/>
          </a:prstGeom>
          <a:noFill/>
          <a:ln w="12700" cap="flat">
            <a:solidFill>
              <a:srgbClr val="CCA063"/>
            </a:solidFill>
            <a:prstDash val="solid"/>
            <a:miter lim="800000"/>
          </a:ln>
        </p:spPr>
        <p:style>
          <a:lnRef idx="0">
            <a:scrgbClr r="0" g="0" b="0"/>
          </a:lnRef>
          <a:fillRef idx="0">
            <a:scrgbClr r="0" g="0" b="0"/>
          </a:fillRef>
          <a:effectRef idx="0">
            <a:scrgbClr r="0" g="0" b="0"/>
          </a:effectRef>
          <a:fontRef idx="none"/>
        </p:style>
      </p:cxnSp>
      <p:sp>
        <p:nvSpPr>
          <p:cNvPr id="4" name="文本占位符 3"/>
          <p:cNvSpPr>
            <a:spLocks noGrp="1"/>
          </p:cNvSpPr>
          <p:nvPr>
            <p:ph type="body" sz="half" idx="2"/>
            <p:custDataLst>
              <p:tags r:id="rId1"/>
            </p:custDataLst>
          </p:nvPr>
        </p:nvSpPr>
        <p:spPr>
          <a:xfrm>
            <a:off x="561975" y="1899920"/>
            <a:ext cx="5422265" cy="4047490"/>
          </a:xfrm>
        </p:spPr>
        <p:txBody>
          <a:bodyPr>
            <a:normAutofit lnSpcReduction="10000"/>
          </a:bodyPr>
          <a:lstStyle/>
          <a:p>
            <a:r>
              <a:rPr lang="en-US" altLang="zh-CN"/>
              <a:t>30</a:t>
            </a:r>
            <a:r>
              <a:t>岁男性，选择购买交</a:t>
            </a:r>
            <a:r>
              <a:rPr lang="en-US" altLang="zh-CN"/>
              <a:t>5</a:t>
            </a:r>
            <a:r>
              <a:t>年保</a:t>
            </a:r>
            <a:r>
              <a:rPr lang="en-US" altLang="zh-CN"/>
              <a:t>15</a:t>
            </a:r>
            <a:r>
              <a:t>年的</a:t>
            </a:r>
            <a:r>
              <a:rPr lang="zh-CN">
                <a:ea typeface="宋体" panose="02010600030101010101" pitchFamily="2" charset="-122"/>
              </a:rPr>
              <a:t>平安</a:t>
            </a:r>
            <a:r>
              <a:t>金瑞人生，年缴保费</a:t>
            </a:r>
            <a:r>
              <a:rPr lang="en-US" altLang="zh-CN"/>
              <a:t>1</a:t>
            </a:r>
            <a:r>
              <a:t>万，保额</a:t>
            </a:r>
            <a:r>
              <a:rPr lang="en-US" altLang="zh-CN"/>
              <a:t>14200.51</a:t>
            </a:r>
            <a:r>
              <a:t>。</a:t>
            </a:r>
          </a:p>
          <a:p>
            <a:endParaRPr/>
          </a:p>
          <a:p>
            <a:r>
              <a:t>未来数年返还年金可进入万能账户，万能账户现在收益在</a:t>
            </a:r>
            <a:r>
              <a:rPr lang="en-US" altLang="zh-CN"/>
              <a:t>4.5~5%</a:t>
            </a:r>
            <a:r>
              <a:t>之间。</a:t>
            </a:r>
          </a:p>
          <a:p>
            <a:endParaRPr/>
          </a:p>
          <a:p>
            <a:r>
              <a:t>实际的回报率</a:t>
            </a:r>
            <a:r>
              <a:rPr lang="en-US" altLang="zh-CN"/>
              <a:t>irr</a:t>
            </a:r>
            <a:r>
              <a:t>多少？</a:t>
            </a:r>
          </a:p>
        </p:txBody>
      </p:sp>
      <p:pic>
        <p:nvPicPr>
          <p:cNvPr id="12" name="图片占位符 11" descr="C:\Users\weizhiqiang\Desktop\金瑞.jpg金瑞"/>
          <p:cNvPicPr>
            <a:picLocks noGrp="1" noChangeAspect="1"/>
          </p:cNvPicPr>
          <p:nvPr>
            <p:ph type="pic" idx="1"/>
            <p:custDataLst>
              <p:tags r:id="rId2"/>
            </p:custDataLst>
          </p:nvPr>
        </p:nvPicPr>
        <p:blipFill rotWithShape="1">
          <a:blip r:embed="rId4"/>
          <a:srcRect/>
          <a:stretch>
            <a:fillRect/>
          </a:stretch>
        </p:blipFill>
        <p:spPr>
          <a:xfrm>
            <a:off x="7199630" y="1497965"/>
            <a:ext cx="3654425" cy="4850765"/>
          </a:xfr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a:spLocks noGrp="1"/>
          </p:cNvSpPr>
          <p:nvPr/>
        </p:nvSpPr>
        <p:spPr>
          <a:xfrm>
            <a:off x="2365219" y="2479822"/>
            <a:ext cx="8500271" cy="1170484"/>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sz="4800" dirty="0">
                <a:solidFill>
                  <a:srgbClr val="AEE6CA"/>
                </a:solidFill>
                <a:latin typeface="Hiragino Sans GB W3" charset="-122"/>
                <a:ea typeface="Hiragino Sans GB W3" charset="-122"/>
                <a:cs typeface="Hiragino Sans GB W3" charset="-122"/>
              </a:rPr>
              <a:t>第一步：计算出预期回报率</a:t>
            </a:r>
            <a:endParaRPr sz="4800" dirty="0">
              <a:solidFill>
                <a:srgbClr val="AEE6CA"/>
              </a:solidFill>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18159795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6310"/>
            <a:ext cx="10515600" cy="1325563"/>
          </a:xfrm>
        </p:spPr>
        <p:txBody>
          <a:bodyPr/>
          <a:lstStyle/>
          <a:p>
            <a:r>
              <a:rPr lang="en-US" altLang="zh-CN" dirty="0"/>
              <a:t>Step 1 </a:t>
            </a:r>
            <a:r>
              <a:rPr lang="zh-CN" altLang="en-US" dirty="0"/>
              <a:t>填写基本信息</a:t>
            </a:r>
          </a:p>
        </p:txBody>
      </p:sp>
      <p:pic>
        <p:nvPicPr>
          <p:cNvPr id="3" name="图片 2"/>
          <p:cNvPicPr>
            <a:picLocks noChangeAspect="1"/>
          </p:cNvPicPr>
          <p:nvPr/>
        </p:nvPicPr>
        <p:blipFill>
          <a:blip r:embed="rId3"/>
          <a:stretch>
            <a:fillRect/>
          </a:stretch>
        </p:blipFill>
        <p:spPr>
          <a:xfrm>
            <a:off x="7205430" y="0"/>
            <a:ext cx="4986570" cy="6858000"/>
          </a:xfrm>
          <a:prstGeom prst="rect">
            <a:avLst/>
          </a:prstGeom>
        </p:spPr>
      </p:pic>
      <p:pic>
        <p:nvPicPr>
          <p:cNvPr id="4" name="图片 3"/>
          <p:cNvPicPr>
            <a:picLocks noChangeAspect="1"/>
          </p:cNvPicPr>
          <p:nvPr/>
        </p:nvPicPr>
        <p:blipFill>
          <a:blip r:embed="rId4"/>
          <a:stretch>
            <a:fillRect/>
          </a:stretch>
        </p:blipFill>
        <p:spPr>
          <a:xfrm>
            <a:off x="429080" y="1215077"/>
            <a:ext cx="6347270" cy="3547872"/>
          </a:xfrm>
          <a:prstGeom prst="rect">
            <a:avLst/>
          </a:prstGeom>
        </p:spPr>
      </p:pic>
      <p:sp>
        <p:nvSpPr>
          <p:cNvPr id="13" name="文本框 12"/>
          <p:cNvSpPr txBox="1"/>
          <p:nvPr/>
        </p:nvSpPr>
        <p:spPr>
          <a:xfrm>
            <a:off x="429080" y="4896091"/>
            <a:ext cx="6510949" cy="1754326"/>
          </a:xfrm>
          <a:prstGeom prst="rect">
            <a:avLst/>
          </a:prstGeom>
          <a:noFill/>
        </p:spPr>
        <p:txBody>
          <a:bodyPr wrap="square" rtlCol="0">
            <a:spAutoFit/>
          </a:bodyPr>
          <a:lstStyle/>
          <a:p>
            <a:r>
              <a:rPr lang="zh-CN" altLang="en-US" dirty="0"/>
              <a:t>注意：</a:t>
            </a:r>
            <a:r>
              <a:rPr lang="en-US" altLang="zh-CN" dirty="0"/>
              <a:t>1</a:t>
            </a:r>
            <a:r>
              <a:rPr lang="zh-CN" altLang="en-US" dirty="0"/>
              <a:t>：只需要填写蓝色部分，中间以及右边无须手动填写</a:t>
            </a:r>
            <a:endParaRPr lang="en-US" altLang="zh-CN" dirty="0"/>
          </a:p>
          <a:p>
            <a:r>
              <a:rPr lang="en-US" altLang="zh-CN" dirty="0"/>
              <a:t>             2</a:t>
            </a:r>
            <a:r>
              <a:rPr lang="zh-CN" altLang="en-US" dirty="0"/>
              <a:t>：投保年龄：用保单生效期减去客户出生年月，考虑生日是否已过</a:t>
            </a:r>
            <a:endParaRPr lang="en-US" altLang="zh-CN" dirty="0"/>
          </a:p>
          <a:p>
            <a:r>
              <a:rPr lang="en-US" altLang="zh-CN" dirty="0"/>
              <a:t>             3</a:t>
            </a:r>
            <a:r>
              <a:rPr lang="zh-CN" altLang="en-US" dirty="0"/>
              <a:t>：预计持有期，判断保险是保终身</a:t>
            </a:r>
            <a:r>
              <a:rPr lang="en-US" altLang="zh-CN" dirty="0"/>
              <a:t>OR</a:t>
            </a:r>
            <a:r>
              <a:rPr lang="zh-CN" altLang="en-US" dirty="0"/>
              <a:t>定期</a:t>
            </a:r>
            <a:endParaRPr lang="en-US" altLang="zh-CN" dirty="0"/>
          </a:p>
          <a:p>
            <a:r>
              <a:rPr lang="en-US" altLang="zh-CN" dirty="0"/>
              <a:t>                    </a:t>
            </a:r>
            <a:r>
              <a:rPr lang="zh-CN" altLang="en-US" dirty="0"/>
              <a:t>终身的话可以用</a:t>
            </a:r>
            <a:r>
              <a:rPr lang="en-US" altLang="zh-CN" dirty="0"/>
              <a:t>100-</a:t>
            </a:r>
            <a:r>
              <a:rPr lang="zh-CN" altLang="en-US" dirty="0"/>
              <a:t>投保年龄</a:t>
            </a:r>
            <a:endParaRPr lang="en-US" altLang="zh-CN" dirty="0"/>
          </a:p>
          <a:p>
            <a:r>
              <a:rPr lang="en-US" altLang="zh-CN" dirty="0"/>
              <a:t>                    </a:t>
            </a:r>
            <a:r>
              <a:rPr lang="zh-CN" altLang="en-US" dirty="0"/>
              <a:t>定期的话可以直接输入保障的年期</a:t>
            </a:r>
          </a:p>
        </p:txBody>
      </p:sp>
    </p:spTree>
    <p:extLst>
      <p:ext uri="{BB962C8B-B14F-4D97-AF65-F5344CB8AC3E}">
        <p14:creationId xmlns:p14="http://schemas.microsoft.com/office/powerpoint/2010/main" val="1588096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4380" y="0"/>
            <a:ext cx="10515600" cy="1325563"/>
          </a:xfrm>
        </p:spPr>
        <p:txBody>
          <a:bodyPr/>
          <a:lstStyle/>
          <a:p>
            <a:r>
              <a:rPr lang="en-US" altLang="zh-CN" dirty="0"/>
              <a:t>Step 2 </a:t>
            </a:r>
            <a:r>
              <a:rPr lang="zh-CN" altLang="en-US" dirty="0"/>
              <a:t>输入这份保险的投入部分</a:t>
            </a:r>
          </a:p>
        </p:txBody>
      </p:sp>
      <p:pic>
        <p:nvPicPr>
          <p:cNvPr id="3" name="图片 2"/>
          <p:cNvPicPr>
            <a:picLocks noChangeAspect="1"/>
          </p:cNvPicPr>
          <p:nvPr/>
        </p:nvPicPr>
        <p:blipFill>
          <a:blip r:embed="rId2"/>
          <a:stretch>
            <a:fillRect/>
          </a:stretch>
        </p:blipFill>
        <p:spPr>
          <a:xfrm>
            <a:off x="13908" y="856231"/>
            <a:ext cx="3181350" cy="5486400"/>
          </a:xfrm>
          <a:prstGeom prst="rect">
            <a:avLst/>
          </a:prstGeom>
        </p:spPr>
      </p:pic>
      <p:pic>
        <p:nvPicPr>
          <p:cNvPr id="4" name="图片 3"/>
          <p:cNvPicPr>
            <a:picLocks noChangeAspect="1"/>
          </p:cNvPicPr>
          <p:nvPr/>
        </p:nvPicPr>
        <p:blipFill>
          <a:blip r:embed="rId3"/>
          <a:stretch>
            <a:fillRect/>
          </a:stretch>
        </p:blipFill>
        <p:spPr>
          <a:xfrm>
            <a:off x="5126926" y="962787"/>
            <a:ext cx="6619875" cy="4591050"/>
          </a:xfrm>
          <a:prstGeom prst="rect">
            <a:avLst/>
          </a:prstGeom>
        </p:spPr>
      </p:pic>
      <p:cxnSp>
        <p:nvCxnSpPr>
          <p:cNvPr id="6" name="直接箭头连接符 5"/>
          <p:cNvCxnSpPr/>
          <p:nvPr/>
        </p:nvCxnSpPr>
        <p:spPr>
          <a:xfrm>
            <a:off x="3785235" y="1654524"/>
            <a:ext cx="3188589" cy="869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195258" y="5605638"/>
            <a:ext cx="8911861" cy="1354217"/>
          </a:xfrm>
          <a:prstGeom prst="rect">
            <a:avLst/>
          </a:prstGeom>
          <a:noFill/>
        </p:spPr>
        <p:txBody>
          <a:bodyPr wrap="square" rtlCol="0">
            <a:spAutoFit/>
          </a:bodyPr>
          <a:lstStyle/>
          <a:p>
            <a:r>
              <a:rPr lang="zh-CN" altLang="en-US" sz="1600" dirty="0"/>
              <a:t>注意：如果保单是尚未购买，无需考虑保单的现金价值，每列的保费一样</a:t>
            </a:r>
            <a:endParaRPr lang="en-US" altLang="zh-CN" sz="1600" dirty="0"/>
          </a:p>
          <a:p>
            <a:r>
              <a:rPr lang="en-US" altLang="zh-CN" sz="1600" dirty="0"/>
              <a:t>             </a:t>
            </a:r>
            <a:r>
              <a:rPr lang="zh-CN" altLang="en-US" sz="1600" dirty="0"/>
              <a:t>如果保单已经购买，每年保费的第一列需要考虑这份保单的机会成本，也就是过去所缴保费扣除保障成本后的现金价值以及当年的保费投入，因此查看现金演算表中的第五个年度末，为</a:t>
            </a:r>
            <a:r>
              <a:rPr lang="en-US" altLang="zh-CN" sz="1600" dirty="0"/>
              <a:t>16380</a:t>
            </a:r>
            <a:r>
              <a:rPr lang="zh-CN" altLang="en-US" sz="1600" dirty="0"/>
              <a:t>，这是你所投入的成本，</a:t>
            </a:r>
            <a:r>
              <a:rPr lang="en-US" altLang="zh-CN" sz="1600" dirty="0"/>
              <a:t>-16380</a:t>
            </a:r>
            <a:r>
              <a:rPr lang="zh-CN" altLang="en-US" sz="1600" dirty="0"/>
              <a:t>，再减去当年的保费，</a:t>
            </a:r>
            <a:r>
              <a:rPr lang="en-US" altLang="zh-CN" sz="1600" dirty="0"/>
              <a:t>-16380-4905=-21285</a:t>
            </a:r>
          </a:p>
          <a:p>
            <a:endParaRPr lang="zh-CN" altLang="en-US" dirty="0"/>
          </a:p>
        </p:txBody>
      </p:sp>
      <p:sp>
        <p:nvSpPr>
          <p:cNvPr id="8" name="箭头: 下 7"/>
          <p:cNvSpPr/>
          <p:nvPr/>
        </p:nvSpPr>
        <p:spPr>
          <a:xfrm rot="20639036">
            <a:off x="3989400" y="1289126"/>
            <a:ext cx="474562" cy="43978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065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5019"/>
            <a:ext cx="10515600" cy="1325563"/>
          </a:xfrm>
        </p:spPr>
        <p:txBody>
          <a:bodyPr>
            <a:normAutofit/>
          </a:bodyPr>
          <a:lstStyle/>
          <a:p>
            <a:r>
              <a:rPr lang="en-US" altLang="zh-CN" dirty="0"/>
              <a:t>Step 3 </a:t>
            </a:r>
            <a:r>
              <a:rPr lang="zh-CN" altLang="en-US" dirty="0"/>
              <a:t>输入这份保险的产出部分</a:t>
            </a:r>
          </a:p>
        </p:txBody>
      </p:sp>
      <p:sp>
        <p:nvSpPr>
          <p:cNvPr id="3" name="文本框 2"/>
          <p:cNvSpPr txBox="1"/>
          <p:nvPr/>
        </p:nvSpPr>
        <p:spPr>
          <a:xfrm>
            <a:off x="4599432" y="4440140"/>
            <a:ext cx="6876288" cy="2308324"/>
          </a:xfrm>
          <a:prstGeom prst="rect">
            <a:avLst/>
          </a:prstGeom>
          <a:noFill/>
        </p:spPr>
        <p:txBody>
          <a:bodyPr wrap="square" rtlCol="0">
            <a:spAutoFit/>
          </a:bodyPr>
          <a:lstStyle/>
          <a:p>
            <a:r>
              <a:rPr lang="zh-CN" altLang="en-US" dirty="0"/>
              <a:t>根据保险的性质：  </a:t>
            </a:r>
            <a:endParaRPr lang="en-US" altLang="zh-CN" dirty="0"/>
          </a:p>
          <a:p>
            <a:endParaRPr lang="en-US" altLang="zh-CN" dirty="0"/>
          </a:p>
          <a:p>
            <a:endParaRPr lang="en-US" altLang="zh-CN" dirty="0"/>
          </a:p>
          <a:p>
            <a:r>
              <a:rPr lang="en-US" altLang="zh-CN" dirty="0"/>
              <a:t>1</a:t>
            </a:r>
            <a:r>
              <a:rPr lang="zh-CN" altLang="en-US" dirty="0"/>
              <a:t>：如果有固定的返还，如每</a:t>
            </a:r>
            <a:r>
              <a:rPr lang="en-US" altLang="zh-CN" dirty="0"/>
              <a:t>2</a:t>
            </a:r>
            <a:r>
              <a:rPr lang="zh-CN" altLang="en-US" dirty="0"/>
              <a:t>年返还保费，祝寿金等，按照节点在相应的年金给付中输入相应金额</a:t>
            </a:r>
            <a:endParaRPr lang="en-US" altLang="zh-CN" dirty="0"/>
          </a:p>
          <a:p>
            <a:endParaRPr lang="en-US" altLang="zh-CN" dirty="0"/>
          </a:p>
          <a:p>
            <a:r>
              <a:rPr lang="en-US" altLang="zh-CN" dirty="0"/>
              <a:t>2</a:t>
            </a:r>
            <a:r>
              <a:rPr lang="zh-CN" altLang="en-US" dirty="0"/>
              <a:t>：如果没有固定的返还，普遍选择</a:t>
            </a:r>
            <a:r>
              <a:rPr lang="en-US" altLang="zh-CN" dirty="0"/>
              <a:t>60</a:t>
            </a:r>
            <a:r>
              <a:rPr lang="zh-CN" altLang="en-US" dirty="0"/>
              <a:t>岁，</a:t>
            </a:r>
            <a:r>
              <a:rPr lang="en-US" altLang="zh-CN" dirty="0"/>
              <a:t>80</a:t>
            </a:r>
            <a:r>
              <a:rPr lang="zh-CN" altLang="en-US" dirty="0"/>
              <a:t>岁，</a:t>
            </a:r>
            <a:r>
              <a:rPr lang="en-US" altLang="zh-CN" dirty="0"/>
              <a:t>100</a:t>
            </a:r>
            <a:r>
              <a:rPr lang="zh-CN" altLang="en-US" dirty="0"/>
              <a:t>岁等特定年龄作为保险一次性退保所产生的金额</a:t>
            </a:r>
          </a:p>
        </p:txBody>
      </p:sp>
      <p:pic>
        <p:nvPicPr>
          <p:cNvPr id="4" name="图片 3"/>
          <p:cNvPicPr>
            <a:picLocks noChangeAspect="1"/>
          </p:cNvPicPr>
          <p:nvPr/>
        </p:nvPicPr>
        <p:blipFill>
          <a:blip r:embed="rId2"/>
          <a:stretch>
            <a:fillRect/>
          </a:stretch>
        </p:blipFill>
        <p:spPr>
          <a:xfrm>
            <a:off x="179832" y="971931"/>
            <a:ext cx="4419600" cy="5800725"/>
          </a:xfrm>
          <a:prstGeom prst="rect">
            <a:avLst/>
          </a:prstGeom>
        </p:spPr>
      </p:pic>
      <p:pic>
        <p:nvPicPr>
          <p:cNvPr id="5" name="图片 4"/>
          <p:cNvPicPr>
            <a:picLocks noChangeAspect="1"/>
          </p:cNvPicPr>
          <p:nvPr/>
        </p:nvPicPr>
        <p:blipFill>
          <a:blip r:embed="rId3"/>
          <a:stretch>
            <a:fillRect/>
          </a:stretch>
        </p:blipFill>
        <p:spPr>
          <a:xfrm>
            <a:off x="6823329" y="1223636"/>
            <a:ext cx="4652391" cy="3443613"/>
          </a:xfrm>
          <a:prstGeom prst="rect">
            <a:avLst/>
          </a:prstGeom>
        </p:spPr>
      </p:pic>
      <p:cxnSp>
        <p:nvCxnSpPr>
          <p:cNvPr id="7" name="连接符: 肘形 6"/>
          <p:cNvCxnSpPr/>
          <p:nvPr/>
        </p:nvCxnSpPr>
        <p:spPr>
          <a:xfrm flipV="1">
            <a:off x="4059936" y="4035552"/>
            <a:ext cx="3145536" cy="2377440"/>
          </a:xfrm>
          <a:prstGeom prst="bentConnector3">
            <a:avLst>
              <a:gd name="adj1" fmla="val 768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4120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a:spLocks noGrp="1"/>
          </p:cNvSpPr>
          <p:nvPr/>
        </p:nvSpPr>
        <p:spPr>
          <a:xfrm>
            <a:off x="1753267" y="1402542"/>
            <a:ext cx="8500271" cy="1170484"/>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sz="4800" b="0" dirty="0">
                <a:solidFill>
                  <a:schemeClr val="bg2">
                    <a:lumMod val="50000"/>
                  </a:schemeClr>
                </a:solidFill>
                <a:latin typeface="Hiragino Sans GB W3" charset="-122"/>
                <a:ea typeface="Hiragino Sans GB W3" charset="-122"/>
                <a:cs typeface="Hiragino Sans GB W3" charset="-122"/>
              </a:rPr>
              <a:t>第二步：计算内部投资回报率</a:t>
            </a:r>
            <a:endParaRPr sz="4800" b="0" dirty="0">
              <a:solidFill>
                <a:schemeClr val="bg2">
                  <a:lumMod val="50000"/>
                </a:schemeClr>
              </a:solidFill>
              <a:latin typeface="Hiragino Sans GB W3" charset="-122"/>
              <a:ea typeface="Hiragino Sans GB W3" charset="-122"/>
              <a:cs typeface="Hiragino Sans GB W3" charset="-122"/>
            </a:endParaRPr>
          </a:p>
        </p:txBody>
      </p:sp>
      <p:pic>
        <p:nvPicPr>
          <p:cNvPr id="2" name="图片 1"/>
          <p:cNvPicPr>
            <a:picLocks noChangeAspect="1"/>
          </p:cNvPicPr>
          <p:nvPr/>
        </p:nvPicPr>
        <p:blipFill>
          <a:blip r:embed="rId3"/>
          <a:stretch>
            <a:fillRect/>
          </a:stretch>
        </p:blipFill>
        <p:spPr>
          <a:xfrm>
            <a:off x="1196975" y="2338387"/>
            <a:ext cx="9591675" cy="2181225"/>
          </a:xfrm>
          <a:prstGeom prst="rect">
            <a:avLst/>
          </a:prstGeom>
          <a:effectLst>
            <a:outerShdw blurRad="1270000" dist="50800" dir="5400000" algn="ctr" rotWithShape="0">
              <a:srgbClr val="000000">
                <a:alpha val="43137"/>
              </a:srgbClr>
            </a:outerShdw>
          </a:effectLst>
        </p:spPr>
      </p:pic>
      <p:sp>
        <p:nvSpPr>
          <p:cNvPr id="5" name="文本框 4"/>
          <p:cNvSpPr txBox="1"/>
          <p:nvPr/>
        </p:nvSpPr>
        <p:spPr>
          <a:xfrm>
            <a:off x="3413760" y="5266944"/>
            <a:ext cx="4706112" cy="369332"/>
          </a:xfrm>
          <a:prstGeom prst="rect">
            <a:avLst/>
          </a:prstGeom>
          <a:noFill/>
        </p:spPr>
        <p:txBody>
          <a:bodyPr wrap="square" rtlCol="0">
            <a:spAutoFit/>
          </a:bodyPr>
          <a:lstStyle/>
          <a:p>
            <a:r>
              <a:rPr lang="zh-CN" altLang="en-US" b="1" dirty="0">
                <a:effectLst>
                  <a:outerShdw blurRad="38100" dist="38100" dir="2700000" algn="tl">
                    <a:srgbClr val="000000">
                      <a:alpha val="43137"/>
                    </a:srgbClr>
                  </a:outerShdw>
                </a:effectLst>
              </a:rPr>
              <a:t>计算出保证部分的预期回报率</a:t>
            </a:r>
          </a:p>
        </p:txBody>
      </p:sp>
      <p:cxnSp>
        <p:nvCxnSpPr>
          <p:cNvPr id="8" name="直接箭头连接符 7"/>
          <p:cNvCxnSpPr/>
          <p:nvPr/>
        </p:nvCxnSpPr>
        <p:spPr>
          <a:xfrm flipV="1">
            <a:off x="6644640" y="3950208"/>
            <a:ext cx="1926336" cy="1487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49122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a:spLocks noGrp="1"/>
          </p:cNvSpPr>
          <p:nvPr/>
        </p:nvSpPr>
        <p:spPr>
          <a:xfrm>
            <a:off x="3017278" y="2973499"/>
            <a:ext cx="7216220" cy="1170484"/>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sz="4800" dirty="0">
                <a:solidFill>
                  <a:srgbClr val="AEE6CA"/>
                </a:solidFill>
                <a:latin typeface="Hiragino Sans GB W3" charset="-122"/>
                <a:ea typeface="Hiragino Sans GB W3" charset="-122"/>
                <a:cs typeface="Hiragino Sans GB W3" charset="-122"/>
              </a:rPr>
              <a:t>第三步：给出合理的建议</a:t>
            </a:r>
            <a:endParaRPr sz="4800" dirty="0">
              <a:solidFill>
                <a:srgbClr val="AEE6CA"/>
              </a:solidFill>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186389144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677852" y="547840"/>
            <a:ext cx="4852117" cy="6807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ctr" defTabSz="914400" rtl="0" fontAlgn="auto" latinLnBrk="0" hangingPunct="0">
              <a:lnSpc>
                <a:spcPct val="120000"/>
              </a:lnSpc>
              <a:spcBef>
                <a:spcPts val="0"/>
              </a:spcBef>
              <a:spcAft>
                <a:spcPts val="0"/>
              </a:spcAft>
              <a:buClrTx/>
              <a:buSzTx/>
              <a:buFontTx/>
              <a:buNone/>
            </a:pPr>
            <a:r>
              <a:rPr lang="zh-CN" altLang="en-US" sz="3200" b="1" dirty="0">
                <a:solidFill>
                  <a:schemeClr val="tx1">
                    <a:lumMod val="95000"/>
                    <a:lumOff val="5000"/>
                  </a:schemeClr>
                </a:solidFill>
                <a:latin typeface="微软雅黑" panose="020B0503020204020204" pitchFamily="34" charset="-122"/>
                <a:ea typeface="微软雅黑" panose="020B0503020204020204" pitchFamily="34" charset="-122"/>
              </a:rPr>
              <a:t>年金险</a:t>
            </a:r>
          </a:p>
        </p:txBody>
      </p:sp>
      <p:cxnSp>
        <p:nvCxnSpPr>
          <p:cNvPr id="8" name="直线连接符 7"/>
          <p:cNvCxnSpPr/>
          <p:nvPr/>
        </p:nvCxnSpPr>
        <p:spPr>
          <a:xfrm>
            <a:off x="5716561" y="1384300"/>
            <a:ext cx="774700" cy="0"/>
          </a:xfrm>
          <a:prstGeom prst="line">
            <a:avLst/>
          </a:prstGeom>
          <a:noFill/>
          <a:ln w="12700" cap="flat">
            <a:solidFill>
              <a:srgbClr val="AC8855"/>
            </a:solidFill>
            <a:prstDash val="solid"/>
            <a:miter lim="800000"/>
          </a:ln>
        </p:spPr>
        <p:style>
          <a:lnRef idx="0">
            <a:scrgbClr r="0" g="0" b="0"/>
          </a:lnRef>
          <a:fillRef idx="0">
            <a:scrgbClr r="0" g="0" b="0"/>
          </a:fillRef>
          <a:effectRef idx="0">
            <a:scrgbClr r="0" g="0" b="0"/>
          </a:effectRef>
          <a:fontRef idx="none"/>
        </p:style>
      </p:cxnSp>
      <p:sp>
        <p:nvSpPr>
          <p:cNvPr id="16" name="文本框 15"/>
          <p:cNvSpPr txBox="1"/>
          <p:nvPr/>
        </p:nvSpPr>
        <p:spPr>
          <a:xfrm>
            <a:off x="2152015" y="1777365"/>
            <a:ext cx="7791450" cy="16033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l">
              <a:lnSpc>
                <a:spcPct val="120000"/>
              </a:lnSpc>
            </a:pPr>
            <a:r>
              <a:rPr lang="zh-CN" altLang="en-US" sz="2800" dirty="0">
                <a:solidFill>
                  <a:schemeClr val="tx1"/>
                </a:solidFill>
                <a:latin typeface="微软雅黑" panose="020B0503020204020204" pitchFamily="34" charset="-122"/>
                <a:ea typeface="微软雅黑" panose="020B0503020204020204" pitchFamily="34" charset="-122"/>
              </a:rPr>
              <a:t>如果这是一个分红型的年金险，怎么处理？</a:t>
            </a:r>
          </a:p>
          <a:p>
            <a:pPr algn="l">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a:p>
            <a:pPr algn="l">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a:p>
            <a:pPr algn="l">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7" name="椭圆 16"/>
          <p:cNvSpPr/>
          <p:nvPr/>
        </p:nvSpPr>
        <p:spPr>
          <a:xfrm>
            <a:off x="1666151" y="2064310"/>
            <a:ext cx="137884" cy="137884"/>
          </a:xfrm>
          <a:prstGeom prst="ellipse">
            <a:avLst/>
          </a:prstGeom>
          <a:solidFill>
            <a:srgbClr val="816641"/>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文本框 1"/>
          <p:cNvSpPr txBox="1"/>
          <p:nvPr/>
        </p:nvSpPr>
        <p:spPr>
          <a:xfrm>
            <a:off x="1704975" y="3666490"/>
            <a:ext cx="8797925" cy="8286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Calibri" panose="020F0502020204030204"/>
              </a:rPr>
              <a:t>分红具有不确定性，所以很难去具体计算，按照过去的数据统计来看，分红型的保险，可以按照固定</a:t>
            </a:r>
            <a:r>
              <a:rPr kumimoji="0" lang="en-US" altLang="zh-CN" sz="2400" b="0" i="0" u="none" strike="noStrike" cap="none" spc="0" normalizeH="0" baseline="0" dirty="0">
                <a:ln>
                  <a:noFill/>
                </a:ln>
                <a:solidFill>
                  <a:srgbClr val="000000"/>
                </a:solidFill>
                <a:effectLst/>
                <a:uFillTx/>
                <a:latin typeface="+mn-lt"/>
                <a:ea typeface="+mn-ea"/>
                <a:cs typeface="+mn-cs"/>
                <a:sym typeface="Calibri" panose="020F0502020204030204"/>
              </a:rPr>
              <a:t>irr+1.5%</a:t>
            </a:r>
            <a:r>
              <a:rPr kumimoji="0" lang="zh-CN" altLang="en-US" sz="24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的利率来计算。</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pct5">
          <a:fgClr>
            <a:srgbClr val="FFFFFF"/>
          </a:fgClr>
          <a:bgClr>
            <a:schemeClr val="bg1"/>
          </a:bgClr>
        </a:pattFill>
        <a:effectLst/>
      </p:bgPr>
    </p:bg>
    <p:spTree>
      <p:nvGrpSpPr>
        <p:cNvPr id="1" name=""/>
        <p:cNvGrpSpPr/>
        <p:nvPr/>
      </p:nvGrpSpPr>
      <p:grpSpPr>
        <a:xfrm>
          <a:off x="0" y="0"/>
          <a:ext cx="0" cy="0"/>
          <a:chOff x="0" y="0"/>
          <a:chExt cx="0" cy="0"/>
        </a:xfrm>
      </p:grpSpPr>
      <p:sp>
        <p:nvSpPr>
          <p:cNvPr id="19" name="文本框 18"/>
          <p:cNvSpPr txBox="1"/>
          <p:nvPr/>
        </p:nvSpPr>
        <p:spPr>
          <a:xfrm>
            <a:off x="2738755" y="590385"/>
            <a:ext cx="6729413" cy="5822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ctr"/>
            <a:r>
              <a:rPr lang="zh-CN" altLang="en-US" sz="3200" dirty="0">
                <a:latin typeface="微软雅黑" panose="020B0503020204020204" pitchFamily="34" charset="-122"/>
                <a:ea typeface="微软雅黑" panose="020B0503020204020204" pitchFamily="34" charset="-122"/>
              </a:rPr>
              <a:t>万能险</a:t>
            </a:r>
          </a:p>
        </p:txBody>
      </p:sp>
      <p:cxnSp>
        <p:nvCxnSpPr>
          <p:cNvPr id="8" name="直线连接符 7"/>
          <p:cNvCxnSpPr/>
          <p:nvPr/>
        </p:nvCxnSpPr>
        <p:spPr>
          <a:xfrm>
            <a:off x="5716561" y="1384300"/>
            <a:ext cx="774700" cy="0"/>
          </a:xfrm>
          <a:prstGeom prst="line">
            <a:avLst/>
          </a:prstGeom>
          <a:noFill/>
          <a:ln w="12700" cap="flat">
            <a:solidFill>
              <a:srgbClr val="AC8855"/>
            </a:solidFill>
            <a:prstDash val="solid"/>
            <a:miter lim="800000"/>
          </a:ln>
        </p:spPr>
        <p:style>
          <a:lnRef idx="0">
            <a:scrgbClr r="0" g="0" b="0"/>
          </a:lnRef>
          <a:fillRef idx="0">
            <a:scrgbClr r="0" g="0" b="0"/>
          </a:fillRef>
          <a:effectRef idx="0">
            <a:scrgbClr r="0" g="0" b="0"/>
          </a:effectRef>
          <a:fontRef idx="none"/>
        </p:style>
      </p:cxnSp>
      <p:sp>
        <p:nvSpPr>
          <p:cNvPr id="13" name="文本框 12"/>
          <p:cNvSpPr txBox="1"/>
          <p:nvPr/>
        </p:nvSpPr>
        <p:spPr>
          <a:xfrm>
            <a:off x="8959915" y="6359330"/>
            <a:ext cx="1894106" cy="307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altLang="zh-CN" sz="1400" spc="600" dirty="0">
                <a:solidFill>
                  <a:schemeClr val="bg1">
                    <a:lumMod val="75000"/>
                  </a:schemeClr>
                </a:solidFill>
              </a:rPr>
              <a:t>www.jfz.com</a:t>
            </a:r>
            <a:endParaRPr kumimoji="0" lang="zh-CN" altLang="en-US" sz="1400" b="0" i="0" strike="noStrike" cap="none" spc="600" normalizeH="0" baseline="0" dirty="0">
              <a:ln>
                <a:noFill/>
              </a:ln>
              <a:solidFill>
                <a:schemeClr val="bg1">
                  <a:lumMod val="75000"/>
                </a:schemeClr>
              </a:solidFill>
              <a:effectLst/>
              <a:uFillTx/>
              <a:sym typeface="Calibri" panose="020F0502020204030204"/>
            </a:endParaRPr>
          </a:p>
        </p:txBody>
      </p:sp>
      <p:cxnSp>
        <p:nvCxnSpPr>
          <p:cNvPr id="14" name="直线连接符 13"/>
          <p:cNvCxnSpPr/>
          <p:nvPr/>
        </p:nvCxnSpPr>
        <p:spPr>
          <a:xfrm>
            <a:off x="10995838" y="6508880"/>
            <a:ext cx="1196162" cy="4337"/>
          </a:xfrm>
          <a:prstGeom prst="line">
            <a:avLst/>
          </a:prstGeom>
          <a:noFill/>
          <a:ln w="12700" cap="flat">
            <a:solidFill>
              <a:srgbClr val="CCA063"/>
            </a:solidFill>
            <a:prstDash val="solid"/>
            <a:miter lim="800000"/>
          </a:ln>
        </p:spPr>
        <p:style>
          <a:lnRef idx="0">
            <a:scrgbClr r="0" g="0" b="0"/>
          </a:lnRef>
          <a:fillRef idx="0">
            <a:scrgbClr r="0" g="0" b="0"/>
          </a:fillRef>
          <a:effectRef idx="0">
            <a:scrgbClr r="0" g="0" b="0"/>
          </a:effectRef>
          <a:fontRef idx="none"/>
        </p:style>
      </p:cxnSp>
      <p:sp>
        <p:nvSpPr>
          <p:cNvPr id="10" name="文本框 9"/>
          <p:cNvSpPr txBox="1"/>
          <p:nvPr/>
        </p:nvSpPr>
        <p:spPr>
          <a:xfrm>
            <a:off x="-29769" y="2768353"/>
            <a:ext cx="4852117" cy="6331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ctr" defTabSz="914400" rtl="0" fontAlgn="auto" latinLnBrk="0" hangingPunct="0">
              <a:lnSpc>
                <a:spcPct val="120000"/>
              </a:lnSpc>
              <a:spcBef>
                <a:spcPts val="0"/>
              </a:spcBef>
              <a:spcAft>
                <a:spcPts val="0"/>
              </a:spcAft>
              <a:buClrTx/>
              <a:buSzTx/>
              <a:buFontTx/>
              <a:buNone/>
            </a:pPr>
            <a:r>
              <a:rPr lang="zh-CN" altLang="en-US" sz="3200" b="1" dirty="0">
                <a:solidFill>
                  <a:schemeClr val="bg1"/>
                </a:solidFill>
                <a:latin typeface="微软雅黑" panose="020B0503020204020204" pitchFamily="34" charset="-122"/>
                <a:ea typeface="微软雅黑" panose="020B0503020204020204" pitchFamily="34" charset="-122"/>
              </a:rPr>
              <a:t>消费型保险</a:t>
            </a:r>
          </a:p>
        </p:txBody>
      </p:sp>
      <p:sp>
        <p:nvSpPr>
          <p:cNvPr id="4" name="文本框 3"/>
          <p:cNvSpPr txBox="1"/>
          <p:nvPr/>
        </p:nvSpPr>
        <p:spPr>
          <a:xfrm>
            <a:off x="1330960" y="1830705"/>
            <a:ext cx="9664065" cy="7054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effectLst/>
                <a:uFillTx/>
                <a:latin typeface="+mn-lt"/>
                <a:ea typeface="+mn-ea"/>
                <a:cs typeface="+mn-cs"/>
                <a:sym typeface="Calibri" panose="020F0502020204030204"/>
              </a:rPr>
              <a:t>初始费用：第一年</a:t>
            </a:r>
            <a:r>
              <a:rPr kumimoji="0" lang="en-US" altLang="zh-CN" sz="2000" b="0" i="0" u="none" strike="noStrike" cap="none" spc="0" normalizeH="0" baseline="0">
                <a:ln>
                  <a:noFill/>
                </a:ln>
                <a:solidFill>
                  <a:srgbClr val="000000"/>
                </a:solidFill>
                <a:effectLst/>
                <a:uFillTx/>
                <a:latin typeface="+mn-lt"/>
                <a:ea typeface="+mn-ea"/>
                <a:cs typeface="+mn-cs"/>
                <a:sym typeface="Calibri" panose="020F0502020204030204"/>
              </a:rPr>
              <a:t>50%</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，第二年</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25%</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，第三年</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15%</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，第四年</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10%</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，第五年</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5%</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，后面每一年</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5%</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a:t>
            </a:r>
          </a:p>
        </p:txBody>
      </p:sp>
      <p:sp>
        <p:nvSpPr>
          <p:cNvPr id="5" name="文本框 4"/>
          <p:cNvSpPr txBox="1"/>
          <p:nvPr/>
        </p:nvSpPr>
        <p:spPr>
          <a:xfrm>
            <a:off x="1330325" y="3076575"/>
            <a:ext cx="9664700" cy="7054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effectLst/>
                <a:uFillTx/>
                <a:latin typeface="+mn-lt"/>
                <a:ea typeface="+mn-ea"/>
                <a:cs typeface="+mn-cs"/>
                <a:sym typeface="Calibri" panose="020F0502020204030204"/>
              </a:rPr>
              <a:t>保障成本：扣除初始费用后，每年还会对应的扣除保障成本，具体金额详看保障成本表</a:t>
            </a:r>
          </a:p>
        </p:txBody>
      </p:sp>
      <p:sp>
        <p:nvSpPr>
          <p:cNvPr id="6" name="文本框 5"/>
          <p:cNvSpPr txBox="1"/>
          <p:nvPr/>
        </p:nvSpPr>
        <p:spPr>
          <a:xfrm>
            <a:off x="1330960" y="4379595"/>
            <a:ext cx="9600565" cy="7054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effectLst/>
                <a:uFillTx/>
                <a:latin typeface="+mn-lt"/>
                <a:ea typeface="+mn-ea"/>
                <a:cs typeface="+mn-cs"/>
                <a:sym typeface="Calibri" panose="020F0502020204030204"/>
              </a:rPr>
              <a:t>万能账户：每年万能账户增加额</a:t>
            </a:r>
            <a:r>
              <a:rPr kumimoji="0" lang="en-US" altLang="zh-CN" sz="2000" b="0" i="0" u="none" strike="noStrike" cap="none" spc="0" normalizeH="0" baseline="0">
                <a:ln>
                  <a:noFill/>
                </a:ln>
                <a:solidFill>
                  <a:srgbClr val="000000"/>
                </a:solidFill>
                <a:effectLst/>
                <a:uFillTx/>
                <a:latin typeface="+mn-lt"/>
                <a:ea typeface="+mn-ea"/>
                <a:cs typeface="+mn-cs"/>
                <a:sym typeface="Calibri" panose="020F0502020204030204"/>
              </a:rPr>
              <a:t>=</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保费</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初始费用</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保障成本</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（上一年账户余额</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万能账户利息）</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pattFill prst="pct5">
          <a:fgClr>
            <a:srgbClr val="FFFFFF"/>
          </a:fgClr>
          <a:bgClr>
            <a:schemeClr val="bg1"/>
          </a:bgClr>
        </a:pattFill>
        <a:effectLst/>
      </p:bgPr>
    </p:bg>
    <p:spTree>
      <p:nvGrpSpPr>
        <p:cNvPr id="1" name=""/>
        <p:cNvGrpSpPr/>
        <p:nvPr/>
      </p:nvGrpSpPr>
      <p:grpSpPr>
        <a:xfrm>
          <a:off x="0" y="0"/>
          <a:ext cx="0" cy="0"/>
          <a:chOff x="0" y="0"/>
          <a:chExt cx="0" cy="0"/>
        </a:xfrm>
      </p:grpSpPr>
      <p:sp>
        <p:nvSpPr>
          <p:cNvPr id="19" name="文本框 18"/>
          <p:cNvSpPr txBox="1"/>
          <p:nvPr/>
        </p:nvSpPr>
        <p:spPr>
          <a:xfrm>
            <a:off x="2738755" y="590385"/>
            <a:ext cx="6729413" cy="5822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ctr"/>
            <a:r>
              <a:rPr lang="zh-CN" altLang="en-US" sz="3200" dirty="0">
                <a:latin typeface="微软雅黑" panose="020B0503020204020204" pitchFamily="34" charset="-122"/>
                <a:ea typeface="微软雅黑" panose="020B0503020204020204" pitchFamily="34" charset="-122"/>
              </a:rPr>
              <a:t>万能险</a:t>
            </a:r>
          </a:p>
        </p:txBody>
      </p:sp>
      <p:cxnSp>
        <p:nvCxnSpPr>
          <p:cNvPr id="8" name="直线连接符 7"/>
          <p:cNvCxnSpPr/>
          <p:nvPr/>
        </p:nvCxnSpPr>
        <p:spPr>
          <a:xfrm>
            <a:off x="5716561" y="1384300"/>
            <a:ext cx="774700" cy="0"/>
          </a:xfrm>
          <a:prstGeom prst="line">
            <a:avLst/>
          </a:prstGeom>
          <a:noFill/>
          <a:ln w="12700" cap="flat">
            <a:solidFill>
              <a:srgbClr val="AC8855"/>
            </a:solidFill>
            <a:prstDash val="solid"/>
            <a:miter lim="800000"/>
          </a:ln>
        </p:spPr>
        <p:style>
          <a:lnRef idx="0">
            <a:scrgbClr r="0" g="0" b="0"/>
          </a:lnRef>
          <a:fillRef idx="0">
            <a:scrgbClr r="0" g="0" b="0"/>
          </a:fillRef>
          <a:effectRef idx="0">
            <a:scrgbClr r="0" g="0" b="0"/>
          </a:effectRef>
          <a:fontRef idx="none"/>
        </p:style>
      </p:cxnSp>
      <p:sp>
        <p:nvSpPr>
          <p:cNvPr id="13" name="文本框 12"/>
          <p:cNvSpPr txBox="1"/>
          <p:nvPr/>
        </p:nvSpPr>
        <p:spPr>
          <a:xfrm>
            <a:off x="8959915" y="6359330"/>
            <a:ext cx="1894106" cy="307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altLang="zh-CN" sz="1400" spc="600" dirty="0">
                <a:solidFill>
                  <a:schemeClr val="bg1">
                    <a:lumMod val="75000"/>
                  </a:schemeClr>
                </a:solidFill>
              </a:rPr>
              <a:t>www.jfz.com</a:t>
            </a:r>
            <a:endParaRPr kumimoji="0" lang="zh-CN" altLang="en-US" sz="1400" b="0" i="0" strike="noStrike" cap="none" spc="600" normalizeH="0" baseline="0" dirty="0">
              <a:ln>
                <a:noFill/>
              </a:ln>
              <a:solidFill>
                <a:schemeClr val="bg1">
                  <a:lumMod val="75000"/>
                </a:schemeClr>
              </a:solidFill>
              <a:effectLst/>
              <a:uFillTx/>
              <a:sym typeface="Calibri" panose="020F0502020204030204"/>
            </a:endParaRPr>
          </a:p>
        </p:txBody>
      </p:sp>
      <p:cxnSp>
        <p:nvCxnSpPr>
          <p:cNvPr id="14" name="直线连接符 13"/>
          <p:cNvCxnSpPr/>
          <p:nvPr/>
        </p:nvCxnSpPr>
        <p:spPr>
          <a:xfrm>
            <a:off x="10995838" y="6508880"/>
            <a:ext cx="1196162" cy="4337"/>
          </a:xfrm>
          <a:prstGeom prst="line">
            <a:avLst/>
          </a:prstGeom>
          <a:noFill/>
          <a:ln w="12700" cap="flat">
            <a:solidFill>
              <a:srgbClr val="CCA063"/>
            </a:solidFill>
            <a:prstDash val="solid"/>
            <a:miter lim="800000"/>
          </a:ln>
        </p:spPr>
        <p:style>
          <a:lnRef idx="0">
            <a:scrgbClr r="0" g="0" b="0"/>
          </a:lnRef>
          <a:fillRef idx="0">
            <a:scrgbClr r="0" g="0" b="0"/>
          </a:fillRef>
          <a:effectRef idx="0">
            <a:scrgbClr r="0" g="0" b="0"/>
          </a:effectRef>
          <a:fontRef idx="none"/>
        </p:style>
      </p:cxnSp>
      <p:sp>
        <p:nvSpPr>
          <p:cNvPr id="4" name="文本框 3"/>
          <p:cNvSpPr txBox="1"/>
          <p:nvPr/>
        </p:nvSpPr>
        <p:spPr>
          <a:xfrm>
            <a:off x="1330960" y="1830705"/>
            <a:ext cx="9664065"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8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持有成本：初始费用和保障成本</a:t>
            </a:r>
          </a:p>
        </p:txBody>
      </p:sp>
      <p:sp>
        <p:nvSpPr>
          <p:cNvPr id="5" name="文本框 4"/>
          <p:cNvSpPr txBox="1"/>
          <p:nvPr/>
        </p:nvSpPr>
        <p:spPr>
          <a:xfrm>
            <a:off x="1330325" y="3034030"/>
            <a:ext cx="966470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effectLst/>
                <a:uFillTx/>
                <a:latin typeface="+mn-lt"/>
                <a:ea typeface="+mn-ea"/>
                <a:cs typeface="+mn-cs"/>
                <a:sym typeface="Calibri" panose="020F0502020204030204"/>
              </a:rPr>
              <a:t>如果已经购买多年，万能险的处理方式有：</a:t>
            </a:r>
            <a:r>
              <a:rPr kumimoji="0" lang="en-US" altLang="zh-CN" sz="2000" b="0" i="0" u="none" strike="noStrike" cap="none" spc="0" normalizeH="0" baseline="0">
                <a:ln>
                  <a:noFill/>
                </a:ln>
                <a:solidFill>
                  <a:srgbClr val="000000"/>
                </a:solidFill>
                <a:effectLst/>
                <a:uFillTx/>
                <a:latin typeface="+mn-lt"/>
                <a:ea typeface="+mn-ea"/>
                <a:cs typeface="+mn-cs"/>
                <a:sym typeface="Calibri" panose="020F0502020204030204"/>
              </a:rPr>
              <a:t>1</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、停缴不退保，</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2</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、调整保额，</a:t>
            </a:r>
            <a:r>
              <a:rPr kumimoji="0" lang="en-US" alt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3</a:t>
            </a: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、退保</a:t>
            </a:r>
          </a:p>
        </p:txBody>
      </p:sp>
      <p:sp>
        <p:nvSpPr>
          <p:cNvPr id="6" name="文本框 5"/>
          <p:cNvSpPr txBox="1"/>
          <p:nvPr/>
        </p:nvSpPr>
        <p:spPr>
          <a:xfrm>
            <a:off x="1330960" y="4104640"/>
            <a:ext cx="9600565" cy="1628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如果客户心疼不愿意退保，可以建议停缴不退保（避免再次浪费初始费用）。</a:t>
            </a:r>
          </a:p>
          <a:p>
            <a:pPr marL="0" marR="0" indent="0" algn="l" defTabSz="914400" rtl="0" fontAlgn="auto" latinLnBrk="0" hangingPunct="0">
              <a:lnSpc>
                <a:spcPct val="100000"/>
              </a:lnSpc>
              <a:spcBef>
                <a:spcPts val="0"/>
              </a:spcBef>
              <a:spcAft>
                <a:spcPts val="0"/>
              </a:spcAft>
              <a:buClrTx/>
              <a:buSzTx/>
              <a:buFontTx/>
              <a:buNone/>
            </a:pPr>
            <a:endPar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若无其他用途并且缴费时间不长，尽可能建议家庭退保。</a:t>
            </a:r>
          </a:p>
          <a:p>
            <a:pPr marL="0" marR="0" indent="0" algn="l" defTabSz="914400" rtl="0" fontAlgn="auto" latinLnBrk="0" hangingPunct="0">
              <a:lnSpc>
                <a:spcPct val="100000"/>
              </a:lnSpc>
              <a:spcBef>
                <a:spcPts val="0"/>
              </a:spcBef>
              <a:spcAft>
                <a:spcPts val="0"/>
              </a:spcAft>
              <a:buClrTx/>
              <a:buSzTx/>
              <a:buFontTx/>
              <a:buNone/>
            </a:pPr>
            <a:endPar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调整保额是意义不大的，还是在这个坑里。</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843080" y="2735073"/>
            <a:ext cx="1597470" cy="1597470"/>
          </a:xfrm>
          <a:prstGeom prst="rect">
            <a:avLst/>
          </a:prstGeom>
          <a:solidFill>
            <a:srgbClr val="AEE6CA"/>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8" name="文本框 7"/>
          <p:cNvSpPr txBox="1"/>
          <p:nvPr/>
        </p:nvSpPr>
        <p:spPr>
          <a:xfrm>
            <a:off x="3858885" y="2779847"/>
            <a:ext cx="1901884" cy="1569658"/>
          </a:xfrm>
          <a:prstGeom prst="rect">
            <a:avLst/>
          </a:prstGeom>
          <a:solidFill>
            <a:srgbClr val="AEE6CA"/>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altLang="zh-CN" sz="9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03</a:t>
            </a:r>
            <a:endParaRPr kumimoji="0" lang="zh-CN" altLang="en-US" sz="960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a:endParaRPr>
          </a:p>
        </p:txBody>
      </p:sp>
      <p:sp>
        <p:nvSpPr>
          <p:cNvPr id="13" name="文本框 12"/>
          <p:cNvSpPr txBox="1"/>
          <p:nvPr/>
        </p:nvSpPr>
        <p:spPr>
          <a:xfrm>
            <a:off x="5918835" y="2562860"/>
            <a:ext cx="3891280" cy="1087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r" defTabSz="914400" rtl="0" fontAlgn="auto" latinLnBrk="0" hangingPunct="0">
              <a:lnSpc>
                <a:spcPct val="120000"/>
              </a:lnSpc>
              <a:spcBef>
                <a:spcPts val="0"/>
              </a:spcBef>
              <a:spcAft>
                <a:spcPts val="0"/>
              </a:spcAft>
              <a:buClrTx/>
              <a:buSzTx/>
              <a:buFontTx/>
              <a:buNone/>
            </a:pPr>
            <a:r>
              <a:rPr lang="zh-CN" altLang="en-US" sz="5400" b="1" dirty="0">
                <a:solidFill>
                  <a:schemeClr val="tx1">
                    <a:lumMod val="95000"/>
                    <a:lumOff val="5000"/>
                  </a:schemeClr>
                </a:solidFill>
                <a:latin typeface="微软雅黑" panose="020B0503020204020204" pitchFamily="34" charset="-122"/>
                <a:ea typeface="微软雅黑" panose="020B0503020204020204" pitchFamily="34" charset="-122"/>
              </a:rPr>
              <a:t>保障型保险</a:t>
            </a:r>
          </a:p>
        </p:txBody>
      </p:sp>
      <p:sp>
        <p:nvSpPr>
          <p:cNvPr id="10" name="矩形 9"/>
          <p:cNvSpPr/>
          <p:nvPr/>
        </p:nvSpPr>
        <p:spPr>
          <a:xfrm flipH="1">
            <a:off x="6452778" y="3739300"/>
            <a:ext cx="533673" cy="62354"/>
          </a:xfrm>
          <a:prstGeom prst="rect">
            <a:avLst/>
          </a:prstGeom>
          <a:solidFill>
            <a:schemeClr val="bg1">
              <a:lumMod val="50000"/>
            </a:schemeClr>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1" name="矩形 10"/>
          <p:cNvSpPr/>
          <p:nvPr/>
        </p:nvSpPr>
        <p:spPr>
          <a:xfrm flipH="1">
            <a:off x="5919105" y="3739300"/>
            <a:ext cx="533673" cy="62354"/>
          </a:xfrm>
          <a:prstGeom prst="rect">
            <a:avLst/>
          </a:prstGeom>
          <a:solidFill>
            <a:schemeClr val="tx1">
              <a:lumMod val="95000"/>
              <a:lumOff val="5000"/>
            </a:schemeClr>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6" name="矩形 15"/>
          <p:cNvSpPr/>
          <p:nvPr/>
        </p:nvSpPr>
        <p:spPr>
          <a:xfrm flipH="1">
            <a:off x="7021618" y="3739300"/>
            <a:ext cx="5205550" cy="62354"/>
          </a:xfrm>
          <a:prstGeom prst="rect">
            <a:avLst/>
          </a:prstGeom>
          <a:solidFill>
            <a:srgbClr val="AEE6CA"/>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731135" y="526250"/>
            <a:ext cx="6729413" cy="5822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ctr"/>
            <a:r>
              <a:rPr lang="zh-CN" altLang="en-US" sz="3200" dirty="0">
                <a:latin typeface="微软雅黑" panose="020B0503020204020204" pitchFamily="34" charset="-122"/>
                <a:ea typeface="微软雅黑" panose="020B0503020204020204" pitchFamily="34" charset="-122"/>
              </a:rPr>
              <a:t>保障型保险</a:t>
            </a:r>
          </a:p>
        </p:txBody>
      </p:sp>
      <p:cxnSp>
        <p:nvCxnSpPr>
          <p:cNvPr id="8" name="直线连接符 7"/>
          <p:cNvCxnSpPr/>
          <p:nvPr/>
        </p:nvCxnSpPr>
        <p:spPr>
          <a:xfrm>
            <a:off x="5716561" y="1384300"/>
            <a:ext cx="774700" cy="0"/>
          </a:xfrm>
          <a:prstGeom prst="line">
            <a:avLst/>
          </a:prstGeom>
          <a:noFill/>
          <a:ln w="12700" cap="flat">
            <a:solidFill>
              <a:srgbClr val="AC8855"/>
            </a:solidFill>
            <a:prstDash val="solid"/>
            <a:miter lim="800000"/>
          </a:ln>
        </p:spPr>
        <p:style>
          <a:lnRef idx="0">
            <a:scrgbClr r="0" g="0" b="0"/>
          </a:lnRef>
          <a:fillRef idx="0">
            <a:scrgbClr r="0" g="0" b="0"/>
          </a:fillRef>
          <a:effectRef idx="0">
            <a:scrgbClr r="0" g="0" b="0"/>
          </a:effectRef>
          <a:fontRef idx="none"/>
        </p:style>
      </p:cxnSp>
      <p:sp>
        <p:nvSpPr>
          <p:cNvPr id="13" name="文本框 12"/>
          <p:cNvSpPr txBox="1"/>
          <p:nvPr/>
        </p:nvSpPr>
        <p:spPr>
          <a:xfrm>
            <a:off x="8959915" y="6359330"/>
            <a:ext cx="1894106" cy="307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altLang="zh-CN" sz="1400" spc="600" dirty="0">
                <a:solidFill>
                  <a:schemeClr val="bg1">
                    <a:lumMod val="75000"/>
                  </a:schemeClr>
                </a:solidFill>
              </a:rPr>
              <a:t>www.jfz.com</a:t>
            </a:r>
            <a:endParaRPr kumimoji="0" lang="zh-CN" altLang="en-US" sz="1400" b="0" i="0" strike="noStrike" cap="none" spc="600" normalizeH="0" baseline="0" dirty="0">
              <a:ln>
                <a:noFill/>
              </a:ln>
              <a:solidFill>
                <a:schemeClr val="bg1">
                  <a:lumMod val="75000"/>
                </a:schemeClr>
              </a:solidFill>
              <a:effectLst/>
              <a:uFillTx/>
              <a:sym typeface="Calibri" panose="020F0502020204030204"/>
            </a:endParaRPr>
          </a:p>
        </p:txBody>
      </p:sp>
      <p:cxnSp>
        <p:nvCxnSpPr>
          <p:cNvPr id="14" name="直线连接符 13"/>
          <p:cNvCxnSpPr/>
          <p:nvPr/>
        </p:nvCxnSpPr>
        <p:spPr>
          <a:xfrm>
            <a:off x="10995838" y="6508880"/>
            <a:ext cx="1196162" cy="4337"/>
          </a:xfrm>
          <a:prstGeom prst="line">
            <a:avLst/>
          </a:prstGeom>
          <a:noFill/>
          <a:ln w="12700" cap="flat">
            <a:solidFill>
              <a:srgbClr val="CCA063"/>
            </a:solidFill>
            <a:prstDash val="solid"/>
            <a:miter lim="800000"/>
          </a:ln>
        </p:spPr>
        <p:style>
          <a:lnRef idx="0">
            <a:scrgbClr r="0" g="0" b="0"/>
          </a:lnRef>
          <a:fillRef idx="0">
            <a:scrgbClr r="0" g="0" b="0"/>
          </a:fillRef>
          <a:effectRef idx="0">
            <a:scrgbClr r="0" g="0" b="0"/>
          </a:effectRef>
          <a:fontRef idx="none"/>
        </p:style>
      </p:cxnSp>
      <p:sp>
        <p:nvSpPr>
          <p:cNvPr id="6" name="文本框 5"/>
          <p:cNvSpPr txBox="1"/>
          <p:nvPr/>
        </p:nvSpPr>
        <p:spPr>
          <a:xfrm>
            <a:off x="1416685" y="2043430"/>
            <a:ext cx="905764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effectLst/>
                <a:uFillTx/>
                <a:latin typeface="+mn-lt"/>
                <a:ea typeface="+mn-ea"/>
                <a:cs typeface="+mn-cs"/>
                <a:sym typeface="Calibri" panose="020F0502020204030204"/>
              </a:rPr>
              <a:t>主要分为寿险、重疾险、住院医疗险的对比分析</a:t>
            </a:r>
          </a:p>
        </p:txBody>
      </p:sp>
      <p:sp>
        <p:nvSpPr>
          <p:cNvPr id="7" name="文本框 6"/>
          <p:cNvSpPr txBox="1"/>
          <p:nvPr/>
        </p:nvSpPr>
        <p:spPr>
          <a:xfrm>
            <a:off x="2756535" y="3375025"/>
            <a:ext cx="6678930"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2800" b="0" i="0" u="none" strike="noStrike" cap="none" spc="0" normalizeH="0" baseline="0">
                <a:ln>
                  <a:noFill/>
                </a:ln>
                <a:solidFill>
                  <a:srgbClr val="000000"/>
                </a:solidFill>
                <a:effectLst/>
                <a:uFillTx/>
                <a:latin typeface="+mn-lt"/>
                <a:ea typeface="+mn-ea"/>
                <a:cs typeface="+mn-cs"/>
                <a:sym typeface="Calibri" panose="020F0502020204030204"/>
              </a:rPr>
              <a:t>回归我们的原则：保障充足且性价比高。</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731135" y="526250"/>
            <a:ext cx="6729413" cy="5822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ctr"/>
            <a:r>
              <a:rPr lang="zh-CN" altLang="en-US" sz="3200" dirty="0">
                <a:latin typeface="微软雅黑" panose="020B0503020204020204" pitchFamily="34" charset="-122"/>
                <a:ea typeface="微软雅黑" panose="020B0503020204020204" pitchFamily="34" charset="-122"/>
              </a:rPr>
              <a:t>保障型保险</a:t>
            </a:r>
          </a:p>
        </p:txBody>
      </p:sp>
      <p:cxnSp>
        <p:nvCxnSpPr>
          <p:cNvPr id="8" name="直线连接符 7"/>
          <p:cNvCxnSpPr/>
          <p:nvPr/>
        </p:nvCxnSpPr>
        <p:spPr>
          <a:xfrm>
            <a:off x="5716561" y="1384300"/>
            <a:ext cx="774700" cy="0"/>
          </a:xfrm>
          <a:prstGeom prst="line">
            <a:avLst/>
          </a:prstGeom>
          <a:noFill/>
          <a:ln w="12700" cap="flat">
            <a:solidFill>
              <a:srgbClr val="AC8855"/>
            </a:solidFill>
            <a:prstDash val="solid"/>
            <a:miter lim="800000"/>
          </a:ln>
        </p:spPr>
        <p:style>
          <a:lnRef idx="0">
            <a:scrgbClr r="0" g="0" b="0"/>
          </a:lnRef>
          <a:fillRef idx="0">
            <a:scrgbClr r="0" g="0" b="0"/>
          </a:fillRef>
          <a:effectRef idx="0">
            <a:scrgbClr r="0" g="0" b="0"/>
          </a:effectRef>
          <a:fontRef idx="none"/>
        </p:style>
      </p:cxnSp>
      <p:sp>
        <p:nvSpPr>
          <p:cNvPr id="13" name="文本框 12"/>
          <p:cNvSpPr txBox="1"/>
          <p:nvPr/>
        </p:nvSpPr>
        <p:spPr>
          <a:xfrm>
            <a:off x="8959915" y="6359330"/>
            <a:ext cx="1894106" cy="307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altLang="zh-CN" sz="1400" spc="600" dirty="0">
                <a:solidFill>
                  <a:schemeClr val="bg1">
                    <a:lumMod val="75000"/>
                  </a:schemeClr>
                </a:solidFill>
              </a:rPr>
              <a:t>www.jfz.com</a:t>
            </a:r>
            <a:endParaRPr kumimoji="0" lang="zh-CN" altLang="en-US" sz="1400" b="0" i="0" strike="noStrike" cap="none" spc="600" normalizeH="0" baseline="0" dirty="0">
              <a:ln>
                <a:noFill/>
              </a:ln>
              <a:solidFill>
                <a:schemeClr val="bg1">
                  <a:lumMod val="75000"/>
                </a:schemeClr>
              </a:solidFill>
              <a:effectLst/>
              <a:uFillTx/>
              <a:sym typeface="Calibri" panose="020F0502020204030204"/>
            </a:endParaRPr>
          </a:p>
        </p:txBody>
      </p:sp>
      <p:cxnSp>
        <p:nvCxnSpPr>
          <p:cNvPr id="14" name="直线连接符 13"/>
          <p:cNvCxnSpPr/>
          <p:nvPr/>
        </p:nvCxnSpPr>
        <p:spPr>
          <a:xfrm>
            <a:off x="10995838" y="6508880"/>
            <a:ext cx="1196162" cy="4337"/>
          </a:xfrm>
          <a:prstGeom prst="line">
            <a:avLst/>
          </a:prstGeom>
          <a:noFill/>
          <a:ln w="12700" cap="flat">
            <a:solidFill>
              <a:srgbClr val="CCA063"/>
            </a:solidFill>
            <a:prstDash val="solid"/>
            <a:miter lim="800000"/>
          </a:ln>
        </p:spPr>
        <p:style>
          <a:lnRef idx="0">
            <a:scrgbClr r="0" g="0" b="0"/>
          </a:lnRef>
          <a:fillRef idx="0">
            <a:scrgbClr r="0" g="0" b="0"/>
          </a:fillRef>
          <a:effectRef idx="0">
            <a:scrgbClr r="0" g="0" b="0"/>
          </a:effectRef>
          <a:fontRef idx="none"/>
        </p:style>
      </p:cxnSp>
      <p:sp>
        <p:nvSpPr>
          <p:cNvPr id="6" name="文本框 5"/>
          <p:cNvSpPr txBox="1"/>
          <p:nvPr/>
        </p:nvSpPr>
        <p:spPr>
          <a:xfrm>
            <a:off x="1567180" y="1993422"/>
            <a:ext cx="9057640" cy="46166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dirty="0">
                <a:ln>
                  <a:noFill/>
                </a:ln>
                <a:solidFill>
                  <a:srgbClr val="000000"/>
                </a:solidFill>
                <a:effectLst/>
                <a:uFillTx/>
                <a:latin typeface="+mn-lt"/>
                <a:ea typeface="+mn-ea"/>
                <a:cs typeface="+mn-cs"/>
                <a:sym typeface="Calibri" panose="020F0502020204030204"/>
              </a:rPr>
              <a:t>保障充足的三角度：</a:t>
            </a:r>
            <a:r>
              <a:rPr kumimoji="0" lang="en-US" altLang="zh-CN" sz="2400" b="1" i="0" u="none" strike="noStrike" cap="none" spc="0" normalizeH="0" baseline="0" dirty="0">
                <a:ln>
                  <a:noFill/>
                </a:ln>
                <a:solidFill>
                  <a:srgbClr val="FF0000"/>
                </a:solidFill>
                <a:effectLst/>
                <a:uFillTx/>
                <a:latin typeface="+mn-lt"/>
                <a:ea typeface="+mn-ea"/>
                <a:cs typeface="+mn-cs"/>
                <a:sym typeface="Calibri" panose="020F0502020204030204"/>
              </a:rPr>
              <a:t>1.</a:t>
            </a:r>
            <a:r>
              <a:rPr kumimoji="0" lang="zh-CN" altLang="en-US"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保障额度充足、</a:t>
            </a:r>
            <a:r>
              <a:rPr kumimoji="0" lang="en-US" altLang="zh-CN"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2.</a:t>
            </a:r>
            <a:r>
              <a:rPr kumimoji="0" lang="zh-CN" altLang="en-US"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保障期充足、</a:t>
            </a:r>
            <a:r>
              <a:rPr kumimoji="0" lang="en-US" altLang="zh-CN"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3.</a:t>
            </a:r>
            <a:r>
              <a:rPr kumimoji="0" lang="zh-CN" altLang="en-US"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安全余量充足</a:t>
            </a:r>
            <a:endParaRPr kumimoji="0" lang="zh-CN" altLang="en-US" sz="20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endParaRPr>
          </a:p>
        </p:txBody>
      </p:sp>
      <p:sp>
        <p:nvSpPr>
          <p:cNvPr id="2" name="文本框 1"/>
          <p:cNvSpPr txBox="1"/>
          <p:nvPr/>
        </p:nvSpPr>
        <p:spPr>
          <a:xfrm>
            <a:off x="1567180" y="2853690"/>
            <a:ext cx="8617585" cy="2246767"/>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mn-ea"/>
                <a:cs typeface="+mn-cs"/>
                <a:sym typeface="Calibri" panose="020F0502020204030204"/>
              </a:rPr>
              <a:t>保障充足程度不同无法对比</a:t>
            </a:r>
            <a:r>
              <a:rPr lang="zh-CN" altLang="en-US" sz="2000" dirty="0">
                <a:ea typeface="宋体" panose="02010600030101010101" pitchFamily="2" charset="-122"/>
                <a:sym typeface="Calibri" panose="020F0502020204030204"/>
              </a:rPr>
              <a:t>比如</a:t>
            </a:r>
            <a:r>
              <a:rPr lang="en-US" altLang="zh-CN" sz="2000" dirty="0">
                <a:ea typeface="宋体" panose="02010600030101010101" pitchFamily="2" charset="-122"/>
                <a:sym typeface="Calibri" panose="020F0502020204030204"/>
              </a:rPr>
              <a:t>30</a:t>
            </a:r>
            <a:r>
              <a:rPr lang="zh-CN" altLang="en-US" sz="2000" dirty="0">
                <a:ea typeface="宋体" panose="02010600030101010101" pitchFamily="2" charset="-122"/>
                <a:sym typeface="Calibri" panose="020F0502020204030204"/>
              </a:rPr>
              <a:t>万保额和</a:t>
            </a:r>
            <a:r>
              <a:rPr lang="en-US" altLang="zh-CN" sz="2000" dirty="0">
                <a:ea typeface="宋体" panose="02010600030101010101" pitchFamily="2" charset="-122"/>
                <a:sym typeface="Calibri" panose="020F0502020204030204"/>
              </a:rPr>
              <a:t>50</a:t>
            </a:r>
            <a:r>
              <a:rPr lang="zh-CN" altLang="en-US" sz="2000" dirty="0">
                <a:ea typeface="宋体" panose="02010600030101010101" pitchFamily="2" charset="-122"/>
                <a:sym typeface="Calibri" panose="020F0502020204030204"/>
              </a:rPr>
              <a:t>万保额的产品无法比较</a:t>
            </a:r>
            <a:endParaRPr kumimoji="0" lang="zh-CN" altLang="en-US"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20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mn-ea"/>
                <a:cs typeface="+mn-cs"/>
                <a:sym typeface="Calibri" panose="020F0502020204030204"/>
              </a:rPr>
              <a:t>终身和定期无法比较</a:t>
            </a:r>
          </a:p>
          <a:p>
            <a:pPr marL="0" marR="0" indent="0" algn="l" defTabSz="914400" rtl="0" fontAlgn="auto" latinLnBrk="0" hangingPunct="0">
              <a:lnSpc>
                <a:spcPct val="100000"/>
              </a:lnSpc>
              <a:spcBef>
                <a:spcPts val="0"/>
              </a:spcBef>
              <a:spcAft>
                <a:spcPts val="0"/>
              </a:spcAft>
              <a:buClrTx/>
              <a:buSzTx/>
              <a:buFontTx/>
              <a:buNone/>
            </a:pPr>
            <a:endParaRPr kumimoji="0" lang="zh-CN" altLang="en-US" sz="2000" b="0" i="0" u="none" strike="noStrike" cap="none" spc="0" normalizeH="0" baseline="0" dirty="0">
              <a:ln>
                <a:noFill/>
              </a:ln>
              <a:solidFill>
                <a:srgbClr val="000000"/>
              </a:solidFill>
              <a:effectLst/>
              <a:uFillTx/>
              <a:latin typeface="+mn-lt"/>
              <a:ea typeface="+mn-ea"/>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mn-ea"/>
                <a:cs typeface="+mn-cs"/>
                <a:sym typeface="Calibri" panose="020F0502020204030204"/>
              </a:rPr>
              <a:t>消费型和储蓄型无法对比：</a:t>
            </a:r>
            <a:r>
              <a:rPr lang="zh-CN" altLang="en-US" sz="2000" dirty="0">
                <a:ea typeface="宋体" panose="02010600030101010101" pitchFamily="2" charset="-122"/>
              </a:rPr>
              <a:t>比如嘉多保和</a:t>
            </a:r>
            <a:r>
              <a:rPr kumimoji="0" lang="zh-CN" altLang="en-US"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嘉和保无法比较</a:t>
            </a:r>
          </a:p>
          <a:p>
            <a:pPr marL="0" marR="0" indent="0" algn="l" defTabSz="914400" rtl="0" fontAlgn="auto" latinLnBrk="0" hangingPunct="0">
              <a:lnSpc>
                <a:spcPct val="100000"/>
              </a:lnSpc>
              <a:spcBef>
                <a:spcPts val="0"/>
              </a:spcBef>
              <a:spcAft>
                <a:spcPts val="0"/>
              </a:spcAft>
              <a:buClrTx/>
              <a:buSzTx/>
              <a:buFontTx/>
              <a:buNone/>
            </a:pPr>
            <a:endParaRPr kumimoji="0" lang="en-US" altLang="zh-CN"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lang="zh-CN" altLang="en-US" sz="2000" b="1" dirty="0"/>
              <a:t>对比维度：</a:t>
            </a:r>
            <a:r>
              <a:rPr lang="en-US" altLang="zh-CN" sz="2000" b="1" dirty="0">
                <a:solidFill>
                  <a:srgbClr val="FF0000"/>
                </a:solidFill>
              </a:rPr>
              <a:t>1.</a:t>
            </a:r>
            <a:r>
              <a:rPr lang="zh-CN" altLang="en-US" sz="2000" b="1" dirty="0">
                <a:solidFill>
                  <a:srgbClr val="FF0000"/>
                </a:solidFill>
              </a:rPr>
              <a:t>赔付次数 </a:t>
            </a:r>
            <a:r>
              <a:rPr lang="en-US" altLang="zh-CN" sz="2000" b="1" dirty="0">
                <a:solidFill>
                  <a:srgbClr val="FF0000"/>
                </a:solidFill>
              </a:rPr>
              <a:t>2.</a:t>
            </a:r>
            <a:r>
              <a:rPr lang="zh-CN" altLang="en-US" sz="2000" b="1" dirty="0">
                <a:solidFill>
                  <a:srgbClr val="FF0000"/>
                </a:solidFill>
              </a:rPr>
              <a:t>赔付比例 </a:t>
            </a:r>
            <a:r>
              <a:rPr lang="en-US" altLang="zh-CN" sz="2000" b="1" dirty="0">
                <a:solidFill>
                  <a:srgbClr val="FF0000"/>
                </a:solidFill>
              </a:rPr>
              <a:t>3.</a:t>
            </a:r>
            <a:r>
              <a:rPr lang="zh-CN" altLang="en-US" sz="2000" b="1" dirty="0">
                <a:solidFill>
                  <a:srgbClr val="FF0000"/>
                </a:solidFill>
              </a:rPr>
              <a:t>涵盖额外赔付</a:t>
            </a:r>
            <a:r>
              <a:rPr lang="en-US" altLang="zh-CN" sz="2000" b="1" dirty="0">
                <a:solidFill>
                  <a:srgbClr val="FF0000"/>
                </a:solidFill>
              </a:rPr>
              <a:t> 4.</a:t>
            </a:r>
            <a:r>
              <a:rPr lang="zh-CN" altLang="en-US" sz="2000" b="1" dirty="0">
                <a:solidFill>
                  <a:srgbClr val="FF0000"/>
                </a:solidFill>
              </a:rPr>
              <a:t>隐形条款等</a:t>
            </a:r>
          </a:p>
        </p:txBody>
      </p:sp>
      <p:sp>
        <p:nvSpPr>
          <p:cNvPr id="3" name="文本框 2"/>
          <p:cNvSpPr txBox="1"/>
          <p:nvPr/>
        </p:nvSpPr>
        <p:spPr>
          <a:xfrm>
            <a:off x="1567180" y="5479415"/>
            <a:ext cx="8543925"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mn-ea"/>
                <a:cs typeface="+mn-cs"/>
                <a:sym typeface="Calibri" panose="020F0502020204030204"/>
              </a:rPr>
              <a:t>如果是同类产品且保障差异不大，重点再看价格！</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731135" y="526250"/>
            <a:ext cx="6729413" cy="5822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ctr"/>
            <a:r>
              <a:rPr lang="zh-CN" altLang="en-US" sz="3200" dirty="0">
                <a:latin typeface="微软雅黑" panose="020B0503020204020204" pitchFamily="34" charset="-122"/>
                <a:ea typeface="微软雅黑" panose="020B0503020204020204" pitchFamily="34" charset="-122"/>
              </a:rPr>
              <a:t>保障型保险</a:t>
            </a:r>
          </a:p>
        </p:txBody>
      </p:sp>
      <p:cxnSp>
        <p:nvCxnSpPr>
          <p:cNvPr id="8" name="直线连接符 7"/>
          <p:cNvCxnSpPr/>
          <p:nvPr/>
        </p:nvCxnSpPr>
        <p:spPr>
          <a:xfrm>
            <a:off x="5716561" y="1384300"/>
            <a:ext cx="774700" cy="0"/>
          </a:xfrm>
          <a:prstGeom prst="line">
            <a:avLst/>
          </a:prstGeom>
          <a:noFill/>
          <a:ln w="12700" cap="flat">
            <a:solidFill>
              <a:srgbClr val="AC8855"/>
            </a:solidFill>
            <a:prstDash val="solid"/>
            <a:miter lim="800000"/>
          </a:ln>
        </p:spPr>
        <p:style>
          <a:lnRef idx="0">
            <a:scrgbClr r="0" g="0" b="0"/>
          </a:lnRef>
          <a:fillRef idx="0">
            <a:scrgbClr r="0" g="0" b="0"/>
          </a:fillRef>
          <a:effectRef idx="0">
            <a:scrgbClr r="0" g="0" b="0"/>
          </a:effectRef>
          <a:fontRef idx="none"/>
        </p:style>
      </p:cxnSp>
      <p:sp>
        <p:nvSpPr>
          <p:cNvPr id="13" name="文本框 12"/>
          <p:cNvSpPr txBox="1"/>
          <p:nvPr/>
        </p:nvSpPr>
        <p:spPr>
          <a:xfrm>
            <a:off x="8959915" y="6359330"/>
            <a:ext cx="1894106" cy="307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altLang="zh-CN" sz="1400" spc="600" dirty="0">
                <a:solidFill>
                  <a:schemeClr val="bg1">
                    <a:lumMod val="75000"/>
                  </a:schemeClr>
                </a:solidFill>
              </a:rPr>
              <a:t>www.jfz.com</a:t>
            </a:r>
            <a:endParaRPr kumimoji="0" lang="zh-CN" altLang="en-US" sz="1400" b="0" i="0" strike="noStrike" cap="none" spc="600" normalizeH="0" baseline="0" dirty="0">
              <a:ln>
                <a:noFill/>
              </a:ln>
              <a:solidFill>
                <a:schemeClr val="bg1">
                  <a:lumMod val="75000"/>
                </a:schemeClr>
              </a:solidFill>
              <a:effectLst/>
              <a:uFillTx/>
              <a:sym typeface="Calibri" panose="020F0502020204030204"/>
            </a:endParaRPr>
          </a:p>
        </p:txBody>
      </p:sp>
      <p:cxnSp>
        <p:nvCxnSpPr>
          <p:cNvPr id="14" name="直线连接符 13"/>
          <p:cNvCxnSpPr/>
          <p:nvPr/>
        </p:nvCxnSpPr>
        <p:spPr>
          <a:xfrm>
            <a:off x="10995838" y="6508880"/>
            <a:ext cx="1196162" cy="4337"/>
          </a:xfrm>
          <a:prstGeom prst="line">
            <a:avLst/>
          </a:prstGeom>
          <a:noFill/>
          <a:ln w="12700" cap="flat">
            <a:solidFill>
              <a:srgbClr val="CCA063"/>
            </a:solidFill>
            <a:prstDash val="solid"/>
            <a:miter lim="800000"/>
          </a:ln>
        </p:spPr>
        <p:style>
          <a:lnRef idx="0">
            <a:scrgbClr r="0" g="0" b="0"/>
          </a:lnRef>
          <a:fillRef idx="0">
            <a:scrgbClr r="0" g="0" b="0"/>
          </a:fillRef>
          <a:effectRef idx="0">
            <a:scrgbClr r="0" g="0" b="0"/>
          </a:effectRef>
          <a:fontRef idx="none"/>
        </p:style>
      </p:cxnSp>
      <p:sp>
        <p:nvSpPr>
          <p:cNvPr id="6" name="文本框 5"/>
          <p:cNvSpPr txBox="1"/>
          <p:nvPr/>
        </p:nvSpPr>
        <p:spPr>
          <a:xfrm>
            <a:off x="1567180" y="1979930"/>
            <a:ext cx="905764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sz="2000" b="0"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保单对比大法：</a:t>
            </a:r>
            <a:r>
              <a:rPr kumimoji="0" lang="zh-CN" sz="2000" b="1" i="0" u="none" strike="noStrike" cap="none" spc="0" normalizeH="0" baseline="0">
                <a:ln>
                  <a:noFill/>
                </a:ln>
                <a:solidFill>
                  <a:srgbClr val="000000"/>
                </a:solidFill>
                <a:effectLst/>
                <a:uFillTx/>
                <a:latin typeface="+mn-lt"/>
                <a:ea typeface="宋体" panose="02010600030101010101" pitchFamily="2" charset="-122"/>
                <a:cs typeface="+mn-cs"/>
                <a:sym typeface="Calibri" panose="020F0502020204030204"/>
              </a:rPr>
              <a:t>控制变量法</a:t>
            </a:r>
          </a:p>
        </p:txBody>
      </p:sp>
      <p:sp>
        <p:nvSpPr>
          <p:cNvPr id="2" name="文本框 1"/>
          <p:cNvSpPr txBox="1"/>
          <p:nvPr/>
        </p:nvSpPr>
        <p:spPr>
          <a:xfrm>
            <a:off x="1567180" y="2853690"/>
            <a:ext cx="8617585" cy="1628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例子：我们建议的是</a:t>
            </a:r>
            <a:r>
              <a:rPr kumimoji="0" lang="en-US" altLang="zh-CN"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50</a:t>
            </a:r>
            <a:r>
              <a:rPr kumimoji="0" lang="zh-CN" altLang="en-US"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万嘉和保，但是客户拿来了</a:t>
            </a:r>
            <a:r>
              <a:rPr kumimoji="0" lang="en-US" altLang="zh-CN"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30</a:t>
            </a:r>
            <a:r>
              <a:rPr kumimoji="0" lang="zh-CN" altLang="en-US"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万平安福要求进行比较哪个更好。</a:t>
            </a:r>
          </a:p>
          <a:p>
            <a:pPr marL="0" marR="0" indent="0" algn="l" defTabSz="914400" rtl="0" fontAlgn="auto" latinLnBrk="0" hangingPunct="0">
              <a:lnSpc>
                <a:spcPct val="100000"/>
              </a:lnSpc>
              <a:spcBef>
                <a:spcPts val="0"/>
              </a:spcBef>
              <a:spcAft>
                <a:spcPts val="0"/>
              </a:spcAft>
              <a:buClrTx/>
              <a:buSzTx/>
              <a:buFontTx/>
              <a:buNone/>
            </a:pPr>
            <a:endParaRPr kumimoji="0" lang="zh-CN" altLang="en-US"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怎么比较？</a:t>
            </a:r>
          </a:p>
          <a:p>
            <a:pPr marL="0" marR="0" indent="0" algn="l" defTabSz="914400" rtl="0" fontAlgn="auto" latinLnBrk="0" hangingPunct="0">
              <a:lnSpc>
                <a:spcPct val="100000"/>
              </a:lnSpc>
              <a:spcBef>
                <a:spcPts val="0"/>
              </a:spcBef>
              <a:spcAft>
                <a:spcPts val="0"/>
              </a:spcAft>
              <a:buClrTx/>
              <a:buSzTx/>
              <a:buFontTx/>
              <a:buNone/>
            </a:pPr>
            <a:endParaRPr kumimoji="0" lang="zh-CN" altLang="en-US" sz="20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endParaRPr>
          </a:p>
        </p:txBody>
      </p:sp>
      <p:sp>
        <p:nvSpPr>
          <p:cNvPr id="4" name="文本框 3"/>
          <p:cNvSpPr txBox="1"/>
          <p:nvPr/>
        </p:nvSpPr>
        <p:spPr>
          <a:xfrm>
            <a:off x="1567180" y="4482465"/>
            <a:ext cx="9378315" cy="14773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第一步：拿出一个高性价比的平安福同类产品出来（比如</a:t>
            </a:r>
            <a:r>
              <a:rPr lang="zh-CN" altLang="en-US" dirty="0"/>
              <a:t>嘉多保</a:t>
            </a:r>
            <a:r>
              <a:rPr kumimoji="0" lang="zh-CN" altLang="en-US" sz="1800" b="0" i="0" u="none" strike="noStrike" cap="none" spc="0" normalizeH="0" baseline="0" dirty="0">
                <a:ln>
                  <a:noFill/>
                </a:ln>
                <a:solidFill>
                  <a:srgbClr val="000000"/>
                </a:solidFill>
                <a:effectLst/>
                <a:uFillTx/>
                <a:latin typeface="+mn-lt"/>
                <a:ea typeface="+mn-ea"/>
                <a:cs typeface="+mn-cs"/>
                <a:sym typeface="Calibri" panose="020F0502020204030204"/>
              </a:rPr>
              <a:t>），设置成</a:t>
            </a:r>
            <a:r>
              <a:rPr kumimoji="0" lang="en-US" altLang="zh-CN" sz="1800" b="0" i="0" u="none" strike="noStrike" cap="none" spc="0" normalizeH="0" baseline="0" dirty="0">
                <a:ln>
                  <a:noFill/>
                </a:ln>
                <a:solidFill>
                  <a:srgbClr val="000000"/>
                </a:solidFill>
                <a:effectLst/>
                <a:uFillTx/>
                <a:latin typeface="+mn-lt"/>
                <a:ea typeface="+mn-ea"/>
                <a:cs typeface="+mn-cs"/>
                <a:sym typeface="Calibri" panose="020F0502020204030204"/>
              </a:rPr>
              <a:t>30</a:t>
            </a:r>
            <a:r>
              <a:rPr kumimoji="0" lang="zh-CN" altLang="en-US" sz="18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万保额，直接</a:t>
            </a:r>
            <a:r>
              <a:rPr kumimoji="0" lang="en-US" altLang="zh-CN" sz="18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PK</a:t>
            </a:r>
            <a:r>
              <a:rPr kumimoji="0" lang="zh-CN" altLang="en-US" sz="18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掉平安福；</a:t>
            </a: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第二步告诉客户为什么我们建议的是消费型而不是储蓄型；</a:t>
            </a:r>
            <a:endParaRPr kumimoji="0" lang="en-US" altLang="zh-CN" sz="18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lang="zh-CN" altLang="en-US" dirty="0">
                <a:ea typeface="宋体" panose="02010600030101010101" pitchFamily="2" charset="-122"/>
              </a:rPr>
              <a:t>（当然可以根据实际情况给客户做对比表格）如下一页图</a:t>
            </a:r>
            <a:endParaRPr kumimoji="0" lang="zh-CN" altLang="en-US" sz="18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rPr>
              <a:t>第三步回归到自己的方案中。</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6F71828-F6F8-4137-B70F-4CE7CC3AC47F}"/>
              </a:ext>
            </a:extLst>
          </p:cNvPr>
          <p:cNvPicPr>
            <a:picLocks noChangeAspect="1"/>
          </p:cNvPicPr>
          <p:nvPr/>
        </p:nvPicPr>
        <p:blipFill>
          <a:blip r:embed="rId2"/>
          <a:stretch>
            <a:fillRect/>
          </a:stretch>
        </p:blipFill>
        <p:spPr>
          <a:xfrm>
            <a:off x="2233448" y="0"/>
            <a:ext cx="7725103" cy="6858000"/>
          </a:xfrm>
          <a:prstGeom prst="rect">
            <a:avLst/>
          </a:prstGeom>
        </p:spPr>
      </p:pic>
    </p:spTree>
    <p:extLst>
      <p:ext uri="{BB962C8B-B14F-4D97-AF65-F5344CB8AC3E}">
        <p14:creationId xmlns:p14="http://schemas.microsoft.com/office/powerpoint/2010/main" val="267161168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731135" y="526250"/>
            <a:ext cx="6729413" cy="5822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ctr"/>
            <a:r>
              <a:rPr lang="zh-CN" altLang="en-US" sz="3200" dirty="0">
                <a:latin typeface="微软雅黑" panose="020B0503020204020204" pitchFamily="34" charset="-122"/>
                <a:ea typeface="微软雅黑" panose="020B0503020204020204" pitchFamily="34" charset="-122"/>
              </a:rPr>
              <a:t>保障型保险</a:t>
            </a:r>
          </a:p>
        </p:txBody>
      </p:sp>
      <p:cxnSp>
        <p:nvCxnSpPr>
          <p:cNvPr id="8" name="直线连接符 7"/>
          <p:cNvCxnSpPr/>
          <p:nvPr/>
        </p:nvCxnSpPr>
        <p:spPr>
          <a:xfrm>
            <a:off x="5716561" y="1384300"/>
            <a:ext cx="774700" cy="0"/>
          </a:xfrm>
          <a:prstGeom prst="line">
            <a:avLst/>
          </a:prstGeom>
          <a:noFill/>
          <a:ln w="12700" cap="flat">
            <a:solidFill>
              <a:srgbClr val="AC8855"/>
            </a:solidFill>
            <a:prstDash val="solid"/>
            <a:miter lim="800000"/>
          </a:ln>
        </p:spPr>
        <p:style>
          <a:lnRef idx="0">
            <a:scrgbClr r="0" g="0" b="0"/>
          </a:lnRef>
          <a:fillRef idx="0">
            <a:scrgbClr r="0" g="0" b="0"/>
          </a:fillRef>
          <a:effectRef idx="0">
            <a:scrgbClr r="0" g="0" b="0"/>
          </a:effectRef>
          <a:fontRef idx="none"/>
        </p:style>
      </p:cxnSp>
      <p:sp>
        <p:nvSpPr>
          <p:cNvPr id="13" name="文本框 12"/>
          <p:cNvSpPr txBox="1"/>
          <p:nvPr/>
        </p:nvSpPr>
        <p:spPr>
          <a:xfrm>
            <a:off x="8959915" y="6359330"/>
            <a:ext cx="1894106" cy="307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altLang="zh-CN" sz="1400" spc="600" dirty="0">
                <a:solidFill>
                  <a:schemeClr val="bg1">
                    <a:lumMod val="75000"/>
                  </a:schemeClr>
                </a:solidFill>
              </a:rPr>
              <a:t>www.jfz.com</a:t>
            </a:r>
            <a:endParaRPr kumimoji="0" lang="zh-CN" altLang="en-US" sz="1400" b="0" i="0" strike="noStrike" cap="none" spc="600" normalizeH="0" baseline="0" dirty="0">
              <a:ln>
                <a:noFill/>
              </a:ln>
              <a:solidFill>
                <a:schemeClr val="bg1">
                  <a:lumMod val="75000"/>
                </a:schemeClr>
              </a:solidFill>
              <a:effectLst/>
              <a:uFillTx/>
              <a:sym typeface="Calibri" panose="020F0502020204030204"/>
            </a:endParaRPr>
          </a:p>
        </p:txBody>
      </p:sp>
      <p:cxnSp>
        <p:nvCxnSpPr>
          <p:cNvPr id="14" name="直线连接符 13"/>
          <p:cNvCxnSpPr/>
          <p:nvPr/>
        </p:nvCxnSpPr>
        <p:spPr>
          <a:xfrm>
            <a:off x="10995838" y="6508880"/>
            <a:ext cx="1196162" cy="4337"/>
          </a:xfrm>
          <a:prstGeom prst="line">
            <a:avLst/>
          </a:prstGeom>
          <a:noFill/>
          <a:ln w="12700" cap="flat">
            <a:solidFill>
              <a:srgbClr val="CCA063"/>
            </a:solidFill>
            <a:prstDash val="solid"/>
            <a:miter lim="800000"/>
          </a:ln>
        </p:spPr>
        <p:style>
          <a:lnRef idx="0">
            <a:scrgbClr r="0" g="0" b="0"/>
          </a:lnRef>
          <a:fillRef idx="0">
            <a:scrgbClr r="0" g="0" b="0"/>
          </a:fillRef>
          <a:effectRef idx="0">
            <a:scrgbClr r="0" g="0" b="0"/>
          </a:effectRef>
          <a:fontRef idx="none"/>
        </p:style>
      </p:cxnSp>
      <p:sp>
        <p:nvSpPr>
          <p:cNvPr id="6" name="文本框 5"/>
          <p:cNvSpPr txBox="1"/>
          <p:nvPr/>
        </p:nvSpPr>
        <p:spPr>
          <a:xfrm>
            <a:off x="1574800" y="2339975"/>
            <a:ext cx="9057640" cy="243143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如果是医疗险，对比</a:t>
            </a:r>
            <a:r>
              <a:rPr kumimoji="0" lang="zh-CN" altLang="en-US"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角度</a:t>
            </a:r>
            <a:r>
              <a:rPr kumimoji="0" lang="zh-CN"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：免赔额、保障范围</a:t>
            </a:r>
            <a:r>
              <a:rPr lang="zh-CN" sz="2400" b="1" dirty="0">
                <a:solidFill>
                  <a:srgbClr val="FF0000"/>
                </a:solidFill>
                <a:ea typeface="宋体" panose="02010600030101010101" pitchFamily="2" charset="-122"/>
                <a:sym typeface="Calibri" panose="020F0502020204030204"/>
              </a:rPr>
              <a:t>、续保政策</a:t>
            </a:r>
            <a:r>
              <a:rPr kumimoji="0" lang="zh-CN"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、保费</a:t>
            </a:r>
            <a:r>
              <a:rPr kumimoji="0" lang="zh-CN" sz="20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a:t>
            </a:r>
            <a:endParaRPr kumimoji="0" lang="en-US" altLang="zh-CN" sz="20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endParaRPr>
          </a:p>
          <a:p>
            <a:endParaRPr lang="zh-CN" altLang="en-US" sz="2000" b="1" dirty="0">
              <a:solidFill>
                <a:srgbClr val="FF0000"/>
              </a:solidFill>
              <a:ea typeface="宋体" panose="02010600030101010101" pitchFamily="2" charset="-122"/>
            </a:endParaRPr>
          </a:p>
          <a:p>
            <a:r>
              <a:rPr lang="zh-CN" altLang="en-US" sz="2000" dirty="0">
                <a:ea typeface="宋体" panose="02010600030101010101" pitchFamily="2" charset="-122"/>
              </a:rPr>
              <a:t>同样也是需要用到控制变量法，和寿险重疾险最大区别是不需要太关注医疗险的保额，对比的意义不大。</a:t>
            </a:r>
          </a:p>
          <a:p>
            <a:pPr marL="0" marR="0" indent="0" algn="l" defTabSz="914400" rtl="0" fontAlgn="auto" latinLnBrk="0" hangingPunct="0">
              <a:lnSpc>
                <a:spcPct val="100000"/>
              </a:lnSpc>
              <a:spcBef>
                <a:spcPts val="0"/>
              </a:spcBef>
              <a:spcAft>
                <a:spcPts val="0"/>
              </a:spcAft>
              <a:buClrTx/>
              <a:buSzTx/>
              <a:buFontTx/>
              <a:buNone/>
            </a:pPr>
            <a:endParaRPr kumimoji="0" lang="en-US" altLang="zh-CN" sz="2000" b="1" i="0" u="none" strike="noStrike" cap="none" spc="0" normalizeH="0" baseline="0" dirty="0">
              <a:ln>
                <a:noFill/>
              </a:ln>
              <a:solidFill>
                <a:srgbClr val="000000"/>
              </a:solidFill>
              <a:effectLst/>
              <a:uFillTx/>
              <a:latin typeface="+mn-lt"/>
              <a:ea typeface="宋体" panose="02010600030101010101" pitchFamily="2" charset="-122"/>
              <a:cs typeface="+mn-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endParaRPr lang="en-US" altLang="zh-CN" sz="2400" b="1" dirty="0">
              <a:solidFill>
                <a:srgbClr val="FF0000"/>
              </a:solidFill>
              <a:ea typeface="宋体" panose="02010600030101010101" pitchFamily="2"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rPr>
              <a:t>如果是寿险，对比角度；保额，保费，免除责任</a:t>
            </a:r>
            <a:endParaRPr kumimoji="0" lang="zh-CN" sz="2400" b="1" i="0" u="none" strike="noStrike" cap="none" spc="0" normalizeH="0" baseline="0" dirty="0">
              <a:ln>
                <a:noFill/>
              </a:ln>
              <a:solidFill>
                <a:srgbClr val="FF0000"/>
              </a:solidFill>
              <a:effectLst/>
              <a:uFillTx/>
              <a:latin typeface="+mn-lt"/>
              <a:ea typeface="宋体" panose="02010600030101010101" pitchFamily="2" charset="-122"/>
              <a:cs typeface="+mn-cs"/>
              <a:sym typeface="Calibri" panose="020F0502020204030204"/>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a:spLocks noGrp="1"/>
          </p:cNvSpPr>
          <p:nvPr/>
        </p:nvSpPr>
        <p:spPr>
          <a:xfrm>
            <a:off x="1119155" y="989060"/>
            <a:ext cx="6249452" cy="990685"/>
          </a:xfrm>
          <a:prstGeom prst="rect">
            <a:avLst/>
          </a:prstGeom>
          <a:solidFill>
            <a:srgbClr val="FFFFFF"/>
          </a:solid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sz="4800" dirty="0">
                <a:solidFill>
                  <a:srgbClr val="AEE6CA"/>
                </a:solidFill>
                <a:latin typeface="Hiragino Sans GB W3" charset="-122"/>
                <a:ea typeface="Hiragino Sans GB W3" charset="-122"/>
                <a:cs typeface="Hiragino Sans GB W3" charset="-122"/>
              </a:rPr>
              <a:t>退保决策</a:t>
            </a:r>
            <a:endParaRPr sz="4800" dirty="0">
              <a:solidFill>
                <a:srgbClr val="AEE6CA"/>
              </a:solidFill>
              <a:latin typeface="Hiragino Sans GB W3" charset="-122"/>
              <a:ea typeface="Hiragino Sans GB W3" charset="-122"/>
              <a:cs typeface="Hiragino Sans GB W3" charset="-122"/>
            </a:endParaRPr>
          </a:p>
        </p:txBody>
      </p:sp>
      <p:sp>
        <p:nvSpPr>
          <p:cNvPr id="9" name="内容占位符 2"/>
          <p:cNvSpPr>
            <a:spLocks noGrp="1"/>
          </p:cNvSpPr>
          <p:nvPr/>
        </p:nvSpPr>
        <p:spPr>
          <a:xfrm>
            <a:off x="1327150" y="2606238"/>
            <a:ext cx="7845941" cy="990685"/>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sz="2400" dirty="0">
                <a:solidFill>
                  <a:schemeClr val="tx2"/>
                </a:solidFill>
                <a:latin typeface="Hiragino Sans GB W3" charset="-122"/>
                <a:ea typeface="Hiragino Sans GB W3" charset="-122"/>
                <a:cs typeface="Hiragino Sans GB W3" charset="-122"/>
              </a:rPr>
              <a:t>忽略沉没成本，不要让沉没成本影响我们的决策</a:t>
            </a:r>
            <a:endParaRPr lang="en-US" altLang="zh-CN" sz="2400" dirty="0">
              <a:solidFill>
                <a:schemeClr val="tx2"/>
              </a:solidFill>
              <a:latin typeface="Hiragino Sans GB W3" charset="-122"/>
              <a:ea typeface="Hiragino Sans GB W3" charset="-122"/>
              <a:cs typeface="Hiragino Sans GB W3" charset="-122"/>
            </a:endParaRPr>
          </a:p>
          <a:p>
            <a:pPr marL="0" indent="0">
              <a:buNone/>
            </a:pPr>
            <a:endParaRPr lang="en-US" altLang="zh-CN" sz="2400" dirty="0">
              <a:solidFill>
                <a:srgbClr val="C24208"/>
              </a:solidFill>
              <a:latin typeface="Hiragino Sans GB W3" charset="-122"/>
              <a:ea typeface="Hiragino Sans GB W3" charset="-122"/>
              <a:cs typeface="Hiragino Sans GB W3" charset="-122"/>
            </a:endParaRPr>
          </a:p>
          <a:p>
            <a:pPr marL="0" indent="0">
              <a:buNone/>
            </a:pPr>
            <a:endParaRPr sz="2400" dirty="0">
              <a:solidFill>
                <a:srgbClr val="C24208"/>
              </a:solidFill>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1403283391"/>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nvSpPr>
        <p:spPr>
          <a:xfrm>
            <a:off x="887661" y="509291"/>
            <a:ext cx="10675448" cy="990685"/>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dirty="0"/>
              <a:t>■</a:t>
            </a:r>
            <a:r>
              <a:rPr lang="zh-CN" altLang="en-US" sz="3600" dirty="0"/>
              <a:t>沉没成本</a:t>
            </a:r>
            <a:endParaRPr lang="en-US" altLang="zh-CN" sz="3600" dirty="0"/>
          </a:p>
          <a:p>
            <a:pPr marL="0" indent="0">
              <a:buNone/>
            </a:pPr>
            <a:endParaRPr lang="zh-CN" altLang="en-US" b="0" dirty="0"/>
          </a:p>
          <a:p>
            <a:pPr marL="0" indent="0">
              <a:buNone/>
            </a:pPr>
            <a:r>
              <a:rPr lang="zh-CN" altLang="en-US" b="0" dirty="0"/>
              <a:t>是指由于过去的决策已经发生了的，而不能由现在或将来的任何决策改变的成本。人们在决定是否去做一件事情的时候，不仅是看这件事对自己有没有好处，而且也看过去是不是已经在这件事情上有过投入。</a:t>
            </a:r>
            <a:endParaRPr lang="en-US" altLang="zh-CN" b="0" dirty="0"/>
          </a:p>
          <a:p>
            <a:pPr marL="0" indent="0">
              <a:buNone/>
            </a:pPr>
            <a:endParaRPr lang="zh-CN" altLang="en-US" b="0" dirty="0"/>
          </a:p>
          <a:p>
            <a:pPr marL="0" indent="0">
              <a:buNone/>
            </a:pPr>
            <a:r>
              <a:rPr lang="zh-CN" altLang="en-US" b="0" dirty="0"/>
              <a:t>我们把这些已经发生不可收回的支出，如时间、金钱、精力等称为“沉没成本”（</a:t>
            </a:r>
            <a:r>
              <a:rPr lang="en-US" altLang="zh-CN" b="0" dirty="0"/>
              <a:t>Sunk Cost</a:t>
            </a:r>
            <a:r>
              <a:rPr lang="zh-CN" altLang="en-US" b="0" dirty="0"/>
              <a:t>）。在经济学和商业决策制定过程中会用到“沉没成本”的概念，代指已经付出且不可收回的成本。</a:t>
            </a:r>
          </a:p>
          <a:p>
            <a:pPr marL="0" indent="0">
              <a:buNone/>
            </a:pPr>
            <a:endParaRPr lang="en-US" altLang="zh-CN" sz="4800" dirty="0">
              <a:solidFill>
                <a:srgbClr val="C24208"/>
              </a:solidFill>
              <a:latin typeface="Hiragino Sans GB W3" charset="-122"/>
              <a:ea typeface="Hiragino Sans GB W3" charset="-122"/>
              <a:cs typeface="Hiragino Sans GB W3" charset="-122"/>
            </a:endParaRPr>
          </a:p>
          <a:p>
            <a:pPr marL="0" indent="0">
              <a:buNone/>
            </a:pPr>
            <a:endParaRPr sz="4800" dirty="0">
              <a:solidFill>
                <a:srgbClr val="C24208"/>
              </a:solidFill>
              <a:latin typeface="Hiragino Sans GB W3" charset="-122"/>
              <a:ea typeface="Hiragino Sans GB W3" charset="-122"/>
              <a:cs typeface="Hiragino Sans GB W3" charset="-122"/>
            </a:endParaRPr>
          </a:p>
        </p:txBody>
      </p:sp>
      <p:sp>
        <p:nvSpPr>
          <p:cNvPr id="6" name="文本框 5"/>
          <p:cNvSpPr txBox="1"/>
          <p:nvPr/>
        </p:nvSpPr>
        <p:spPr>
          <a:xfrm>
            <a:off x="393539" y="2106592"/>
            <a:ext cx="3842795" cy="369332"/>
          </a:xfrm>
          <a:prstGeom prst="rect">
            <a:avLst/>
          </a:prstGeom>
          <a:noFill/>
        </p:spPr>
        <p:txBody>
          <a:bodyPr wrap="square" rtlCol="0">
            <a:spAutoFit/>
          </a:bodyPr>
          <a:lstStyle/>
          <a:p>
            <a:endParaRPr lang="zh-CN" altLang="en-US" dirty="0"/>
          </a:p>
        </p:txBody>
      </p:sp>
    </p:spTree>
    <p:extLst>
      <p:ext uri="{BB962C8B-B14F-4D97-AF65-F5344CB8AC3E}">
        <p14:creationId xmlns:p14="http://schemas.microsoft.com/office/powerpoint/2010/main" val="120141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nvSpPr>
        <p:spPr>
          <a:xfrm>
            <a:off x="4267200" y="1655355"/>
            <a:ext cx="6249452" cy="990685"/>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sz="4800" dirty="0">
                <a:solidFill>
                  <a:srgbClr val="AEE6CA"/>
                </a:solidFill>
                <a:latin typeface="Hiragino Sans GB W3" charset="-122"/>
                <a:ea typeface="Hiragino Sans GB W3" charset="-122"/>
                <a:cs typeface="Hiragino Sans GB W3" charset="-122"/>
              </a:rPr>
              <a:t>举个例子</a:t>
            </a:r>
            <a:endParaRPr sz="4800" dirty="0">
              <a:solidFill>
                <a:srgbClr val="AEE6CA"/>
              </a:solidFill>
              <a:latin typeface="Hiragino Sans GB W3" charset="-122"/>
              <a:ea typeface="Hiragino Sans GB W3" charset="-122"/>
              <a:cs typeface="Hiragino Sans GB W3" charset="-122"/>
            </a:endParaRPr>
          </a:p>
        </p:txBody>
      </p:sp>
      <p:sp>
        <p:nvSpPr>
          <p:cNvPr id="5" name="文本框 4"/>
          <p:cNvSpPr txBox="1"/>
          <p:nvPr/>
        </p:nvSpPr>
        <p:spPr>
          <a:xfrm>
            <a:off x="1926245" y="2911075"/>
            <a:ext cx="8132155" cy="923330"/>
          </a:xfrm>
          <a:prstGeom prst="rect">
            <a:avLst/>
          </a:prstGeom>
          <a:noFill/>
        </p:spPr>
        <p:txBody>
          <a:bodyPr wrap="square" rtlCol="0">
            <a:spAutoFit/>
          </a:bodyPr>
          <a:lstStyle/>
          <a:p>
            <a:r>
              <a:rPr lang="zh-CN" altLang="en-US" dirty="0"/>
              <a:t>举个例子。我和太太买了两张</a:t>
            </a:r>
            <a:r>
              <a:rPr lang="en-US" altLang="zh-CN" dirty="0"/>
              <a:t>80</a:t>
            </a:r>
            <a:r>
              <a:rPr lang="zh-CN" altLang="en-US" dirty="0"/>
              <a:t>元的电影票，去电影院看</a:t>
            </a:r>
            <a:r>
              <a:rPr lang="en-US" altLang="zh-CN" dirty="0"/>
              <a:t>《</a:t>
            </a:r>
            <a:r>
              <a:rPr lang="zh-CN" altLang="en-US" dirty="0"/>
              <a:t>地球的最后的夜晚</a:t>
            </a:r>
            <a:r>
              <a:rPr lang="en-US" altLang="zh-CN" dirty="0"/>
              <a:t>》</a:t>
            </a:r>
            <a:r>
              <a:rPr lang="zh-CN" altLang="en-US" dirty="0"/>
              <a:t>，开场没多久，就发现这部电影奇烂无比，我们简直度日如年。请问这个时候，我们该不该马上离弃汤唯，转身离开电影院？</a:t>
            </a:r>
          </a:p>
        </p:txBody>
      </p:sp>
    </p:spTree>
    <p:extLst>
      <p:ext uri="{BB962C8B-B14F-4D97-AF65-F5344CB8AC3E}">
        <p14:creationId xmlns:p14="http://schemas.microsoft.com/office/powerpoint/2010/main" val="1622455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97334" y="981115"/>
            <a:ext cx="10509812" cy="923330"/>
          </a:xfrm>
          <a:prstGeom prst="rect">
            <a:avLst/>
          </a:prstGeom>
          <a:noFill/>
        </p:spPr>
        <p:txBody>
          <a:bodyPr wrap="square" rtlCol="0">
            <a:spAutoFit/>
          </a:bodyPr>
          <a:lstStyle/>
          <a:p>
            <a:r>
              <a:rPr lang="zh-CN" altLang="en-US" b="1" dirty="0"/>
              <a:t>沉默成本：</a:t>
            </a:r>
            <a:r>
              <a:rPr lang="zh-CN" altLang="en-US" dirty="0"/>
              <a:t>已经买了“烂片”的钱，在我们这次行为中，经济学家称之为“沉没成本”（</a:t>
            </a:r>
            <a:r>
              <a:rPr lang="en-US" altLang="zh-CN" dirty="0"/>
              <a:t>sunk cost</a:t>
            </a:r>
            <a:r>
              <a:rPr lang="zh-CN" altLang="en-US" dirty="0"/>
              <a:t>），也就是说，这个钱已经沉没了。无论我现在是停止看电影还是继续看电影，我买电影票的钱都已经付过了。</a:t>
            </a:r>
          </a:p>
        </p:txBody>
      </p:sp>
      <p:sp>
        <p:nvSpPr>
          <p:cNvPr id="4" name="文本框 3"/>
          <p:cNvSpPr txBox="1"/>
          <p:nvPr/>
        </p:nvSpPr>
        <p:spPr>
          <a:xfrm>
            <a:off x="897334" y="2580674"/>
            <a:ext cx="10509812" cy="3416320"/>
          </a:xfrm>
          <a:prstGeom prst="rect">
            <a:avLst/>
          </a:prstGeom>
          <a:noFill/>
        </p:spPr>
        <p:txBody>
          <a:bodyPr wrap="square" rtlCol="0">
            <a:spAutoFit/>
          </a:bodyPr>
          <a:lstStyle/>
          <a:p>
            <a:r>
              <a:rPr lang="zh-CN" altLang="en-US" b="1" dirty="0"/>
              <a:t>机会成本：</a:t>
            </a:r>
            <a:r>
              <a:rPr lang="zh-CN" altLang="en-US" dirty="0"/>
              <a:t>假定这个看电影的时间，如果你不看电影，要在学校里上一堂令人昏昏欲睡的课。此时，你可能觉得，这部电影虽然烂，但好歹可以休息一下，你还是会选择继续忍受下去，是吗？</a:t>
            </a:r>
          </a:p>
          <a:p>
            <a:br>
              <a:rPr lang="zh-CN" altLang="en-US" dirty="0"/>
            </a:br>
            <a:endParaRPr lang="zh-CN" altLang="en-US" dirty="0"/>
          </a:p>
          <a:p>
            <a:r>
              <a:rPr lang="zh-CN" altLang="en-US" dirty="0"/>
              <a:t>如果此时微信忽然响了，你期待很久的男神或者女神约你出去逛街。你该怎么选择？当然是直接去逛街了。</a:t>
            </a:r>
          </a:p>
          <a:p>
            <a:br>
              <a:rPr lang="zh-CN" altLang="en-US" dirty="0"/>
            </a:br>
            <a:endParaRPr lang="zh-CN" altLang="en-US" dirty="0"/>
          </a:p>
          <a:p>
            <a:r>
              <a:rPr lang="zh-CN" altLang="en-US" dirty="0"/>
              <a:t>我们发现，一个科学的决策，不是看“沉没成本”。如果把未来看电影继续要投入这两个小时的时间，看作是我们未来需要要投入的财务资源。我需要思考的是，有没有比看这场电影更好的机会。这才是经济学家思考一件事情正确、理性的维度，叫机会成本。</a:t>
            </a:r>
          </a:p>
          <a:p>
            <a:endParaRPr lang="zh-CN" altLang="en-US" dirty="0"/>
          </a:p>
        </p:txBody>
      </p:sp>
    </p:spTree>
    <p:extLst>
      <p:ext uri="{BB962C8B-B14F-4D97-AF65-F5344CB8AC3E}">
        <p14:creationId xmlns:p14="http://schemas.microsoft.com/office/powerpoint/2010/main" val="1561379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nvSpPr>
        <p:spPr>
          <a:xfrm>
            <a:off x="745331" y="1953607"/>
            <a:ext cx="8938834" cy="4729077"/>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dirty="0">
                <a:latin typeface="Hiragino Sans GB W3" charset="-122"/>
                <a:ea typeface="Hiragino Sans GB W3" charset="-122"/>
                <a:cs typeface="Hiragino Sans GB W3" charset="-122"/>
              </a:rPr>
              <a:t>一、预期回报率、人寿</a:t>
            </a:r>
            <a:r>
              <a:rPr lang="en-US" altLang="zh-CN" dirty="0">
                <a:latin typeface="Hiragino Sans GB W3" charset="-122"/>
                <a:ea typeface="Hiragino Sans GB W3" charset="-122"/>
                <a:cs typeface="Hiragino Sans GB W3" charset="-122"/>
              </a:rPr>
              <a:t>/</a:t>
            </a:r>
            <a:r>
              <a:rPr lang="zh-CN" altLang="en-US" dirty="0">
                <a:latin typeface="Hiragino Sans GB W3" charset="-122"/>
                <a:ea typeface="Hiragino Sans GB W3" charset="-122"/>
                <a:cs typeface="Hiragino Sans GB W3" charset="-122"/>
              </a:rPr>
              <a:t>重疾</a:t>
            </a:r>
            <a:r>
              <a:rPr lang="en-US" altLang="zh-CN" dirty="0">
                <a:latin typeface="Hiragino Sans GB W3" charset="-122"/>
                <a:ea typeface="Hiragino Sans GB W3" charset="-122"/>
                <a:cs typeface="Hiragino Sans GB W3" charset="-122"/>
              </a:rPr>
              <a:t>/</a:t>
            </a:r>
            <a:r>
              <a:rPr lang="zh-CN" altLang="en-US" dirty="0">
                <a:latin typeface="Hiragino Sans GB W3" charset="-122"/>
                <a:ea typeface="Hiragino Sans GB W3" charset="-122"/>
                <a:cs typeface="Hiragino Sans GB W3" charset="-122"/>
              </a:rPr>
              <a:t>医疗性价比</a:t>
            </a:r>
          </a:p>
          <a:p>
            <a:pPr marL="0" indent="0">
              <a:buNone/>
            </a:pPr>
            <a:r>
              <a:rPr lang="zh-CN" altLang="en-US" sz="2000" b="0" dirty="0">
                <a:latin typeface="Hiragino Sans GB W3" charset="-122"/>
                <a:ea typeface="Hiragino Sans GB W3" charset="-122"/>
                <a:cs typeface="Hiragino Sans GB W3" charset="-122"/>
              </a:rPr>
              <a:t>与我们所推荐的产品进行比较，判断是否继续持有</a:t>
            </a:r>
            <a:endParaRPr lang="en-US" altLang="zh-CN" sz="2000" b="0" dirty="0">
              <a:latin typeface="Hiragino Sans GB W3" charset="-122"/>
              <a:ea typeface="Hiragino Sans GB W3" charset="-122"/>
              <a:cs typeface="Hiragino Sans GB W3" charset="-122"/>
            </a:endParaRPr>
          </a:p>
          <a:p>
            <a:pPr marL="347980" lvl="1" indent="0">
              <a:buNone/>
            </a:pPr>
            <a:endParaRPr lang="en-US" altLang="zh-CN" sz="2000" dirty="0">
              <a:latin typeface="Hiragino Sans GB W3" charset="-122"/>
              <a:ea typeface="Hiragino Sans GB W3" charset="-122"/>
              <a:cs typeface="Hiragino Sans GB W3" charset="-122"/>
            </a:endParaRPr>
          </a:p>
          <a:p>
            <a:pPr marL="0" indent="0">
              <a:buNone/>
            </a:pPr>
            <a:r>
              <a:rPr lang="zh-CN" altLang="en-US" dirty="0">
                <a:latin typeface="Hiragino Sans GB W3" charset="-122"/>
                <a:ea typeface="Hiragino Sans GB W3" charset="-122"/>
                <a:cs typeface="Hiragino Sans GB W3" charset="-122"/>
              </a:rPr>
              <a:t>二、既往病史</a:t>
            </a:r>
          </a:p>
          <a:p>
            <a:pPr marL="0" indent="0">
              <a:buNone/>
            </a:pPr>
            <a:r>
              <a:rPr lang="zh-CN" altLang="en-US" sz="2000" b="0" dirty="0">
                <a:latin typeface="Hiragino Sans GB W3" charset="-122"/>
                <a:ea typeface="Hiragino Sans GB W3" charset="-122"/>
                <a:cs typeface="Hiragino Sans GB W3" charset="-122"/>
              </a:rPr>
              <a:t>有既往病史一般建议继续持有</a:t>
            </a:r>
            <a:endParaRPr lang="en-US" altLang="zh-CN" sz="2000" b="0" dirty="0">
              <a:latin typeface="Hiragino Sans GB W3" charset="-122"/>
              <a:ea typeface="Hiragino Sans GB W3" charset="-122"/>
              <a:cs typeface="Hiragino Sans GB W3" charset="-122"/>
            </a:endParaRPr>
          </a:p>
          <a:p>
            <a:pPr marL="347980" lvl="1" indent="0">
              <a:buNone/>
            </a:pPr>
            <a:endParaRPr lang="zh-CN" altLang="en-US" sz="2000" dirty="0">
              <a:latin typeface="Hiragino Sans GB W3" charset="-122"/>
              <a:ea typeface="Hiragino Sans GB W3" charset="-122"/>
              <a:cs typeface="Hiragino Sans GB W3" charset="-122"/>
            </a:endParaRPr>
          </a:p>
          <a:p>
            <a:pPr marL="0" indent="0">
              <a:buNone/>
            </a:pPr>
            <a:r>
              <a:rPr lang="zh-CN" altLang="en-US" dirty="0">
                <a:latin typeface="Hiragino Sans GB W3" charset="-122"/>
                <a:ea typeface="Hiragino Sans GB W3" charset="-122"/>
                <a:cs typeface="Hiragino Sans GB W3" charset="-122"/>
              </a:rPr>
              <a:t>三、心理接受程度</a:t>
            </a:r>
          </a:p>
          <a:p>
            <a:pPr marL="0" indent="0">
              <a:buNone/>
            </a:pPr>
            <a:r>
              <a:rPr lang="zh-CN" altLang="en-US" sz="2000" b="0" dirty="0">
                <a:latin typeface="Hiragino Sans GB W3" charset="-122"/>
                <a:ea typeface="Hiragino Sans GB W3" charset="-122"/>
                <a:cs typeface="Hiragino Sans GB W3" charset="-122"/>
              </a:rPr>
              <a:t>持有年期长未必建议退保</a:t>
            </a:r>
            <a:endParaRPr lang="en-US" altLang="zh-CN" sz="2000" b="0" dirty="0">
              <a:latin typeface="Hiragino Sans GB W3" charset="-122"/>
              <a:ea typeface="Hiragino Sans GB W3" charset="-122"/>
              <a:cs typeface="Hiragino Sans GB W3" charset="-122"/>
            </a:endParaRPr>
          </a:p>
          <a:p>
            <a:pPr marL="0" lvl="1" indent="0">
              <a:buNone/>
            </a:pPr>
            <a:endParaRPr lang="en-US" altLang="zh-CN" sz="2000" dirty="0">
              <a:latin typeface="Hiragino Sans GB W3" charset="-122"/>
              <a:ea typeface="Hiragino Sans GB W3" charset="-122"/>
              <a:cs typeface="Hiragino Sans GB W3" charset="-122"/>
            </a:endParaRPr>
          </a:p>
          <a:p>
            <a:pPr marL="0" indent="0">
              <a:buNone/>
            </a:pPr>
            <a:r>
              <a:rPr lang="zh-CN" altLang="en-US" dirty="0">
                <a:latin typeface="Hiragino Sans GB W3" charset="-122"/>
                <a:ea typeface="Hiragino Sans GB W3" charset="-122"/>
                <a:cs typeface="Hiragino Sans GB W3" charset="-122"/>
              </a:rPr>
              <a:t>四、资源优化影响度</a:t>
            </a:r>
          </a:p>
          <a:p>
            <a:pPr marL="0" indent="0">
              <a:buNone/>
            </a:pPr>
            <a:r>
              <a:rPr lang="zh-CN" altLang="en-US" sz="2000" b="0" dirty="0">
                <a:latin typeface="Hiragino Sans GB W3" charset="-122"/>
                <a:ea typeface="Hiragino Sans GB W3" charset="-122"/>
                <a:cs typeface="Hiragino Sans GB W3" charset="-122"/>
              </a:rPr>
              <a:t>保费少未必建议退保</a:t>
            </a:r>
            <a:endParaRPr lang="en-US" altLang="zh-CN" sz="2000" b="0" dirty="0">
              <a:latin typeface="Hiragino Sans GB W3" charset="-122"/>
              <a:ea typeface="Hiragino Sans GB W3" charset="-122"/>
              <a:cs typeface="Hiragino Sans GB W3" charset="-122"/>
            </a:endParaRPr>
          </a:p>
          <a:p>
            <a:endParaRPr lang="en-US" altLang="zh-CN" dirty="0"/>
          </a:p>
        </p:txBody>
      </p:sp>
      <p:sp>
        <p:nvSpPr>
          <p:cNvPr id="8" name="内容占位符 2"/>
          <p:cNvSpPr>
            <a:spLocks noGrp="1"/>
          </p:cNvSpPr>
          <p:nvPr/>
        </p:nvSpPr>
        <p:spPr>
          <a:xfrm>
            <a:off x="4988392" y="903288"/>
            <a:ext cx="3282016" cy="990685"/>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sz="4800" dirty="0">
                <a:solidFill>
                  <a:srgbClr val="AEE6CA"/>
                </a:solidFill>
                <a:latin typeface="Hiragino Sans GB W3" charset="-122"/>
                <a:ea typeface="Hiragino Sans GB W3" charset="-122"/>
                <a:cs typeface="Hiragino Sans GB W3" charset="-122"/>
              </a:rPr>
              <a:t>建议依据</a:t>
            </a:r>
            <a:endParaRPr sz="4800" dirty="0">
              <a:solidFill>
                <a:srgbClr val="AEE6CA"/>
              </a:solidFill>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1390505299"/>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a:spLocks noGrp="1"/>
          </p:cNvSpPr>
          <p:nvPr/>
        </p:nvSpPr>
        <p:spPr>
          <a:xfrm>
            <a:off x="1262062" y="2903983"/>
            <a:ext cx="9999611" cy="1537142"/>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347980" lvl="1" indent="0">
              <a:buNone/>
            </a:pPr>
            <a:endParaRPr lang="en-US" altLang="zh-CN" dirty="0">
              <a:latin typeface="Hiragino Sans GB W3" charset="-122"/>
              <a:ea typeface="Hiragino Sans GB W3" charset="-122"/>
              <a:cs typeface="Hiragino Sans GB W3" charset="-122"/>
            </a:endParaRPr>
          </a:p>
          <a:p>
            <a:pPr marL="0" indent="0">
              <a:buNone/>
            </a:pPr>
            <a:r>
              <a:rPr lang="zh-CN" altLang="en-US" sz="3200" b="0" dirty="0">
                <a:latin typeface="Hiragino Sans GB W3" charset="-122"/>
                <a:ea typeface="Hiragino Sans GB W3" charset="-122"/>
                <a:cs typeface="Hiragino Sans GB W3" charset="-122"/>
              </a:rPr>
              <a:t>旧的保单不用急着退，在下一次扣费的时候退最划算</a:t>
            </a:r>
          </a:p>
        </p:txBody>
      </p:sp>
      <p:sp>
        <p:nvSpPr>
          <p:cNvPr id="7" name="内容占位符 2"/>
          <p:cNvSpPr>
            <a:spLocks noGrp="1"/>
          </p:cNvSpPr>
          <p:nvPr/>
        </p:nvSpPr>
        <p:spPr>
          <a:xfrm>
            <a:off x="3011659" y="1408293"/>
            <a:ext cx="6878930" cy="990685"/>
          </a:xfrm>
          <a:prstGeom prst="rect">
            <a:avLst/>
          </a:prstGeom>
          <a:noFill/>
          <a:ln>
            <a:noFill/>
          </a:ln>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rgbClr val="666464"/>
              </a:buClr>
              <a:buSzPct val="100000"/>
              <a:buFont typeface="Wingdings" pitchFamily="2" charset="2"/>
              <a:buChar char="§"/>
              <a:defRPr sz="2800" b="1" kern="1200">
                <a:solidFill>
                  <a:srgbClr val="666464"/>
                </a:solidFill>
                <a:latin typeface="Microsoft JhengHei" pitchFamily="34" charset="-120"/>
                <a:ea typeface="Microsoft JhengHei" pitchFamily="34" charset="-120"/>
                <a:cs typeface="+mn-cs"/>
              </a:defRPr>
            </a:lvl1pPr>
            <a:lvl2pPr marL="548005" indent="-200025" algn="l" rtl="0" eaLnBrk="0" fontAlgn="base" hangingPunct="0">
              <a:spcBef>
                <a:spcPts val="250"/>
              </a:spcBef>
              <a:spcAft>
                <a:spcPct val="0"/>
              </a:spcAft>
              <a:buClr>
                <a:srgbClr val="666464"/>
              </a:buClr>
              <a:buSzPct val="100000"/>
              <a:buFont typeface="Arial" charset="0"/>
              <a:buChar char="•"/>
              <a:defRPr lang="zh-CN" altLang="en-US" sz="2400" b="1" kern="1200" dirty="0" smtClean="0">
                <a:solidFill>
                  <a:srgbClr val="666464"/>
                </a:solidFill>
                <a:latin typeface="Microsoft JhengHei" pitchFamily="34" charset="-120"/>
                <a:ea typeface="Microsoft JhengHei" pitchFamily="34" charset="-120"/>
                <a:cs typeface="+mn-cs"/>
              </a:defRPr>
            </a:lvl2pPr>
            <a:lvl3pPr marL="786130" indent="-182880" algn="l" rtl="0" eaLnBrk="0" fontAlgn="base" hangingPunct="0">
              <a:spcBef>
                <a:spcPts val="250"/>
              </a:spcBef>
              <a:spcAft>
                <a:spcPct val="0"/>
              </a:spcAft>
              <a:buClr>
                <a:srgbClr val="666464"/>
              </a:buClr>
              <a:buSzPct val="100000"/>
              <a:buFont typeface="Wingdings 2" pitchFamily="18" charset="2"/>
              <a:buChar char=""/>
              <a:defRPr lang="zh-CN" altLang="en-US" sz="2200" b="1" kern="1200" dirty="0" smtClean="0">
                <a:solidFill>
                  <a:srgbClr val="666464"/>
                </a:solidFill>
                <a:latin typeface="Microsoft JhengHei" pitchFamily="34" charset="-120"/>
                <a:ea typeface="Microsoft JhengHei" pitchFamily="34" charset="-120"/>
                <a:cs typeface="+mn-cs"/>
              </a:defRPr>
            </a:lvl3pPr>
            <a:lvl4pPr marL="1024255" indent="-182880" algn="l" rtl="0" eaLnBrk="0" fontAlgn="base" hangingPunct="0">
              <a:spcBef>
                <a:spcPts val="225"/>
              </a:spcBef>
              <a:spcAft>
                <a:spcPct val="0"/>
              </a:spcAft>
              <a:buClr>
                <a:srgbClr val="666464"/>
              </a:buClr>
              <a:buSzPct val="90000"/>
              <a:buFont typeface="Arial" pitchFamily="34" charset="0"/>
              <a:buChar char="•"/>
              <a:defRPr sz="1900" b="1" kern="1200">
                <a:solidFill>
                  <a:srgbClr val="666464"/>
                </a:solidFill>
                <a:latin typeface="Microsoft JhengHei" pitchFamily="34" charset="-120"/>
                <a:ea typeface="Microsoft JhengHei" pitchFamily="34" charset="-120"/>
                <a:cs typeface="+mn-cs"/>
              </a:defRPr>
            </a:lvl4pPr>
            <a:lvl5pPr marL="1279525" indent="-182880" algn="l" rtl="0" eaLnBrk="0" fontAlgn="base" hangingPunct="0">
              <a:spcBef>
                <a:spcPts val="250"/>
              </a:spcBef>
              <a:spcAft>
                <a:spcPct val="0"/>
              </a:spcAft>
              <a:buClr>
                <a:srgbClr val="666464"/>
              </a:buClr>
              <a:buSzPct val="100000"/>
              <a:buFont typeface="Wingdings 2" pitchFamily="18" charset="2"/>
              <a:buChar char=""/>
              <a:defRPr sz="2000" b="1" kern="1200">
                <a:solidFill>
                  <a:srgbClr val="666464"/>
                </a:solidFill>
                <a:latin typeface="Microsoft JhengHei" pitchFamily="34" charset="-120"/>
                <a:ea typeface="Microsoft JhengHei" pitchFamily="34" charset="-120"/>
                <a:cs typeface="+mn-cs"/>
              </a:defRPr>
            </a:lvl5pPr>
            <a:lvl6pPr marL="1490345"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zh-CN" altLang="en-US" sz="4800" dirty="0">
                <a:solidFill>
                  <a:srgbClr val="AEE6CA"/>
                </a:solidFill>
                <a:latin typeface="Hiragino Sans GB W3" charset="-122"/>
                <a:ea typeface="Hiragino Sans GB W3" charset="-122"/>
                <a:cs typeface="Hiragino Sans GB W3" charset="-122"/>
              </a:rPr>
              <a:t>新旧保单的交替问题</a:t>
            </a:r>
            <a:endParaRPr sz="4800" dirty="0">
              <a:solidFill>
                <a:srgbClr val="AEE6CA"/>
              </a:solidFill>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1948763580"/>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bg>
      <p:bgPr>
        <a:pattFill prst="pct5">
          <a:fgClr>
            <a:srgbClr val="FFFFFF"/>
          </a:fgClr>
          <a:bgClr>
            <a:schemeClr val="bg1"/>
          </a:bgClr>
        </a:pattFill>
        <a:effectLst/>
      </p:bgPr>
    </p:bg>
    <p:spTree>
      <p:nvGrpSpPr>
        <p:cNvPr id="1" name=""/>
        <p:cNvGrpSpPr/>
        <p:nvPr/>
      </p:nvGrpSpPr>
      <p:grpSpPr>
        <a:xfrm>
          <a:off x="0" y="0"/>
          <a:ext cx="0" cy="0"/>
          <a:chOff x="0" y="0"/>
          <a:chExt cx="0" cy="0"/>
        </a:xfrm>
      </p:grpSpPr>
      <p:sp>
        <p:nvSpPr>
          <p:cNvPr id="14" name="文本框 13"/>
          <p:cNvSpPr txBox="1"/>
          <p:nvPr/>
        </p:nvSpPr>
        <p:spPr>
          <a:xfrm>
            <a:off x="3878012" y="2585259"/>
            <a:ext cx="4222380" cy="144449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ctr" defTabSz="914400" rtl="0" fontAlgn="auto" latinLnBrk="0" hangingPunct="0">
              <a:lnSpc>
                <a:spcPct val="120000"/>
              </a:lnSpc>
              <a:spcBef>
                <a:spcPts val="0"/>
              </a:spcBef>
              <a:spcAft>
                <a:spcPts val="0"/>
              </a:spcAft>
              <a:buClrTx/>
              <a:buSzTx/>
              <a:buFontTx/>
              <a:buNone/>
            </a:pPr>
            <a:r>
              <a:rPr lang="en-US" altLang="zh-CN" sz="8000" b="1" dirty="0">
                <a:solidFill>
                  <a:srgbClr val="AEE6CA"/>
                </a:solidFill>
                <a:latin typeface="微软雅黑" panose="020B0503020204020204" pitchFamily="34" charset="-122"/>
                <a:ea typeface="微软雅黑" panose="020B0503020204020204" pitchFamily="34" charset="-122"/>
              </a:rPr>
              <a:t>Thanks</a:t>
            </a:r>
            <a:endParaRPr lang="zh-CN" altLang="en-US" sz="8000" b="1" dirty="0">
              <a:solidFill>
                <a:srgbClr val="AEE6CA"/>
              </a:solidFill>
              <a:latin typeface="微软雅黑" panose="020B0503020204020204" pitchFamily="34" charset="-122"/>
              <a:ea typeface="微软雅黑" panose="020B0503020204020204" pitchFamily="34" charset="-122"/>
            </a:endParaRPr>
          </a:p>
        </p:txBody>
      </p:sp>
      <p:sp>
        <p:nvSpPr>
          <p:cNvPr id="10" name="矩形 9"/>
          <p:cNvSpPr/>
          <p:nvPr/>
        </p:nvSpPr>
        <p:spPr>
          <a:xfrm>
            <a:off x="3339547" y="2462873"/>
            <a:ext cx="279593" cy="50835"/>
          </a:xfrm>
          <a:prstGeom prst="rect">
            <a:avLst/>
          </a:prstGeom>
          <a:solidFill>
            <a:schemeClr val="bg1">
              <a:lumMod val="75000"/>
            </a:schemeClr>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0" name="矩形 19"/>
          <p:cNvSpPr/>
          <p:nvPr/>
        </p:nvSpPr>
        <p:spPr>
          <a:xfrm rot="5400000">
            <a:off x="3225168" y="2577252"/>
            <a:ext cx="279593" cy="50835"/>
          </a:xfrm>
          <a:prstGeom prst="rect">
            <a:avLst/>
          </a:prstGeom>
          <a:solidFill>
            <a:schemeClr val="bg1">
              <a:lumMod val="75000"/>
            </a:schemeClr>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3" name="矩形 22"/>
          <p:cNvSpPr/>
          <p:nvPr/>
        </p:nvSpPr>
        <p:spPr>
          <a:xfrm rot="5400000">
            <a:off x="8422808" y="4082113"/>
            <a:ext cx="279593" cy="50835"/>
          </a:xfrm>
          <a:prstGeom prst="rect">
            <a:avLst/>
          </a:prstGeom>
          <a:solidFill>
            <a:schemeClr val="bg1">
              <a:lumMod val="75000"/>
            </a:schemeClr>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4" name="矩形 23"/>
          <p:cNvSpPr/>
          <p:nvPr/>
        </p:nvSpPr>
        <p:spPr>
          <a:xfrm rot="10800000">
            <a:off x="8308429" y="4196492"/>
            <a:ext cx="279593" cy="50835"/>
          </a:xfrm>
          <a:prstGeom prst="rect">
            <a:avLst/>
          </a:prstGeom>
          <a:solidFill>
            <a:schemeClr val="bg1">
              <a:lumMod val="75000"/>
            </a:schemeClr>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根据需要可酌情增减文字，以便观者准确的理解您传达的思想。&#10;单击此处添加文本具体内容，简明扼要的阐述您的观点。"/>
  <p:tag name="KSO_WM_UNIT_NOCLEAR" val="0"/>
  <p:tag name="KSO_WM_UNIT_VALUE" val="190"/>
  <p:tag name="KSO_WM_UNIT_HIGHLIGHT" val="0"/>
  <p:tag name="KSO_WM_UNIT_COMPATIBLE" val="0"/>
  <p:tag name="KSO_WM_UNIT_DIAGRAM_ISNUMVISUAL" val="0"/>
  <p:tag name="KSO_WM_UNIT_DIAGRAM_ISREFERUNIT" val="0"/>
  <p:tag name="KSO_WM_UNIT_TYPE" val="f"/>
  <p:tag name="KSO_WM_UNIT_INDEX" val="1"/>
  <p:tag name="KSO_WM_UNIT_ID" val="custom20187308_11*f*1"/>
  <p:tag name="KSO_WM_TEMPLATE_CATEGORY" val="custom"/>
  <p:tag name="KSO_WM_TEMPLATE_INDEX" val="20187308"/>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VALUE" val="1399*1466"/>
  <p:tag name="KSO_WM_UNIT_HIGHLIGHT" val="0"/>
  <p:tag name="KSO_WM_UNIT_COMPATIBLE" val="0"/>
  <p:tag name="KSO_WM_UNIT_DIAGRAM_ISNUMVISUAL" val="0"/>
  <p:tag name="KSO_WM_UNIT_DIAGRAM_ISREFERUNIT" val="0"/>
  <p:tag name="KSO_WM_UNIT_TYPE" val="d"/>
  <p:tag name="KSO_WM_UNIT_INDEX" val="1"/>
  <p:tag name="KSO_WM_UNIT_ID" val="custom20187308_11*d*1"/>
  <p:tag name="KSO_WM_TEMPLATE_CATEGORY" val="custom"/>
  <p:tag name="KSO_WM_TEMPLATE_INDEX" val="20187308"/>
  <p:tag name="KSO_WM_UNIT_LAYERLEVEL" val="1"/>
  <p:tag name="KSO_WM_TAG_VERSION" val="1.0"/>
  <p:tag name="KSO_WM_BEAUTIFY_FLAG" val="#wm#"/>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alphaModFix amt="90000"/>
          </a:blip>
          <a:stretch>
            <a:fillRect/>
          </a:stretch>
        </a:blipFill>
        <a:ln w="12700" cap="flat">
          <a:no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1447</Words>
  <Application>Microsoft Office PowerPoint</Application>
  <PresentationFormat>宽屏</PresentationFormat>
  <Paragraphs>136</Paragraphs>
  <Slides>31</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31</vt:i4>
      </vt:variant>
    </vt:vector>
  </HeadingPairs>
  <TitlesOfParts>
    <vt:vector size="42" baseType="lpstr">
      <vt:lpstr>Helvetica Neue</vt:lpstr>
      <vt:lpstr>Hiragino Sans GB W3</vt:lpstr>
      <vt:lpstr>Microsoft JhengHei</vt:lpstr>
      <vt:lpstr>阿里巴巴普惠体-B</vt:lpstr>
      <vt:lpstr>微软雅黑</vt:lpstr>
      <vt:lpstr>微软雅黑 Light</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Step 1 填写基本信息</vt:lpstr>
      <vt:lpstr>Step 2 输入这份保险的投入部分</vt:lpstr>
      <vt:lpstr>Step 3 输入这份保险的产出部分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曾亮亮</dc:creator>
  <cp:lastModifiedBy>王 宝宝</cp:lastModifiedBy>
  <cp:revision>212</cp:revision>
  <dcterms:created xsi:type="dcterms:W3CDTF">2018-01-30T08:14:00Z</dcterms:created>
  <dcterms:modified xsi:type="dcterms:W3CDTF">2020-04-15T17:01:31Z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