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92" r:id="rId4"/>
    <p:sldId id="298" r:id="rId6"/>
    <p:sldId id="293" r:id="rId7"/>
    <p:sldId id="294" r:id="rId8"/>
    <p:sldId id="295" r:id="rId9"/>
    <p:sldId id="299" r:id="rId10"/>
    <p:sldId id="296" r:id="rId11"/>
    <p:sldId id="300" r:id="rId12"/>
    <p:sldId id="301" r:id="rId13"/>
    <p:sldId id="302" r:id="rId14"/>
    <p:sldId id="297" r:id="rId15"/>
    <p:sldId id="303" r:id="rId16"/>
    <p:sldId id="304" r:id="rId17"/>
    <p:sldId id="30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封面" id="{FDE87967-6879-154B-BA6F-F9539DB3CEF1}">
          <p14:sldIdLst>
            <p14:sldId id="256"/>
          </p14:sldIdLst>
        </p14:section>
        <p14:section name="目录" id="{181FB0CA-355B-F14E-8AD5-5395E8106880}">
          <p14:sldIdLst>
            <p14:sldId id="298"/>
            <p14:sldId id="292"/>
            <p14:sldId id="293"/>
            <p14:sldId id="294"/>
            <p14:sldId id="295"/>
            <p14:sldId id="299"/>
            <p14:sldId id="296"/>
            <p14:sldId id="300"/>
            <p14:sldId id="301"/>
            <p14:sldId id="297"/>
            <p14:sldId id="304"/>
            <p14:sldId id="306"/>
            <p14:sldId id="302"/>
            <p14:sldId id="30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D0"/>
    <a:srgbClr val="FFE6A5"/>
    <a:srgbClr val="1BD6B7"/>
    <a:srgbClr val="656BFF"/>
    <a:srgbClr val="FEB350"/>
    <a:srgbClr val="FD7982"/>
    <a:srgbClr val="6D53FF"/>
    <a:srgbClr val="6700FF"/>
    <a:srgbClr val="1CB9FF"/>
    <a:srgbClr val="1295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0" y="768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组7.jpg" descr="组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组3.jpg" descr="组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pt主标题内容"/>
          <p:cNvSpPr txBox="1"/>
          <p:nvPr/>
        </p:nvSpPr>
        <p:spPr>
          <a:xfrm>
            <a:off x="12140703" y="5539729"/>
            <a:ext cx="102592" cy="2103140"/>
          </a:xfrm>
          <a:prstGeom prst="rect">
            <a:avLst/>
          </a:prstGeom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50800" tIns="50800" rIns="50800" bIns="50800" anchor="ctr">
            <a:spAutoFit/>
          </a:bodyPr>
          <a:lstStyle>
            <a:lvl1pPr>
              <a:defRPr sz="13000" cap="all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endParaRPr b="0" dirty="0">
              <a:latin typeface="阿里巴巴普惠体-B"/>
              <a:ea typeface="阿里巴巴普惠体-B"/>
              <a:cs typeface="阿里巴巴普惠体-B"/>
            </a:endParaRPr>
          </a:p>
        </p:txBody>
      </p:sp>
      <p:sp>
        <p:nvSpPr>
          <p:cNvPr id="40" name="科学保障  幸福一生"/>
          <p:cNvSpPr txBox="1"/>
          <p:nvPr/>
        </p:nvSpPr>
        <p:spPr>
          <a:xfrm>
            <a:off x="9665095" y="11283032"/>
            <a:ext cx="5066511" cy="59503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lvl="1" algn="l">
              <a:defRPr sz="3200" b="0" spc="96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defRPr>
            </a:pPr>
            <a:r>
              <a:rPr sz="3200" b="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科学保障  幸福一生</a:t>
            </a:r>
            <a:endParaRPr sz="32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矩形2.png" descr="矩形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943" y="11537032"/>
            <a:ext cx="3987801" cy="165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" name="矩形2.png" descr="矩形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4877256" y="11537032"/>
            <a:ext cx="3987801" cy="165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46" name="成组"/>
          <p:cNvGrpSpPr/>
          <p:nvPr/>
        </p:nvGrpSpPr>
        <p:grpSpPr>
          <a:xfrm>
            <a:off x="10912164" y="2662932"/>
            <a:ext cx="2559672" cy="2559671"/>
            <a:chOff x="0" y="0"/>
            <a:chExt cx="2559670" cy="2559670"/>
          </a:xfrm>
        </p:grpSpPr>
        <p:sp>
          <p:nvSpPr>
            <p:cNvPr id="43" name="圆角矩形"/>
            <p:cNvSpPr/>
            <p:nvPr/>
          </p:nvSpPr>
          <p:spPr>
            <a:xfrm>
              <a:off x="124383" y="124383"/>
              <a:ext cx="2310904" cy="2310904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</a:p>
          </p:txBody>
        </p:sp>
        <p:sp>
          <p:nvSpPr>
            <p:cNvPr id="44" name="圆角矩形"/>
            <p:cNvSpPr/>
            <p:nvPr/>
          </p:nvSpPr>
          <p:spPr>
            <a:xfrm>
              <a:off x="0" y="0"/>
              <a:ext cx="2559671" cy="2559671"/>
            </a:xfrm>
            <a:prstGeom prst="roundRect">
              <a:avLst>
                <a:gd name="adj" fmla="val 15000"/>
              </a:avLst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</a:p>
          </p:txBody>
        </p:sp>
        <p:pic>
          <p:nvPicPr>
            <p:cNvPr id="45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2197" y="412173"/>
              <a:ext cx="1475277" cy="173532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2" name="文本框 1"/>
          <p:cNvSpPr txBox="1"/>
          <p:nvPr/>
        </p:nvSpPr>
        <p:spPr>
          <a:xfrm>
            <a:off x="4475480" y="5590858"/>
            <a:ext cx="15137130" cy="25634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CN" altLang="en-US" sz="13000" dirty="0" smtClean="0">
                <a:solidFill>
                  <a:schemeClr val="bg1"/>
                </a:solidFill>
                <a:effectLst>
                  <a:outerShdw blurRad="76200" dist="38100" dir="5400000" algn="t" rotWithShape="0">
                    <a:srgbClr val="179479">
                      <a:alpha val="99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理财师的价值与定位</a:t>
            </a:r>
            <a:endParaRPr lang="zh-CN" altLang="en-US" sz="13000" dirty="0">
              <a:solidFill>
                <a:schemeClr val="bg1"/>
              </a:solidFill>
              <a:effectLst>
                <a:outerShdw blurRad="76200" dist="38100" dir="5400000" algn="t" rotWithShape="0">
                  <a:srgbClr val="179479">
                    <a:alpha val="99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79980" y="2018665"/>
            <a:ext cx="11066780" cy="2286000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kumimoji="1" lang="zh-CN" altLang="en-US" sz="720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你对保险最初的印象？</a:t>
            </a:r>
            <a:endParaRPr kumimoji="1" lang="zh-CN" altLang="en-US" sz="7200" dirty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379980" y="3737610"/>
            <a:ext cx="8551545" cy="2802255"/>
          </a:xfrm>
        </p:spPr>
        <p:txBody>
          <a:bodyPr/>
          <a:lstStyle/>
          <a:p>
            <a:r>
              <a:rPr kumimoji="1" lang="zh-CN" altLang="en-US" sz="4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抗拒？  敬而远之？  接受？</a:t>
            </a:r>
            <a:br>
              <a:rPr kumimoji="1" lang="en-US" altLang="zh-CN" sz="4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kumimoji="1" lang="en-US" altLang="zh-CN" sz="4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2379980" y="7781925"/>
            <a:ext cx="8551545" cy="191071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 marL="210185" marR="0" indent="-21018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664845" marR="0" indent="-245110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134110" marR="0" indent="-29400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586865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007235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426970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2847340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267075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3687445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r>
              <a:rPr kumimoji="1" lang="zh-CN" altLang="en-US" sz="4000" kern="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kumimoji="1" lang="en-US" altLang="zh-CN" sz="4000" kern="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800</a:t>
            </a:r>
            <a:r>
              <a:rPr kumimoji="1" lang="zh-CN" altLang="en-US" sz="4000" kern="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万人的抗争</a:t>
            </a:r>
            <a:endParaRPr kumimoji="1" lang="en-US" altLang="zh-CN" sz="4000" kern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kumimoji="1" lang="zh-CN" altLang="en-US" sz="4000" kern="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社会偏见的纠正与教育</a:t>
            </a:r>
            <a:endParaRPr kumimoji="1" lang="en-US" altLang="zh-CN" sz="4000" kern="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kumimoji="1" lang="zh-CN" altLang="en-US" sz="4000" kern="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重新定义理财师</a:t>
            </a:r>
            <a:endParaRPr kumimoji="1" lang="en-US" altLang="zh-CN" sz="4000" kern="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kumimoji="1" lang="en-US" altLang="zh-CN" sz="4000" kern="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占位符 2"/>
          <p:cNvSpPr txBox="1"/>
          <p:nvPr/>
        </p:nvSpPr>
        <p:spPr>
          <a:xfrm>
            <a:off x="2379980" y="11538585"/>
            <a:ext cx="8551545" cy="8890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 marL="210185" marR="0" indent="-21018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664845" marR="0" indent="-245110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134110" marR="0" indent="-29400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586865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007235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426970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2847340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267075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3687445" marR="0" indent="-327025" algn="l" defTabSz="840105" rtl="0" eaLnBrk="1" latinLnBrk="0" hangingPunct="1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57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r>
              <a:rPr kumimoji="1" lang="zh-CN" altLang="en-US" sz="4000" kern="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医生</a:t>
            </a:r>
            <a:br>
              <a:rPr kumimoji="1" lang="en-US" altLang="zh-CN" sz="4000" kern="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kumimoji="1" lang="en-US" altLang="zh-CN" sz="4000" kern="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380281" y="6248903"/>
            <a:ext cx="9937791" cy="121786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  <a:scene3d>
              <a:camera prst="orthographicFront"/>
              <a:lightRig rig="threePt" dir="t"/>
            </a:scene3d>
          </a:bodyPr>
          <a:lstStyle>
            <a:lvl1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  <a:lvl2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2pPr>
            <a:lvl3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3pPr>
            <a:lvl4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4pPr>
            <a:lvl5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5pPr>
            <a:lvl6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6pPr>
            <a:lvl7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7pPr>
            <a:lvl8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8pPr>
            <a:lvl9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9pPr>
          </a:lstStyle>
          <a:p>
            <a:r>
              <a:rPr kumimoji="1" lang="zh-CN" altLang="en-US" sz="6600" kern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我们要做一件什么事情？</a:t>
            </a:r>
            <a:endParaRPr kumimoji="1" lang="zh-CN" altLang="en-US" sz="6600" kern="0" dirty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380280" y="10054556"/>
            <a:ext cx="9937791" cy="121786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  <a:scene3d>
              <a:camera prst="orthographicFront"/>
              <a:lightRig rig="threePt" dir="t"/>
            </a:scene3d>
          </a:bodyPr>
          <a:lstStyle>
            <a:lvl1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  <a:lvl2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2pPr>
            <a:lvl3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3pPr>
            <a:lvl4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4pPr>
            <a:lvl5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5pPr>
            <a:lvl6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6pPr>
            <a:lvl7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7pPr>
            <a:lvl8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8pPr>
            <a:lvl9pPr marL="0" marR="0" indent="0" algn="l" defTabSz="84010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45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9pPr>
          </a:lstStyle>
          <a:p>
            <a:r>
              <a:rPr kumimoji="1" lang="zh-CN" altLang="en-US" sz="6000" kern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我们的定位是什么？</a:t>
            </a:r>
            <a:endParaRPr kumimoji="1" lang="zh-CN" altLang="en-US" sz="6000" kern="0" dirty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 build="p"/>
      <p:bldP spid="5" grpId="0" animBg="1"/>
      <p:bldP spid="7" grpId="0" animBg="1"/>
      <p:bldP spid="4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pt主标题内容"/>
          <p:cNvSpPr txBox="1"/>
          <p:nvPr/>
        </p:nvSpPr>
        <p:spPr>
          <a:xfrm>
            <a:off x="12140703" y="5539729"/>
            <a:ext cx="102592" cy="2103140"/>
          </a:xfrm>
          <a:prstGeom prst="rect">
            <a:avLst/>
          </a:prstGeom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50800" tIns="50800" rIns="50800" bIns="50800" anchor="ctr">
            <a:spAutoFit/>
          </a:bodyPr>
          <a:lstStyle>
            <a:lvl1pPr>
              <a:defRPr sz="13000" cap="all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endParaRPr b="0" dirty="0">
              <a:latin typeface="阿里巴巴普惠体-B"/>
              <a:ea typeface="阿里巴巴普惠体-B"/>
              <a:cs typeface="阿里巴巴普惠体-B"/>
            </a:endParaRPr>
          </a:p>
        </p:txBody>
      </p:sp>
      <p:sp>
        <p:nvSpPr>
          <p:cNvPr id="40" name="科学保障  幸福一生"/>
          <p:cNvSpPr txBox="1"/>
          <p:nvPr/>
        </p:nvSpPr>
        <p:spPr>
          <a:xfrm>
            <a:off x="9665095" y="11283032"/>
            <a:ext cx="5066511" cy="59503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lvl="1" algn="l">
              <a:defRPr sz="3200" b="0" spc="96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defRPr>
            </a:pPr>
            <a:r>
              <a:rPr sz="3200" b="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科学保障  幸福一生</a:t>
            </a:r>
            <a:endParaRPr sz="32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矩形2.png" descr="矩形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943" y="11537032"/>
            <a:ext cx="3987801" cy="165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" name="矩形2.png" descr="矩形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4877256" y="11537032"/>
            <a:ext cx="3987801" cy="165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46" name="成组"/>
          <p:cNvGrpSpPr/>
          <p:nvPr/>
        </p:nvGrpSpPr>
        <p:grpSpPr>
          <a:xfrm>
            <a:off x="10912164" y="2662932"/>
            <a:ext cx="2559672" cy="2559671"/>
            <a:chOff x="0" y="0"/>
            <a:chExt cx="2559670" cy="2559670"/>
          </a:xfrm>
        </p:grpSpPr>
        <p:sp>
          <p:nvSpPr>
            <p:cNvPr id="43" name="圆角矩形"/>
            <p:cNvSpPr/>
            <p:nvPr/>
          </p:nvSpPr>
          <p:spPr>
            <a:xfrm>
              <a:off x="124383" y="124383"/>
              <a:ext cx="2310904" cy="2310904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/>
            </a:p>
          </p:txBody>
        </p:sp>
        <p:sp>
          <p:nvSpPr>
            <p:cNvPr id="44" name="圆角矩形"/>
            <p:cNvSpPr/>
            <p:nvPr/>
          </p:nvSpPr>
          <p:spPr>
            <a:xfrm>
              <a:off x="0" y="0"/>
              <a:ext cx="2559671" cy="2559671"/>
            </a:xfrm>
            <a:prstGeom prst="roundRect">
              <a:avLst>
                <a:gd name="adj" fmla="val 15000"/>
              </a:avLst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/>
            </a:p>
          </p:txBody>
        </p:sp>
        <p:pic>
          <p:nvPicPr>
            <p:cNvPr id="45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2197" y="412173"/>
              <a:ext cx="1475277" cy="173532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2" name="文本框 1"/>
          <p:cNvSpPr txBox="1"/>
          <p:nvPr/>
        </p:nvSpPr>
        <p:spPr>
          <a:xfrm>
            <a:off x="5248711" y="5590851"/>
            <a:ext cx="13783983" cy="25634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CN" altLang="en-US" sz="13000" dirty="0" smtClean="0">
                <a:solidFill>
                  <a:schemeClr val="bg1"/>
                </a:solidFill>
                <a:effectLst>
                  <a:outerShdw blurRad="76200" dist="38100" dir="5400000" algn="t" rotWithShape="0">
                    <a:srgbClr val="179479">
                      <a:alpha val="99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保障的意义与功用</a:t>
            </a:r>
            <a:endParaRPr lang="zh-CN" altLang="en-US" sz="13000" dirty="0">
              <a:solidFill>
                <a:schemeClr val="bg1"/>
              </a:solidFill>
              <a:effectLst>
                <a:outerShdw blurRad="76200" dist="38100" dir="5400000" algn="t" rotWithShape="0">
                  <a:srgbClr val="179479">
                    <a:alpha val="99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WordArt 6"/>
          <p:cNvSpPr/>
          <p:nvPr/>
        </p:nvSpPr>
        <p:spPr>
          <a:xfrm>
            <a:off x="2100580" y="1901825"/>
            <a:ext cx="9676130" cy="233743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555"/>
              </a:avLst>
            </a:prstTxWarp>
            <a:normAutofit/>
            <a:scene3d>
              <a:camera prst="orthographicFront"/>
              <a:lightRig rig="threePt" dir="t"/>
            </a:scene3d>
          </a:bodyPr>
          <a:p>
            <a:pPr algn="l"/>
            <a:r>
              <a:rPr lang="zh-CN" altLang="en-US" sz="7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一个简单的小测试</a:t>
            </a:r>
            <a:endParaRPr lang="zh-CN" altLang="en-US" sz="700" b="1" dirty="0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95" name="Text Box 2"/>
          <p:cNvSpPr/>
          <p:nvPr/>
        </p:nvSpPr>
        <p:spPr>
          <a:xfrm>
            <a:off x="1452880" y="5148580"/>
            <a:ext cx="15460345" cy="18637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请想一位您要好朋友的名字,做为郝先生(已婚，并且已有孩子)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196" name="Text Box 5"/>
          <p:cNvSpPr/>
          <p:nvPr/>
        </p:nvSpPr>
        <p:spPr>
          <a:xfrm>
            <a:off x="1607185" y="8604250"/>
            <a:ext cx="14838680" cy="18637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4800" b="1" dirty="0">
                <a:solidFill>
                  <a:srgbClr val="0099C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     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深夜、您接到一个由郝太太打来的电话，电话的那端，郝太太声泪俱下的告诉您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……</a:t>
            </a:r>
            <a:endParaRPr lang="en-US" altLang="zh-CN" sz="48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819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Rectangle 14"/>
          <p:cNvSpPr/>
          <p:nvPr/>
        </p:nvSpPr>
        <p:spPr>
          <a:xfrm>
            <a:off x="1016000" y="2261235"/>
            <a:ext cx="1168844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hangingPunct="1">
              <a:spcBef>
                <a:spcPct val="50000"/>
              </a:spcBef>
            </a:pPr>
            <a:r>
              <a:rPr lang="zh-CN" altLang="en-US" sz="48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您会如何处理呢？</a:t>
            </a:r>
            <a:endParaRPr lang="zh-CN" altLang="en-US" sz="48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232" name="Text Box 3"/>
          <p:cNvSpPr/>
          <p:nvPr/>
        </p:nvSpPr>
        <p:spPr>
          <a:xfrm>
            <a:off x="1005840" y="4725035"/>
            <a:ext cx="10291445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您会去参加丧礼吗</a:t>
            </a:r>
            <a:r>
              <a:rPr lang="zh-CN" altLang="zh-CN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?</a:t>
            </a:r>
            <a:endParaRPr lang="zh-CN" altLang="zh-CN" sz="4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230" name="Text Box 6"/>
          <p:cNvSpPr/>
          <p:nvPr/>
        </p:nvSpPr>
        <p:spPr>
          <a:xfrm>
            <a:off x="1016000" y="3633470"/>
            <a:ext cx="8877935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hangingPunct="1">
              <a:spcBef>
                <a:spcPct val="50000"/>
              </a:spcBef>
            </a:pPr>
            <a:r>
              <a:rPr lang="zh-CN" altLang="en-US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您会马上去探望吗?</a:t>
            </a:r>
            <a:endParaRPr lang="zh-CN" altLang="en-US" sz="4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228" name="Text Box 9"/>
          <p:cNvSpPr/>
          <p:nvPr/>
        </p:nvSpPr>
        <p:spPr>
          <a:xfrm>
            <a:off x="1005840" y="6148070"/>
            <a:ext cx="14202410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hangingPunct="1">
              <a:spcBef>
                <a:spcPct val="50000"/>
              </a:spcBef>
            </a:pPr>
            <a:r>
              <a:rPr lang="zh-CN" altLang="en-US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您会包多少丧葬礼呢?          </a:t>
            </a:r>
            <a:r>
              <a:rPr lang="en-US" altLang="zh-CN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300</a:t>
            </a:r>
            <a:r>
              <a:rPr lang="zh-CN" altLang="en-US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元？</a:t>
            </a:r>
            <a:r>
              <a:rPr lang="en-US" altLang="zh-CN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500</a:t>
            </a:r>
            <a:r>
              <a:rPr lang="zh-CN" altLang="en-US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元？</a:t>
            </a:r>
            <a:r>
              <a:rPr lang="en-US" altLang="zh-CN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1000</a:t>
            </a:r>
            <a:r>
              <a:rPr lang="zh-CN" altLang="en-US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元？</a:t>
            </a:r>
            <a:endParaRPr lang="zh-CN" altLang="en-US" sz="4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Text Box 2"/>
          <p:cNvSpPr/>
          <p:nvPr/>
        </p:nvSpPr>
        <p:spPr>
          <a:xfrm>
            <a:off x="1016000" y="7675245"/>
            <a:ext cx="6978015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hangingPunct="1">
              <a:spcBef>
                <a:spcPct val="50000"/>
              </a:spcBef>
            </a:pP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您愿意帮一些忙吗？	</a:t>
            </a:r>
            <a:endParaRPr lang="zh-CN" altLang="en-US"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Text Box 4"/>
          <p:cNvSpPr/>
          <p:nvPr/>
        </p:nvSpPr>
        <p:spPr>
          <a:xfrm>
            <a:off x="1016000" y="8915400"/>
            <a:ext cx="6311265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lvl="0" algn="l" eaLnBrk="1" hangingPunct="1">
              <a:spcBef>
                <a:spcPct val="50000"/>
              </a:spcBef>
            </a:pPr>
            <a:r>
              <a:rPr lang="zh-CN" altLang="en-US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房屋贷款？			</a:t>
            </a:r>
            <a:endParaRPr lang="zh-CN" altLang="en-US" sz="4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Text Box 3"/>
          <p:cNvSpPr>
            <a:spLocks noChangeArrowheads="1"/>
          </p:cNvSpPr>
          <p:nvPr/>
        </p:nvSpPr>
        <p:spPr bwMode="auto">
          <a:xfrm>
            <a:off x="1005840" y="10111105"/>
            <a:ext cx="8766810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子女的教育费用？	</a:t>
            </a:r>
            <a:endParaRPr lang="zh-CN" altLang="en-US" sz="4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1" name="Text Box 5"/>
          <p:cNvSpPr>
            <a:spLocks noChangeArrowheads="1"/>
          </p:cNvSpPr>
          <p:nvPr/>
        </p:nvSpPr>
        <p:spPr bwMode="auto">
          <a:xfrm>
            <a:off x="994410" y="11181080"/>
            <a:ext cx="9766300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algn="l">
              <a:spcBef>
                <a:spcPct val="50000"/>
              </a:spcBef>
            </a:pPr>
            <a:r>
              <a:rPr lang="zh-CN" altLang="en-US" sz="44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每月的生活费用？	</a:t>
            </a:r>
            <a:endParaRPr lang="zh-CN" altLang="en-US" sz="44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" grpId="0"/>
      <p:bldP spid="9232" grpId="0"/>
      <p:bldP spid="9230" grpId="0"/>
      <p:bldP spid="9228" grpId="0"/>
      <p:bldP spid="18" grpId="0"/>
      <p:bldP spid="19" grpId="0"/>
      <p:bldP spid="20" grpId="0"/>
      <p:bldP spid="21" grpId="0"/>
      <p:bldP spid="9226" grpId="1"/>
      <p:bldP spid="9232" grpId="1"/>
      <p:bldP spid="9230" grpId="1"/>
      <p:bldP spid="9228" grpId="1"/>
      <p:bldP spid="18" grpId="1"/>
      <p:bldP spid="19" grpId="1"/>
      <p:bldP spid="20" grpId="1"/>
      <p:bldP spid="2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/>
        </p:nvSpPr>
        <p:spPr>
          <a:xfrm>
            <a:off x="4348480" y="1478915"/>
            <a:ext cx="15687040" cy="2475230"/>
          </a:xfrm>
          <a:prstGeom prst="rect">
            <a:avLst/>
          </a:prstGeom>
          <a:noFill/>
          <a:ln>
            <a:noFill/>
          </a:ln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9144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  <a:sym typeface="Calibri" panose="020F0502020204030204" pitchFamily="34" charset="0"/>
              </a:defRPr>
            </a:lvl1pPr>
            <a:lvl2pPr marL="9144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9144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9144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9144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13716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18288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22860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27432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/>
            <a:r>
              <a:rPr lang="zh-CN" alt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保障的意义</a:t>
            </a:r>
            <a:endParaRPr lang="zh-CN" alt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291" name="Picture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92125" y="3954145"/>
            <a:ext cx="12022455" cy="91700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3362940" y="6939915"/>
            <a:ext cx="86893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防范家庭财务因为意外和疾病的发生而瞬间坍塌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保持对于他人的责任与爱一直持续下去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/>
        </p:nvSpPr>
        <p:spPr>
          <a:xfrm>
            <a:off x="4348480" y="1478915"/>
            <a:ext cx="15687040" cy="2475230"/>
          </a:xfrm>
          <a:prstGeom prst="rect">
            <a:avLst/>
          </a:prstGeom>
          <a:noFill/>
          <a:ln>
            <a:noFill/>
          </a:ln>
        </p:spPr>
        <p:txBody>
          <a:bodyPr>
            <a:scene3d>
              <a:camera prst="orthographicFront"/>
              <a:lightRig rig="threePt" dir="t"/>
            </a:scene3d>
          </a:bodyPr>
          <a:lstStyle>
            <a:lvl1pPr marL="9144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  <a:sym typeface="Calibri" panose="020F0502020204030204" pitchFamily="34" charset="0"/>
              </a:defRPr>
            </a:lvl1pPr>
            <a:lvl2pPr marL="9144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9144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9144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9144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13716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18288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22860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2743200" indent="-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/>
            <a:r>
              <a:rPr lang="zh-CN" altLang="en-US" sz="9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人生的两大风险</a:t>
            </a:r>
            <a:endParaRPr lang="zh-CN" altLang="en-US" sz="9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98065" y="3420745"/>
            <a:ext cx="170338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/>
            <a:r>
              <a:rPr lang="zh-CN" altLang="zh-CN" sz="3200" b="1" dirty="0">
                <a:latin typeface="微软雅黑" panose="020B0503020204020204" charset="-122"/>
                <a:ea typeface="微软雅黑" panose="020B0503020204020204" charset="-122"/>
              </a:rPr>
              <a:t>其实对于一个家庭来讲，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家庭要</a:t>
            </a:r>
            <a:r>
              <a:rPr lang="zh-CN" altLang="zh-CN" sz="3200" b="1" dirty="0">
                <a:latin typeface="微软雅黑" panose="020B0503020204020204" charset="-122"/>
                <a:ea typeface="微软雅黑" panose="020B0503020204020204" charset="-122"/>
              </a:rPr>
              <a:t>面临的财务风险无非就两个：一个是收入</a:t>
            </a:r>
            <a:r>
              <a:rPr lang="zh-CN" altLang="zh-CN" sz="32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永久中断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（身故）</a:t>
            </a:r>
            <a:r>
              <a:rPr lang="zh-CN" altLang="zh-CN" sz="3200" b="1" dirty="0">
                <a:latin typeface="微软雅黑" panose="020B0503020204020204" charset="-122"/>
                <a:ea typeface="微软雅黑" panose="020B0503020204020204" charset="-122"/>
              </a:rPr>
              <a:t>，一个是收入</a:t>
            </a:r>
            <a:r>
              <a:rPr lang="zh-CN" altLang="zh-CN" sz="32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一时中断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（重大疾病）</a:t>
            </a:r>
            <a:r>
              <a:rPr lang="zh-CN" altLang="zh-CN" sz="32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lvl="0" algn="l"/>
            <a:endParaRPr lang="zh-CN" altLang="en-US" sz="32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0575" y="5800090"/>
            <a:ext cx="8231505" cy="7482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245" y="5800090"/>
            <a:ext cx="8998585" cy="748284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0990" y="5417820"/>
            <a:ext cx="18288635" cy="67392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国家统计局公布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年数据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年末中国大陆全年死亡人口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993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万人，而死于癌症的病例为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229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万例，不含其它重大疾病死亡人数！也就是说，我国每天有超过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万人确诊癌症，平均每分钟有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个人得癌症。</a:t>
            </a:r>
            <a:endParaRPr lang="en-US" altLang="zh-CN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中国癌症发病率，死亡率全球第一</a:t>
            </a:r>
            <a:endParaRPr lang="en-US" altLang="zh-CN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因癌症导致死亡的人数达到每年死亡人口的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23.1%</a:t>
            </a:r>
            <a:endParaRPr lang="en-US" altLang="zh-CN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因意外导致身故的比例达到死亡人口的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因疾病导致身故的比例却达到死亡人口的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90%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lang="en-US" altLang="zh-CN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3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990" y="1716405"/>
            <a:ext cx="20389850" cy="35020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国家统计局2015年的这个数据你知道吗？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1725295"/>
            <a:ext cx="22890480" cy="1164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22040" y="3564255"/>
            <a:ext cx="1727390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疾病或者意外都有可能导致身故，而这样的不幸一旦发生在</a:t>
            </a:r>
            <a:r>
              <a:rPr lang="zh-CN" altLang="en-US" sz="5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家庭支柱</a:t>
            </a:r>
            <a:r>
              <a:rPr lang="zh-CN" altLang="en-US" sz="5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身上，家庭永久失去收入来源。</a:t>
            </a:r>
            <a:endParaRPr lang="en-US" altLang="zh-CN" sz="5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5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5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一个人的不幸将是整个家庭的不幸，因为作为家庭的主要经济来源，即便人不在了，要</a:t>
            </a:r>
            <a:r>
              <a:rPr lang="zh-CN" altLang="en-US" sz="5400" b="1" dirty="0">
                <a:solidFill>
                  <a:schemeClr val="accent4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承担的责任</a:t>
            </a:r>
            <a:r>
              <a:rPr lang="zh-CN" altLang="en-US" sz="5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是不会因此而消失的！</a:t>
            </a:r>
            <a:endParaRPr lang="zh-CN" altLang="en-US" sz="5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95" y="2266950"/>
            <a:ext cx="15588615" cy="91198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382365" y="4597400"/>
            <a:ext cx="6882765" cy="45218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    2018年亚洲癌症发病率将近50%，死亡率将近60%，均排在全球第一位</a:t>
            </a:r>
            <a:endParaRPr kumimoji="0" lang="en-US" altLang="zh-CN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    此外，在1810万新增癌症病例中，男性约950万，其中亚洲男性占发病总数的近一半，死亡率占60%；女性约860万，亚洲女性发病率占47.5%，死亡率略过一半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。</a:t>
            </a:r>
            <a:endParaRPr kumimoji="0" lang="en-US" altLang="zh-CN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685" y="1400810"/>
            <a:ext cx="10425430" cy="54584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506325" y="4328160"/>
            <a:ext cx="10400665" cy="41529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  </a:t>
            </a:r>
            <a:r>
              <a:rPr kumimoji="0" lang="zh-CN" altLang="en-US" sz="4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全球癌症发病率前五的分别是</a:t>
            </a:r>
            <a:r>
              <a:rPr kumimoji="0" lang="en-US" altLang="zh-CN" sz="4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:</a:t>
            </a:r>
            <a:r>
              <a:rPr kumimoji="0" lang="zh-CN" altLang="en-US" sz="4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肺癌、乳腺癌、结肠直肠癌、前列腺癌、胃癌</a:t>
            </a:r>
            <a:endParaRPr kumimoji="0" lang="zh-CN" altLang="en-US" sz="4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   而在中国，肺癌的发病率也是最高的。此外，男性胃癌、肝癌、结直肠癌、食管癌；女性乳腺癌、结直肠癌、甲状腺癌、胃癌等也较为高发。</a:t>
            </a:r>
            <a:endParaRPr kumimoji="0" lang="zh-CN" altLang="en-US" sz="4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0" y="6627495"/>
            <a:ext cx="10343515" cy="70237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41020" y="1759585"/>
            <a:ext cx="22833965" cy="117894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63800" y="2237740"/>
            <a:ext cx="18202910" cy="95091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4800" b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疾病并不可怕</a:t>
            </a:r>
            <a:endParaRPr lang="zh-CN" altLang="en-US" sz="4400" b="0" dirty="0">
              <a:solidFill>
                <a:schemeClr val="accent4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随着科学水平的进步，大病的治愈率逐年提高，根据卫生组织的统计</a:t>
            </a:r>
            <a:endParaRPr lang="zh-CN" altLang="en-US" sz="36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对于恶性肿瘤：</a:t>
            </a:r>
            <a:endParaRPr lang="zh-CN" altLang="en-US" sz="36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三分之一可以预防</a:t>
            </a:r>
            <a:endParaRPr lang="zh-CN" altLang="en-US" sz="36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三分之一可以治愈</a:t>
            </a:r>
            <a:endParaRPr lang="zh-CN" altLang="en-US" sz="36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三分之一可以通过治疗延长寿命</a:t>
            </a:r>
            <a:endParaRPr lang="zh-CN" altLang="en-US" sz="36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36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随着科技发展：</a:t>
            </a:r>
            <a:endParaRPr lang="zh-CN" altLang="en-US" sz="36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许多疾病可以得到及早的预防和控制</a:t>
            </a:r>
            <a:endParaRPr lang="zh-CN" altLang="en-US" sz="36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克隆技术将来有望在动物身上为我们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部分器官，以备需要时进行移植使用</a:t>
            </a:r>
            <a:endParaRPr lang="zh-CN" altLang="en-US" sz="36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人们发明了许多具有奇效的基因药品，有专家预测艾滋病将在</a:t>
            </a:r>
            <a:r>
              <a:rPr lang="en-US" altLang="zh-CN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36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年内被攻克</a:t>
            </a:r>
            <a:endParaRPr lang="zh-CN" altLang="en-US" sz="36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hanks"/>
          <p:cNvSpPr txBox="1"/>
          <p:nvPr/>
        </p:nvSpPr>
        <p:spPr>
          <a:xfrm>
            <a:off x="7686860" y="5004098"/>
            <a:ext cx="9010279" cy="2564805"/>
          </a:xfrm>
          <a:prstGeom prst="rect">
            <a:avLst/>
          </a:prstGeom>
          <a:ln w="12700">
            <a:miter lim="400000"/>
          </a:ln>
          <a:effectLst>
            <a:outerShdw blurRad="127000" dist="127000" dir="5400000" rotWithShape="0">
              <a:srgbClr val="075C4C">
                <a:alpha val="20000"/>
              </a:srgbClr>
            </a:outerShdw>
          </a:effectLst>
        </p:spPr>
        <p:txBody>
          <a:bodyPr wrap="none" lIns="50800" tIns="50800" rIns="50800" bIns="50800" anchor="ctr">
            <a:spAutoFit/>
          </a:bodyPr>
          <a:lstStyle>
            <a:lvl1pPr>
              <a:defRPr sz="16000" cap="all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1" name="成组"/>
          <p:cNvGrpSpPr/>
          <p:nvPr/>
        </p:nvGrpSpPr>
        <p:grpSpPr>
          <a:xfrm>
            <a:off x="7479585" y="7742784"/>
            <a:ext cx="9424831" cy="872034"/>
            <a:chOff x="0" y="52934"/>
            <a:chExt cx="9424830" cy="872033"/>
          </a:xfrm>
        </p:grpSpPr>
        <p:sp>
          <p:nvSpPr>
            <p:cNvPr id="168" name="谢谢观看"/>
            <p:cNvSpPr txBox="1"/>
            <p:nvPr/>
          </p:nvSpPr>
          <p:spPr>
            <a:xfrm>
              <a:off x="3378716" y="52934"/>
              <a:ext cx="2667397" cy="8720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76200" dist="101600" dir="5400000" rotWithShape="0">
                <a:srgbClr val="075C4C">
                  <a:alpha val="20000"/>
                </a:srgbClr>
              </a:outerShdw>
            </a:effec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 b="0" cap="all">
                  <a:solidFill>
                    <a:srgbClr val="FFFFFF"/>
                  </a:solidFill>
                  <a:latin typeface="Alibaba-PuHuiTi-M"/>
                  <a:ea typeface="Alibaba-PuHuiTi-M"/>
                  <a:cs typeface="Alibaba-PuHuiTi-M"/>
                  <a:sym typeface="Alibaba-PuHuiTi-M"/>
                </a:defRPr>
              </a:lvl1pPr>
            </a:lstStyle>
            <a:p>
              <a:r>
                <a:rPr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谢谢观看</a:t>
              </a:r>
              <a:endPara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69" name="矩形2.png" descr="矩形2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437096"/>
              <a:ext cx="3246359" cy="13440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0" name="矩形2.png" descr="矩形2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6178470" y="437096"/>
              <a:ext cx="3246360" cy="13440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WPS 演示</Application>
  <PresentationFormat>自定义</PresentationFormat>
  <Paragraphs>97</Paragraphs>
  <Slides>15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7" baseType="lpstr">
      <vt:lpstr>Arial</vt:lpstr>
      <vt:lpstr>宋体</vt:lpstr>
      <vt:lpstr>Wingdings</vt:lpstr>
      <vt:lpstr>Helvetica Neue</vt:lpstr>
      <vt:lpstr>Helvetica Neue Medium</vt:lpstr>
      <vt:lpstr>Helvetica Neue Light</vt:lpstr>
      <vt:lpstr>Alibaba-PuHuiTi-R</vt:lpstr>
      <vt:lpstr>阿里巴巴普惠体-B</vt:lpstr>
      <vt:lpstr>Alibaba-PuHuiTi-M</vt:lpstr>
      <vt:lpstr>微软雅黑</vt:lpstr>
      <vt:lpstr>Alibaba PuHuiTi</vt:lpstr>
      <vt:lpstr>Segoe Print</vt:lpstr>
      <vt:lpstr>Arial Unicode MS</vt:lpstr>
      <vt:lpstr>冬青黑体简体中文 W3</vt:lpstr>
      <vt:lpstr>微软雅黑 Light</vt:lpstr>
      <vt:lpstr>黑体</vt:lpstr>
      <vt:lpstr>Arial</vt:lpstr>
      <vt:lpstr>Calibri</vt:lpstr>
      <vt:lpstr>Calibri Light</vt:lpstr>
      <vt:lpstr>Helvetica Neue Medium</vt:lpstr>
      <vt:lpstr>Calibri</vt:lpstr>
      <vt:lpstr>White</vt:lpstr>
      <vt:lpstr>PowerPoint 演示文稿</vt:lpstr>
      <vt:lpstr>你对保险最初的印象？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melinda.zhou</cp:lastModifiedBy>
  <cp:revision>37</cp:revision>
  <dcterms:created xsi:type="dcterms:W3CDTF">2020-04-15T08:54:47Z</dcterms:created>
  <dcterms:modified xsi:type="dcterms:W3CDTF">2020-04-15T09:24:15Z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2052-10.8.2.6666</vt:lpwstr>
  </property>
</Properties>
</file>