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67" r:id="rId3"/>
    <p:sldId id="258" r:id="rId4"/>
    <p:sldId id="259" r:id="rId5"/>
    <p:sldId id="296" r:id="rId6"/>
    <p:sldId id="350" r:id="rId7"/>
    <p:sldId id="351" r:id="rId8"/>
    <p:sldId id="352" r:id="rId9"/>
    <p:sldId id="353" r:id="rId10"/>
    <p:sldId id="354" r:id="rId11"/>
    <p:sldId id="355" r:id="rId12"/>
    <p:sldId id="356" r:id="rId13"/>
    <p:sldId id="357" r:id="rId14"/>
    <p:sldId id="358" r:id="rId15"/>
    <p:sldId id="359" r:id="rId16"/>
    <p:sldId id="360" r:id="rId17"/>
    <p:sldId id="361" r:id="rId18"/>
    <p:sldId id="362" r:id="rId19"/>
    <p:sldId id="364" r:id="rId20"/>
    <p:sldId id="365" r:id="rId21"/>
    <p:sldId id="366" r:id="rId22"/>
    <p:sldId id="367" r:id="rId23"/>
    <p:sldId id="368" r:id="rId24"/>
    <p:sldId id="266" r:id="rId2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521415D9-36F7-43E2-AB2F-B90AF26B5E84}">
      <p14:sectionLst xmlns:p14="http://schemas.microsoft.com/office/powerpoint/2010/main">
        <p14:section name="封面" id="{FDE87967-6879-154B-BA6F-F9539DB3CEF1}">
          <p14:sldIdLst>
            <p14:sldId id="256"/>
            <p14:sldId id="267"/>
            <p14:sldId id="258"/>
            <p14:sldId id="259"/>
            <p14:sldId id="296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4"/>
            <p14:sldId id="365"/>
            <p14:sldId id="366"/>
            <p14:sldId id="367"/>
            <p14:sldId id="368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D6B7"/>
    <a:srgbClr val="FFF8D0"/>
    <a:srgbClr val="FFE6A5"/>
    <a:srgbClr val="656BFF"/>
    <a:srgbClr val="FEB350"/>
    <a:srgbClr val="FD7982"/>
    <a:srgbClr val="6D53FF"/>
    <a:srgbClr val="6700FF"/>
    <a:srgbClr val="1CB9FF"/>
    <a:srgbClr val="1295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74"/>
    <p:restoredTop sz="94689"/>
  </p:normalViewPr>
  <p:slideViewPr>
    <p:cSldViewPr snapToGrid="0" snapToObjects="1">
      <p:cViewPr>
        <p:scale>
          <a:sx n="55" d="100"/>
          <a:sy n="55" d="100"/>
        </p:scale>
        <p:origin x="600" y="160"/>
      </p:cViewPr>
      <p:guideLst>
        <p:guide orient="horz" pos="4320"/>
        <p:guide pos="76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" name="Shape 3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4588831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97046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 smtClean="0"/>
              <a:t>段落文字样式</a:t>
            </a:r>
            <a:endParaRPr kumimoji="1" lang="en-US" altLang="zh-CN" dirty="0" smtClean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32531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文本"/>
          <p:cNvSpPr txBox="1">
            <a:spLocks noGrp="1"/>
          </p:cNvSpPr>
          <p:nvPr>
            <p:ph type="title"/>
          </p:nvPr>
        </p:nvSpPr>
        <p:spPr>
          <a:xfrm>
            <a:off x="1778000" y="2298700"/>
            <a:ext cx="20828000" cy="4648200"/>
          </a:xfrm>
          <a:prstGeom prst="rect">
            <a:avLst/>
          </a:prstGeom>
        </p:spPr>
        <p:txBody>
          <a:bodyPr anchor="b"/>
          <a:lstStyle/>
          <a:p>
            <a:r>
              <a:t>标题文本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778000" y="7073900"/>
            <a:ext cx="20828000" cy="15875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5400"/>
            </a:lvl1pPr>
            <a:lvl2pPr marL="0" indent="0" algn="ctr">
              <a:spcBef>
                <a:spcPts val="0"/>
              </a:spcBef>
              <a:buSzTx/>
              <a:buNone/>
              <a:defRPr sz="5400"/>
            </a:lvl2pPr>
            <a:lvl3pPr marL="0" indent="0" algn="ctr">
              <a:spcBef>
                <a:spcPts val="0"/>
              </a:spcBef>
              <a:buSzTx/>
              <a:buNone/>
              <a:defRPr sz="5400"/>
            </a:lvl3pPr>
            <a:lvl4pPr marL="0" indent="0" algn="ctr">
              <a:spcBef>
                <a:spcPts val="0"/>
              </a:spcBef>
              <a:buSzTx/>
              <a:buNone/>
              <a:defRPr sz="5400"/>
            </a:lvl4pPr>
            <a:lvl5pPr marL="0" indent="0" algn="ctr">
              <a:spcBef>
                <a:spcPts val="0"/>
              </a:spcBef>
              <a:buSzTx/>
              <a:buNone/>
              <a:defRPr sz="5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空白 拷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组7.jpg" descr="组7.jp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组3.jpg" descr="组3.jp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4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63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7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90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54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17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81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44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5080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715000" marR="0" indent="-635000" algn="l" defTabSz="825500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jp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pt主标题内容"/>
          <p:cNvSpPr txBox="1"/>
          <p:nvPr/>
        </p:nvSpPr>
        <p:spPr>
          <a:xfrm>
            <a:off x="12140703" y="5539729"/>
            <a:ext cx="102592" cy="2103140"/>
          </a:xfrm>
          <a:prstGeom prst="rect">
            <a:avLst/>
          </a:prstGeom>
          <a:ln w="12700">
            <a:miter lim="4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3000" cap="all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endParaRPr b="0" dirty="0">
              <a:latin typeface="阿里巴巴普惠体-B"/>
              <a:ea typeface="阿里巴巴普惠体-B"/>
              <a:cs typeface="阿里巴巴普惠体-B"/>
            </a:endParaRPr>
          </a:p>
        </p:txBody>
      </p:sp>
      <p:sp>
        <p:nvSpPr>
          <p:cNvPr id="39" name="演讲人：李xx"/>
          <p:cNvSpPr txBox="1"/>
          <p:nvPr/>
        </p:nvSpPr>
        <p:spPr>
          <a:xfrm>
            <a:off x="10858304" y="7742783"/>
            <a:ext cx="2667397" cy="872034"/>
          </a:xfrm>
          <a:prstGeom prst="rect">
            <a:avLst/>
          </a:prstGeom>
          <a:ln w="12700">
            <a:miter lim="400000"/>
          </a:ln>
          <a:effectLst>
            <a:outerShdw blurRad="76200" dist="101600" dir="5400000" rotWithShape="0">
              <a:srgbClr val="075C4C">
                <a:alpha val="2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5000" b="0" cap="all">
                <a:solidFill>
                  <a:srgbClr val="FFFFFF"/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保险课堂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科学保障  幸福一生"/>
          <p:cNvSpPr txBox="1"/>
          <p:nvPr/>
        </p:nvSpPr>
        <p:spPr>
          <a:xfrm>
            <a:off x="9665095" y="11283032"/>
            <a:ext cx="5066511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lvl="1" algn="l">
              <a:defRPr sz="3200" b="0" spc="960">
                <a:solidFill>
                  <a:srgbClr val="FFFFFF"/>
                </a:solidFill>
                <a:latin typeface="Alibaba PuHuiTi"/>
                <a:ea typeface="Alibaba PuHuiTi"/>
                <a:cs typeface="Alibaba PuHuiTi"/>
                <a:sym typeface="Alibaba PuHuiTi"/>
              </a:defRPr>
            </a:pPr>
            <a:r>
              <a:rPr sz="3200" b="0" dirty="0" smtClean="0">
                <a:latin typeface="微软雅黑"/>
                <a:ea typeface="微软雅黑"/>
                <a:cs typeface="微软雅黑"/>
              </a:rPr>
              <a:t>科学保障  幸福一生</a:t>
            </a:r>
            <a:endParaRPr sz="3200" b="0" dirty="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1" name="矩形2.png" descr="矩形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18943" y="11537032"/>
            <a:ext cx="3987801" cy="165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矩形2.png" descr="矩形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14877256" y="11537032"/>
            <a:ext cx="3987801" cy="16510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6" name="成组"/>
          <p:cNvGrpSpPr/>
          <p:nvPr/>
        </p:nvGrpSpPr>
        <p:grpSpPr>
          <a:xfrm>
            <a:off x="10912164" y="2662932"/>
            <a:ext cx="2559672" cy="2559671"/>
            <a:chOff x="0" y="0"/>
            <a:chExt cx="2559670" cy="2559670"/>
          </a:xfrm>
        </p:grpSpPr>
        <p:sp>
          <p:nvSpPr>
            <p:cNvPr id="43" name="圆角矩形"/>
            <p:cNvSpPr/>
            <p:nvPr/>
          </p:nvSpPr>
          <p:spPr>
            <a:xfrm>
              <a:off x="124383" y="124383"/>
              <a:ext cx="2310904" cy="2310904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4" name="圆角矩形"/>
            <p:cNvSpPr/>
            <p:nvPr/>
          </p:nvSpPr>
          <p:spPr>
            <a:xfrm>
              <a:off x="0" y="0"/>
              <a:ext cx="2559671" cy="2559671"/>
            </a:xfrm>
            <a:prstGeom prst="roundRect">
              <a:avLst>
                <a:gd name="adj" fmla="val 15000"/>
              </a:avLst>
            </a:prstGeom>
            <a:noFill/>
            <a:ln w="127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pic>
          <p:nvPicPr>
            <p:cNvPr id="45" name="图像" descr="图像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542197" y="412173"/>
              <a:ext cx="1475277" cy="173532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" name="文本框 1"/>
          <p:cNvSpPr txBox="1"/>
          <p:nvPr/>
        </p:nvSpPr>
        <p:spPr>
          <a:xfrm>
            <a:off x="5248711" y="5821028"/>
            <a:ext cx="13783983" cy="210314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zh-CN" altLang="en-US" sz="13000" dirty="0" smtClean="0">
                <a:solidFill>
                  <a:schemeClr val="bg1"/>
                </a:solidFill>
                <a:effectLst>
                  <a:outerShdw blurRad="76200" dist="38100" dir="5400000" algn="t" rotWithShape="0">
                    <a:srgbClr val="179479">
                      <a:alpha val="99000"/>
                    </a:srgbClr>
                  </a:outerShdw>
                </a:effectLst>
                <a:latin typeface="微软雅黑"/>
                <a:ea typeface="微软雅黑"/>
                <a:cs typeface="微软雅黑"/>
              </a:rPr>
              <a:t>保险基础知识</a:t>
            </a:r>
            <a:endParaRPr kumimoji="0" lang="zh-CN" altLang="en-US" sz="30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目录"/>
          <p:cNvSpPr txBox="1"/>
          <p:nvPr/>
        </p:nvSpPr>
        <p:spPr>
          <a:xfrm>
            <a:off x="4219447" y="5929841"/>
            <a:ext cx="3077766" cy="18876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1600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dirty="0"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57" name="标题1"/>
          <p:cNvSpPr txBox="1"/>
          <p:nvPr/>
        </p:nvSpPr>
        <p:spPr>
          <a:xfrm>
            <a:off x="13189730" y="4042317"/>
            <a:ext cx="3605154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solidFill>
                  <a:srgbClr val="000000">
                    <a:alpha val="80000"/>
                  </a:srgbClr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pPr algn="l"/>
            <a:r>
              <a:rPr lang="en-US" altLang="zh-CN" dirty="0" smtClean="0">
                <a:latin typeface="微软雅黑"/>
                <a:ea typeface="微软雅黑"/>
                <a:cs typeface="微软雅黑"/>
              </a:rPr>
              <a:t>1</a:t>
            </a:r>
            <a:r>
              <a:rPr lang="en-US" altLang="zh-CN" dirty="0" smtClean="0">
                <a:latin typeface="微软雅黑"/>
                <a:ea typeface="微软雅黑"/>
                <a:cs typeface="微软雅黑"/>
              </a:rPr>
              <a:t>.</a:t>
            </a: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初步认识保险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12234" y="7889686"/>
            <a:ext cx="2730307" cy="56425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C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A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T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A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L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O</a:t>
            </a:r>
            <a:r>
              <a:rPr kumimoji="0" lang="zh-CN" altLang="en-US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 </a:t>
            </a:r>
            <a:r>
              <a:rPr kumimoji="0" lang="en-US" altLang="zh-CN" sz="3000" b="0" i="0" u="none" strike="noStrike" cap="none" spc="0" normalizeH="0" baseline="0" dirty="0" smtClean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FillTx/>
                <a:latin typeface="微软雅黑"/>
                <a:ea typeface="微软雅黑"/>
                <a:cs typeface="微软雅黑"/>
                <a:sym typeface="Helvetica Neue"/>
              </a:rPr>
              <a:t>G</a:t>
            </a:r>
          </a:p>
        </p:txBody>
      </p:sp>
      <p:sp>
        <p:nvSpPr>
          <p:cNvPr id="17" name="标题1"/>
          <p:cNvSpPr txBox="1"/>
          <p:nvPr/>
        </p:nvSpPr>
        <p:spPr>
          <a:xfrm>
            <a:off x="13189730" y="5832273"/>
            <a:ext cx="3092193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solidFill>
                  <a:srgbClr val="000000">
                    <a:alpha val="80000"/>
                  </a:srgbClr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pPr algn="l"/>
            <a:r>
              <a:rPr lang="en-US" altLang="zh-CN" dirty="0" smtClean="0">
                <a:latin typeface="微软雅黑"/>
                <a:ea typeface="微软雅黑"/>
                <a:cs typeface="微软雅黑"/>
              </a:rPr>
              <a:t>2</a:t>
            </a:r>
            <a:r>
              <a:rPr lang="en-US" altLang="zh-CN" dirty="0" smtClean="0">
                <a:latin typeface="微软雅黑"/>
                <a:ea typeface="微软雅黑"/>
                <a:cs typeface="微软雅黑"/>
              </a:rPr>
              <a:t>.</a:t>
            </a: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保险的分类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标题1"/>
          <p:cNvSpPr txBox="1"/>
          <p:nvPr/>
        </p:nvSpPr>
        <p:spPr>
          <a:xfrm>
            <a:off x="13189730" y="7622229"/>
            <a:ext cx="3092193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solidFill>
                  <a:srgbClr val="000000">
                    <a:alpha val="80000"/>
                  </a:srgbClr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pPr algn="l"/>
            <a:r>
              <a:rPr lang="en-US" altLang="zh-CN" dirty="0" smtClean="0">
                <a:latin typeface="微软雅黑"/>
                <a:ea typeface="微软雅黑"/>
                <a:cs typeface="微软雅黑"/>
              </a:rPr>
              <a:t>3</a:t>
            </a:r>
            <a:r>
              <a:rPr lang="en-US" altLang="zh-CN" dirty="0" smtClean="0">
                <a:latin typeface="微软雅黑"/>
                <a:ea typeface="微软雅黑"/>
                <a:cs typeface="微软雅黑"/>
              </a:rPr>
              <a:t>.</a:t>
            </a: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保险的条款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标题1"/>
          <p:cNvSpPr txBox="1"/>
          <p:nvPr/>
        </p:nvSpPr>
        <p:spPr>
          <a:xfrm>
            <a:off x="13189730" y="9412185"/>
            <a:ext cx="4631076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solidFill>
                  <a:srgbClr val="000000">
                    <a:alpha val="80000"/>
                  </a:srgbClr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pPr algn="l"/>
            <a:r>
              <a:rPr lang="en-US" altLang="zh-CN" dirty="0" smtClean="0">
                <a:latin typeface="微软雅黑"/>
                <a:ea typeface="微软雅黑"/>
                <a:cs typeface="微软雅黑"/>
              </a:rPr>
              <a:t>4</a:t>
            </a:r>
            <a:r>
              <a:rPr lang="en-US" altLang="zh-CN" dirty="0" smtClean="0">
                <a:latin typeface="微软雅黑"/>
                <a:ea typeface="微软雅黑"/>
                <a:cs typeface="微软雅黑"/>
              </a:rPr>
              <a:t>.</a:t>
            </a: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社保和住房公积金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12234" y="8650943"/>
            <a:ext cx="2584825" cy="119529"/>
          </a:xfrm>
          <a:prstGeom prst="rect">
            <a:avLst/>
          </a:prstGeom>
          <a:solidFill>
            <a:srgbClr val="1CC2AC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9" name="标题1"/>
          <p:cNvSpPr txBox="1"/>
          <p:nvPr/>
        </p:nvSpPr>
        <p:spPr>
          <a:xfrm>
            <a:off x="13189730" y="11202141"/>
            <a:ext cx="5144037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4000" b="0">
                <a:solidFill>
                  <a:srgbClr val="000000">
                    <a:alpha val="80000"/>
                  </a:srgbClr>
                </a:solidFill>
                <a:latin typeface="Alibaba-PuHuiTi-M"/>
                <a:ea typeface="Alibaba-PuHuiTi-M"/>
                <a:cs typeface="Alibaba-PuHuiTi-M"/>
                <a:sym typeface="Alibaba-PuHuiTi-M"/>
              </a:defRPr>
            </a:lvl1pPr>
          </a:lstStyle>
          <a:p>
            <a:pPr algn="l"/>
            <a:r>
              <a:rPr lang="en-US" altLang="zh-CN" dirty="0">
                <a:latin typeface="微软雅黑"/>
                <a:ea typeface="微软雅黑"/>
                <a:cs typeface="微软雅黑"/>
              </a:rPr>
              <a:t>5</a:t>
            </a:r>
            <a:r>
              <a:rPr lang="en-US" altLang="zh-CN" dirty="0" smtClean="0">
                <a:latin typeface="微软雅黑"/>
                <a:ea typeface="微软雅黑"/>
                <a:cs typeface="微软雅黑"/>
              </a:rPr>
              <a:t>.</a:t>
            </a: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保险产品学习五要素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7435207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一级标题内容"/>
          <p:cNvSpPr txBox="1"/>
          <p:nvPr/>
        </p:nvSpPr>
        <p:spPr>
          <a:xfrm>
            <a:off x="7692878" y="5994847"/>
            <a:ext cx="8566448" cy="2257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1000" cap="all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初步认识保险</a:t>
            </a:r>
            <a:endParaRPr lang="en-US" altLang="zh-CN" dirty="0" smtClean="0">
              <a:latin typeface="微软雅黑"/>
              <a:ea typeface="微软雅黑"/>
              <a:cs typeface="微软雅黑"/>
            </a:endParaRPr>
          </a:p>
          <a:p>
            <a:r>
              <a:rPr lang="zh-CN" altLang="en-US" sz="3000" dirty="0" smtClean="0">
                <a:latin typeface="微软雅黑"/>
                <a:ea typeface="微软雅黑"/>
                <a:cs typeface="微软雅黑"/>
              </a:rPr>
              <a:t>保险的意义与功用</a:t>
            </a:r>
            <a:endParaRPr sz="3000" dirty="0"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66" name="成组"/>
          <p:cNvGrpSpPr/>
          <p:nvPr/>
        </p:nvGrpSpPr>
        <p:grpSpPr>
          <a:xfrm>
            <a:off x="7378700" y="4697338"/>
            <a:ext cx="9626600" cy="1498601"/>
            <a:chOff x="0" y="0"/>
            <a:chExt cx="9626600" cy="1498600"/>
          </a:xfrm>
        </p:grpSpPr>
        <p:sp>
          <p:nvSpPr>
            <p:cNvPr id="63" name="part 01"/>
            <p:cNvSpPr txBox="1"/>
            <p:nvPr/>
          </p:nvSpPr>
          <p:spPr>
            <a:xfrm>
              <a:off x="2903473" y="-1"/>
              <a:ext cx="4073653" cy="1498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8000" cap="all">
                  <a:solidFill>
                    <a:srgbClr val="0BC9BB"/>
                  </a:solidFill>
                  <a:latin typeface="Alibaba-PuHuiTi-R"/>
                  <a:ea typeface="Alibaba-PuHuiTi-R"/>
                  <a:cs typeface="Alibaba-PuHuiTi-R"/>
                  <a:sym typeface="Alibaba-PuHuiTi-R"/>
                </a:defRPr>
              </a:lvl1pPr>
            </a:lstStyle>
            <a:p>
              <a:r>
                <a:t>part 01</a:t>
              </a:r>
            </a:p>
          </p:txBody>
        </p:sp>
        <p:pic>
          <p:nvPicPr>
            <p:cNvPr id="64" name="矩形2拷贝.jpg" descr="矩形2拷贝.jp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692150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5" name="矩形2拷贝.jpg" descr="矩形2拷贝.jp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70" name="成组"/>
          <p:cNvGrpSpPr/>
          <p:nvPr/>
        </p:nvGrpSpPr>
        <p:grpSpPr>
          <a:xfrm>
            <a:off x="11837144" y="9581991"/>
            <a:ext cx="709713" cy="577662"/>
            <a:chOff x="0" y="0"/>
            <a:chExt cx="709712" cy="577661"/>
          </a:xfrm>
        </p:grpSpPr>
        <p:sp>
          <p:nvSpPr>
            <p:cNvPr id="67" name="三角形"/>
            <p:cNvSpPr/>
            <p:nvPr/>
          </p:nvSpPr>
          <p:spPr>
            <a:xfrm rot="10800000" flipH="1">
              <a:off x="0" y="101599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8" name="三角形"/>
            <p:cNvSpPr/>
            <p:nvPr/>
          </p:nvSpPr>
          <p:spPr>
            <a:xfrm rot="10800000" flipH="1">
              <a:off x="0" y="-1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9" name="三角形"/>
            <p:cNvSpPr/>
            <p:nvPr/>
          </p:nvSpPr>
          <p:spPr>
            <a:xfrm>
              <a:off x="116416" y="78090"/>
              <a:ext cx="476879" cy="3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"/>
          <p:cNvSpPr/>
          <p:nvPr/>
        </p:nvSpPr>
        <p:spPr>
          <a:xfrm>
            <a:off x="10147300" y="3760043"/>
            <a:ext cx="4089400" cy="200522"/>
          </a:xfrm>
          <a:prstGeom prst="rect">
            <a:avLst/>
          </a:prstGeom>
          <a:solidFill>
            <a:srgbClr val="13C8B1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75" name="二级标题"/>
          <p:cNvSpPr txBox="1"/>
          <p:nvPr/>
        </p:nvSpPr>
        <p:spPr>
          <a:xfrm>
            <a:off x="7916251" y="1873669"/>
            <a:ext cx="9028113" cy="18946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10000"/>
              </a:lnSpc>
              <a:defRPr sz="8400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保险</a:t>
            </a:r>
            <a:r>
              <a:rPr lang="zh-CN" altLang="en-US" sz="8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88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意义与</a:t>
            </a:r>
            <a:r>
              <a:rPr lang="zh-CN" altLang="en-US" sz="8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功用</a:t>
            </a:r>
            <a:endParaRPr lang="zh-CN" altLang="en-US" sz="8800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09356" y="5360331"/>
            <a:ext cx="15841905" cy="1224116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保险作为 </a:t>
            </a:r>
            <a:r>
              <a:rPr lang="zh-CN" alt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事后的补偿工具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，是通过提供经济补偿，减少预期以外的风险事件对自己或者家庭财务状况造成的冲击，保障你的生活质量不会因为意外风险而急剧下降。</a:t>
            </a:r>
            <a:endParaRPr lang="zh-CN" altLang="en-US" sz="3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09356" y="8176488"/>
            <a:ext cx="16592181" cy="181504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用经济学原理来解释， </a:t>
            </a:r>
            <a:r>
              <a:rPr lang="zh-CN" alt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通过购买保险换取未来</a:t>
            </a:r>
            <a:r>
              <a:rPr lang="zh-CN" altLang="en-US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财务状况</a:t>
            </a:r>
            <a:r>
              <a:rPr lang="zh-CN" alt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更大的确定性。</a:t>
            </a:r>
            <a:r>
              <a:rPr lang="en-US" altLang="zh-CN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所以，保险的本质保障的是财务健康。</a:t>
            </a:r>
            <a:endParaRPr lang="zh-CN" altLang="en-US" sz="3200" dirty="0">
              <a:solidFill>
                <a:schemeClr val="bg1">
                  <a:lumMod val="6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3387411" y="5615713"/>
            <a:ext cx="387419" cy="3566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3387410" y="8347190"/>
            <a:ext cx="387419" cy="356676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noFill/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一级标题内容"/>
          <p:cNvSpPr txBox="1"/>
          <p:nvPr/>
        </p:nvSpPr>
        <p:spPr>
          <a:xfrm>
            <a:off x="8398201" y="6225679"/>
            <a:ext cx="7155805" cy="1795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1000" cap="all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lang="zh-CN" altLang="en-US" dirty="0" smtClean="0">
                <a:latin typeface="微软雅黑"/>
                <a:ea typeface="微软雅黑"/>
                <a:cs typeface="微软雅黑"/>
              </a:rPr>
              <a:t>保险的分类</a:t>
            </a:r>
            <a:endParaRPr dirty="0"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66" name="成组"/>
          <p:cNvGrpSpPr/>
          <p:nvPr/>
        </p:nvGrpSpPr>
        <p:grpSpPr>
          <a:xfrm>
            <a:off x="7378700" y="4779789"/>
            <a:ext cx="9626600" cy="1333698"/>
            <a:chOff x="0" y="82451"/>
            <a:chExt cx="9626600" cy="1333697"/>
          </a:xfrm>
        </p:grpSpPr>
        <p:sp>
          <p:nvSpPr>
            <p:cNvPr id="63" name="part 01"/>
            <p:cNvSpPr txBox="1"/>
            <p:nvPr/>
          </p:nvSpPr>
          <p:spPr>
            <a:xfrm>
              <a:off x="2851586" y="82451"/>
              <a:ext cx="4177427" cy="13336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8000" cap="all">
                  <a:solidFill>
                    <a:srgbClr val="0BC9BB"/>
                  </a:solidFill>
                  <a:latin typeface="Alibaba-PuHuiTi-R"/>
                  <a:ea typeface="Alibaba-PuHuiTi-R"/>
                  <a:cs typeface="Alibaba-PuHuiTi-R"/>
                  <a:sym typeface="Alibaba-PuHuiTi-R"/>
                </a:defRPr>
              </a:lvl1pPr>
            </a:lstStyle>
            <a:p>
              <a:r>
                <a:rPr dirty="0"/>
                <a:t>part </a:t>
              </a:r>
              <a:r>
                <a:rPr dirty="0" smtClean="0"/>
                <a:t>0</a:t>
              </a:r>
              <a:r>
                <a:rPr lang="en-US" altLang="zh-CN" dirty="0" smtClean="0"/>
                <a:t>2</a:t>
              </a:r>
              <a:endParaRPr dirty="0"/>
            </a:p>
          </p:txBody>
        </p:sp>
        <p:pic>
          <p:nvPicPr>
            <p:cNvPr id="64" name="矩形2拷贝.jpg" descr="矩形2拷贝.jp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692150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5" name="矩形2拷贝.jpg" descr="矩形2拷贝.jp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0" y="666749"/>
              <a:ext cx="2705100" cy="1651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70" name="成组"/>
          <p:cNvGrpSpPr/>
          <p:nvPr/>
        </p:nvGrpSpPr>
        <p:grpSpPr>
          <a:xfrm>
            <a:off x="11837144" y="9581991"/>
            <a:ext cx="709713" cy="577662"/>
            <a:chOff x="0" y="0"/>
            <a:chExt cx="709712" cy="577661"/>
          </a:xfrm>
        </p:grpSpPr>
        <p:sp>
          <p:nvSpPr>
            <p:cNvPr id="67" name="三角形"/>
            <p:cNvSpPr/>
            <p:nvPr/>
          </p:nvSpPr>
          <p:spPr>
            <a:xfrm rot="10800000" flipH="1">
              <a:off x="0" y="101599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8" name="三角形"/>
            <p:cNvSpPr/>
            <p:nvPr/>
          </p:nvSpPr>
          <p:spPr>
            <a:xfrm rot="10800000" flipH="1">
              <a:off x="0" y="-1"/>
              <a:ext cx="709713" cy="47606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9" name="三角形"/>
            <p:cNvSpPr/>
            <p:nvPr/>
          </p:nvSpPr>
          <p:spPr>
            <a:xfrm>
              <a:off x="116416" y="78090"/>
              <a:ext cx="476879" cy="3198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21600"/>
                  </a:move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C9B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3200" b="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7715457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"/>
          <p:cNvSpPr/>
          <p:nvPr/>
        </p:nvSpPr>
        <p:spPr>
          <a:xfrm>
            <a:off x="4609079" y="5067299"/>
            <a:ext cx="4945808" cy="3326423"/>
          </a:xfrm>
          <a:prstGeom prst="rect">
            <a:avLst/>
          </a:prstGeom>
          <a:solidFill>
            <a:srgbClr val="13CAA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5000"/>
          </a:p>
        </p:txBody>
      </p:sp>
      <p:sp>
        <p:nvSpPr>
          <p:cNvPr id="103" name="矩形"/>
          <p:cNvSpPr/>
          <p:nvPr/>
        </p:nvSpPr>
        <p:spPr>
          <a:xfrm>
            <a:off x="15605056" y="5067299"/>
            <a:ext cx="4685469" cy="3326423"/>
          </a:xfrm>
          <a:prstGeom prst="rect">
            <a:avLst/>
          </a:prstGeom>
          <a:solidFill>
            <a:srgbClr val="13CAA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5000"/>
          </a:p>
        </p:txBody>
      </p:sp>
      <p:sp>
        <p:nvSpPr>
          <p:cNvPr id="108" name="矩形"/>
          <p:cNvSpPr/>
          <p:nvPr/>
        </p:nvSpPr>
        <p:spPr>
          <a:xfrm>
            <a:off x="10147300" y="3760043"/>
            <a:ext cx="4089400" cy="200522"/>
          </a:xfrm>
          <a:prstGeom prst="rect">
            <a:avLst/>
          </a:prstGeom>
          <a:solidFill>
            <a:srgbClr val="13C8B1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5000"/>
          </a:p>
        </p:txBody>
      </p:sp>
      <p:sp>
        <p:nvSpPr>
          <p:cNvPr id="110" name="水星保持有银保监会颁发的保险代理牌照，致力于为1亿中产家庭提供一站式保障规划服务致力于为1亿中产家庭提供一站式保障规划服务"/>
          <p:cNvSpPr txBox="1"/>
          <p:nvPr/>
        </p:nvSpPr>
        <p:spPr>
          <a:xfrm>
            <a:off x="4925370" y="6170818"/>
            <a:ext cx="4313226" cy="1005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lnSpc>
                <a:spcPct val="120000"/>
              </a:lnSpc>
              <a:defRPr sz="2400" b="0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pPr algn="ctr">
              <a:lnSpc>
                <a:spcPct val="130000"/>
              </a:lnSpc>
              <a:spcBef>
                <a:spcPts val="1270"/>
              </a:spcBef>
            </a:pPr>
            <a:r>
              <a:rPr kumimoji="1"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消费型保险</a:t>
            </a:r>
            <a:endParaRPr kumimoji="1" lang="en-US" altLang="zh-CN" sz="5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二级标题"/>
          <p:cNvSpPr txBox="1"/>
          <p:nvPr/>
        </p:nvSpPr>
        <p:spPr>
          <a:xfrm>
            <a:off x="3962161" y="2985540"/>
            <a:ext cx="15919937" cy="256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lnSpc>
                <a:spcPct val="10000"/>
              </a:lnSpc>
              <a:defRPr sz="8400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lang="en-US" altLang="zh-CN" sz="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2.1</a:t>
            </a:r>
            <a:r>
              <a:rPr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按期末是否存在</a:t>
            </a:r>
            <a:r>
              <a:rPr lang="zh-CN" altLang="en-US" sz="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现金价值</a:t>
            </a:r>
            <a:r>
              <a:rPr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  <a:endParaRPr lang="en-US" altLang="zh-CN" sz="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zh-CN" altLang="en-US" sz="5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水星保持有银保监会颁发的保险代理牌照，致力于为1亿中产家庭提供一站式保障规划服务致力于为1亿中产家庭提供一站式保障规划服务"/>
          <p:cNvSpPr txBox="1"/>
          <p:nvPr/>
        </p:nvSpPr>
        <p:spPr>
          <a:xfrm>
            <a:off x="15791178" y="6170818"/>
            <a:ext cx="4313226" cy="1005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lnSpc>
                <a:spcPct val="120000"/>
              </a:lnSpc>
              <a:defRPr sz="2400" b="0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pPr algn="ctr">
              <a:lnSpc>
                <a:spcPct val="130000"/>
              </a:lnSpc>
              <a:spcBef>
                <a:spcPts val="1270"/>
              </a:spcBef>
            </a:pPr>
            <a:r>
              <a:rPr kumimoji="1"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储蓄型保险</a:t>
            </a:r>
            <a:endParaRPr kumimoji="1" lang="en-US" altLang="zh-CN" sz="5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609079" y="10152347"/>
            <a:ext cx="16375229" cy="18235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两者区别</a:t>
            </a:r>
            <a:r>
              <a:rPr lang="en-US" altLang="zh-CN" sz="2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最终退保时是否存在现金价值，没有现金价值就是</a:t>
            </a:r>
            <a:r>
              <a:rPr lang="zh-CN" altLang="en-US" sz="2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消费型的保险。</a:t>
            </a:r>
          </a:p>
          <a:p>
            <a:pPr algn="l">
              <a:lnSpc>
                <a:spcPct val="150000"/>
              </a:lnSpc>
            </a:pP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现金价值：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退保时可以返还多少钱。 </a:t>
            </a:r>
          </a:p>
          <a:p>
            <a:pPr algn="l">
              <a:lnSpc>
                <a:spcPct val="150000"/>
              </a:lnSpc>
            </a:pP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、消费型现金价值先大后小，储蓄型现金价值逐步增多。</a:t>
            </a:r>
            <a:endParaRPr lang="zh-CN" altLang="en-US" sz="25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62030769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"/>
          <p:cNvSpPr/>
          <p:nvPr/>
        </p:nvSpPr>
        <p:spPr>
          <a:xfrm>
            <a:off x="4609079" y="5067299"/>
            <a:ext cx="4945808" cy="3326423"/>
          </a:xfrm>
          <a:prstGeom prst="rect">
            <a:avLst/>
          </a:prstGeom>
          <a:solidFill>
            <a:srgbClr val="13CAA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5000"/>
          </a:p>
        </p:txBody>
      </p:sp>
      <p:sp>
        <p:nvSpPr>
          <p:cNvPr id="103" name="矩形"/>
          <p:cNvSpPr/>
          <p:nvPr/>
        </p:nvSpPr>
        <p:spPr>
          <a:xfrm>
            <a:off x="15605056" y="5067299"/>
            <a:ext cx="4685469" cy="3326423"/>
          </a:xfrm>
          <a:prstGeom prst="rect">
            <a:avLst/>
          </a:prstGeom>
          <a:solidFill>
            <a:srgbClr val="13CAA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5000"/>
          </a:p>
        </p:txBody>
      </p:sp>
      <p:sp>
        <p:nvSpPr>
          <p:cNvPr id="108" name="矩形"/>
          <p:cNvSpPr/>
          <p:nvPr/>
        </p:nvSpPr>
        <p:spPr>
          <a:xfrm>
            <a:off x="10147300" y="3760043"/>
            <a:ext cx="4089400" cy="200522"/>
          </a:xfrm>
          <a:prstGeom prst="rect">
            <a:avLst/>
          </a:prstGeom>
          <a:solidFill>
            <a:srgbClr val="13C8B1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5000"/>
          </a:p>
        </p:txBody>
      </p:sp>
      <p:sp>
        <p:nvSpPr>
          <p:cNvPr id="110" name="水星保持有银保监会颁发的保险代理牌照，致力于为1亿中产家庭提供一站式保障规划服务致力于为1亿中产家庭提供一站式保障规划服务"/>
          <p:cNvSpPr txBox="1"/>
          <p:nvPr/>
        </p:nvSpPr>
        <p:spPr>
          <a:xfrm>
            <a:off x="4925370" y="6170818"/>
            <a:ext cx="4313226" cy="1005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lnSpc>
                <a:spcPct val="120000"/>
              </a:lnSpc>
              <a:defRPr sz="2400" b="0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pPr algn="ctr">
              <a:lnSpc>
                <a:spcPct val="130000"/>
              </a:lnSpc>
              <a:spcBef>
                <a:spcPts val="1270"/>
              </a:spcBef>
            </a:pPr>
            <a:r>
              <a:rPr kumimoji="1"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财产</a:t>
            </a:r>
            <a:r>
              <a:rPr kumimoji="1"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保险</a:t>
            </a:r>
            <a:endParaRPr kumimoji="1" lang="en-US" altLang="zh-CN" sz="5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二级标题"/>
          <p:cNvSpPr txBox="1"/>
          <p:nvPr/>
        </p:nvSpPr>
        <p:spPr>
          <a:xfrm>
            <a:off x="3962161" y="2985540"/>
            <a:ext cx="15919937" cy="256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lnSpc>
                <a:spcPct val="10000"/>
              </a:lnSpc>
              <a:defRPr sz="8400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lang="en-US" altLang="zh-CN" sz="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2.2</a:t>
            </a:r>
            <a:r>
              <a:rPr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按保险标的分类</a:t>
            </a:r>
            <a:endParaRPr lang="en-US" altLang="zh-CN" sz="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zh-CN" altLang="en-US" sz="5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水星保持有银保监会颁发的保险代理牌照，致力于为1亿中产家庭提供一站式保障规划服务致力于为1亿中产家庭提供一站式保障规划服务"/>
          <p:cNvSpPr txBox="1"/>
          <p:nvPr/>
        </p:nvSpPr>
        <p:spPr>
          <a:xfrm>
            <a:off x="15791178" y="6170818"/>
            <a:ext cx="4313226" cy="1005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lnSpc>
                <a:spcPct val="120000"/>
              </a:lnSpc>
              <a:defRPr sz="2400" b="0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pPr algn="ctr">
              <a:lnSpc>
                <a:spcPct val="130000"/>
              </a:lnSpc>
              <a:spcBef>
                <a:spcPts val="1270"/>
              </a:spcBef>
            </a:pPr>
            <a:r>
              <a:rPr kumimoji="1"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人身</a:t>
            </a:r>
            <a:r>
              <a:rPr kumimoji="1"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保险</a:t>
            </a:r>
            <a:endParaRPr kumimoji="1" lang="en-US" altLang="zh-CN" sz="5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609079" y="10152347"/>
            <a:ext cx="16375229" cy="182357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两者区别</a:t>
            </a:r>
            <a:r>
              <a:rPr lang="en-US" altLang="zh-CN" sz="2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最终退保时是否存在现金价值，没有现金价值就是</a:t>
            </a:r>
            <a:r>
              <a:rPr lang="zh-CN" altLang="en-US" sz="25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消费型的保险。</a:t>
            </a:r>
          </a:p>
          <a:p>
            <a:pPr algn="l">
              <a:lnSpc>
                <a:spcPct val="150000"/>
              </a:lnSpc>
            </a:pP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5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现金价值：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退保时可以返还多少钱。 </a:t>
            </a:r>
          </a:p>
          <a:p>
            <a:pPr algn="l">
              <a:lnSpc>
                <a:spcPct val="150000"/>
              </a:lnSpc>
            </a:pPr>
            <a:r>
              <a:rPr lang="en-US" altLang="zh-CN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、消费型现金价值先大后小，储蓄型现金价值逐步增多。</a:t>
            </a:r>
            <a:endParaRPr lang="zh-CN" altLang="en-US" sz="25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4990257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9"/>
          <p:cNvSpPr txBox="1"/>
          <p:nvPr/>
        </p:nvSpPr>
        <p:spPr>
          <a:xfrm>
            <a:off x="8543424" y="2454718"/>
            <a:ext cx="379429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4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2.2.1</a:t>
            </a:r>
            <a:r>
              <a:rPr lang="zh-CN" altLang="en-US" sz="4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财产保险</a:t>
            </a:r>
          </a:p>
        </p:txBody>
      </p:sp>
      <p:sp>
        <p:nvSpPr>
          <p:cNvPr id="3" name="文本框 42"/>
          <p:cNvSpPr txBox="1"/>
          <p:nvPr/>
        </p:nvSpPr>
        <p:spPr>
          <a:xfrm>
            <a:off x="3202743" y="4384809"/>
            <a:ext cx="14475655" cy="6093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财产损失保险：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以各种有形的物质财产、相关的利益以及其责任为保险标的保险。</a:t>
            </a:r>
            <a:endParaRPr lang="en-US" altLang="zh-CN" sz="2800" spc="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42"/>
          <p:cNvSpPr txBox="1"/>
          <p:nvPr/>
        </p:nvSpPr>
        <p:spPr>
          <a:xfrm>
            <a:off x="3202743" y="6169979"/>
            <a:ext cx="17711224" cy="6093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财产损失保险：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以各种有形的物质财产、相关的利益以及其责任为保险标的保险。</a:t>
            </a:r>
            <a:endParaRPr lang="en-US" altLang="zh-CN" sz="2800" spc="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7"/>
          <p:cNvSpPr txBox="1"/>
          <p:nvPr/>
        </p:nvSpPr>
        <p:spPr>
          <a:xfrm>
            <a:off x="3202743" y="7998943"/>
            <a:ext cx="17711225" cy="6093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信用保险</a:t>
            </a:r>
            <a:r>
              <a:rPr lang="zh-CN" altLang="en-US" sz="2800" spc="5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以信用风险为保险标的的保险。具体的说，它是权利人要求保险人承保对方信用的一种保险。</a:t>
            </a:r>
            <a:endParaRPr lang="en-US" altLang="zh-CN" sz="2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5080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923959" y="2898794"/>
            <a:ext cx="4852117" cy="70788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r>
              <a:rPr lang="en-US" altLang="zh-CN" sz="4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2.2.2</a:t>
            </a:r>
            <a:r>
              <a:rPr lang="zh-CN" altLang="en-US" sz="4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人身保险</a:t>
            </a:r>
          </a:p>
        </p:txBody>
      </p:sp>
      <p:cxnSp>
        <p:nvCxnSpPr>
          <p:cNvPr id="3" name="直线连接符 2"/>
          <p:cNvCxnSpPr/>
          <p:nvPr/>
        </p:nvCxnSpPr>
        <p:spPr>
          <a:xfrm>
            <a:off x="1560376" y="8773322"/>
            <a:ext cx="21579285" cy="30777"/>
          </a:xfrm>
          <a:prstGeom prst="line">
            <a:avLst/>
          </a:prstGeom>
          <a:noFill/>
          <a:ln w="12700" cap="flat">
            <a:solidFill>
              <a:schemeClr val="bg1">
                <a:lumMod val="75000"/>
              </a:schemeClr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椭圆 3"/>
          <p:cNvSpPr/>
          <p:nvPr/>
        </p:nvSpPr>
        <p:spPr>
          <a:xfrm>
            <a:off x="1509087" y="8573370"/>
            <a:ext cx="407377" cy="4306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solidFill>
              <a:srgbClr val="CCA063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518678" y="7452704"/>
            <a:ext cx="1488545" cy="6331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医疗</a:t>
            </a:r>
            <a:r>
              <a:rPr lang="zh-CN" altLang="en-US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险</a:t>
            </a:r>
            <a:endParaRPr lang="zh-CN" altLang="en-US" sz="3200" b="1" dirty="0">
              <a:solidFill>
                <a:schemeClr val="accent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808120" y="7452703"/>
            <a:ext cx="1348013" cy="6331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重疾</a:t>
            </a:r>
            <a:r>
              <a:rPr lang="zh-CN" altLang="en-US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险</a:t>
            </a:r>
            <a:endParaRPr lang="zh-CN" altLang="en-US" sz="3200" b="1" dirty="0">
              <a:solidFill>
                <a:schemeClr val="accent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71398" y="7446130"/>
            <a:ext cx="1770300" cy="64632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寿险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2317012" y="7452705"/>
            <a:ext cx="1442054" cy="6331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意外</a:t>
            </a:r>
            <a:r>
              <a:rPr lang="zh-CN" altLang="en-US" sz="32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险</a:t>
            </a:r>
            <a:endParaRPr lang="zh-CN" altLang="en-US" sz="3200" b="1" dirty="0">
              <a:solidFill>
                <a:schemeClr val="accent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9059263" y="8588759"/>
            <a:ext cx="407377" cy="4306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solidFill>
              <a:srgbClr val="CCA063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284175" y="8588759"/>
            <a:ext cx="407377" cy="4306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solidFill>
              <a:srgbClr val="CCA063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18736406" y="8588759"/>
            <a:ext cx="407377" cy="4306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solidFill>
              <a:srgbClr val="CCA063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12834351" y="8588759"/>
            <a:ext cx="407377" cy="43068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 cap="flat">
            <a:solidFill>
              <a:srgbClr val="CCA063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7586021" y="7452703"/>
            <a:ext cx="2694902" cy="68326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L="0" marR="0" indent="0" defTabSz="914400" rtl="0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理财保险</a:t>
            </a:r>
            <a:endParaRPr lang="zh-CN" altLang="en-US" sz="3200" b="1" dirty="0">
              <a:solidFill>
                <a:schemeClr val="accent2">
                  <a:lumMod val="60000"/>
                  <a:lumOff val="4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5135982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9"/>
          <p:cNvSpPr txBox="1"/>
          <p:nvPr/>
        </p:nvSpPr>
        <p:spPr>
          <a:xfrm>
            <a:off x="9365377" y="2055870"/>
            <a:ext cx="379429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人寿保险</a:t>
            </a:r>
          </a:p>
        </p:txBody>
      </p:sp>
      <p:sp>
        <p:nvSpPr>
          <p:cNvPr id="3" name="文本占位符 2"/>
          <p:cNvSpPr txBox="1">
            <a:spLocks/>
          </p:cNvSpPr>
          <p:nvPr/>
        </p:nvSpPr>
        <p:spPr>
          <a:xfrm>
            <a:off x="2464184" y="3962399"/>
            <a:ext cx="17596680" cy="9753601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1234440" marR="0" indent="-32004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hangingPunct="1"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、寿险，即人寿保险，是一种以人的生死为保险对象的保险。是被保险人在保险责任期内生存或死亡，由保险人根据契约规定给付保险金的一种保险。</a:t>
            </a:r>
          </a:p>
          <a:p>
            <a:pPr hangingPunct="1"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、按照保障期限来划分，寿险可分为</a:t>
            </a:r>
            <a:r>
              <a:rPr lang="zh-CN" altLang="en-US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定期寿险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终身寿险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两全寿险</a:t>
            </a:r>
            <a:r>
              <a:rPr lang="zh-CN" altLang="en-US" sz="2600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保障期限内死亡赔付，期限截止的时候没有死亡，返还所交保费的一定比例。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、年金险：在被保险人生存期间，保险人按照合同约定的金额、方式，在约定的期限内，有规则的、定期的向被保险人给付保险金的保险。年金保险，同样是由被保险人的生存为给付条件的人寿保险。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、万能险，也是终身寿险的一种。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、分红险：保障和投资账户混合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种投资渠道且风险比较低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内部收益率一般在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2% - 3%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不确定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，含有保证现金价值和非保证现金价值两个部分，分红主要来自三个方面：死差益、费差益和利差益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>
              <a:lnSpc>
                <a:spcPct val="150000"/>
              </a:lnSpc>
            </a:pP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、投资连接险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具有一个保障账户和多个投资账户</a:t>
            </a:r>
            <a:r>
              <a:rPr lang="en-US" altLang="zh-CN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2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本金有投资亏损的可能，风险比较大，不建议普通人投资</a:t>
            </a:r>
            <a:endParaRPr lang="en-US" altLang="zh-CN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>
              <a:lnSpc>
                <a:spcPct val="150000"/>
              </a:lnSpc>
            </a:pPr>
            <a:endParaRPr lang="zh-CN" altLang="en-US" sz="2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38684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9"/>
          <p:cNvSpPr txBox="1"/>
          <p:nvPr/>
        </p:nvSpPr>
        <p:spPr>
          <a:xfrm>
            <a:off x="9365377" y="2055870"/>
            <a:ext cx="379429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重大疾病</a:t>
            </a:r>
            <a:r>
              <a:rPr lang="zh-CN" altLang="en-US" sz="40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保险</a:t>
            </a:r>
            <a:endParaRPr lang="zh-CN" altLang="en-US" sz="4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占位符 2"/>
          <p:cNvSpPr txBox="1">
            <a:spLocks/>
          </p:cNvSpPr>
          <p:nvPr/>
        </p:nvSpPr>
        <p:spPr>
          <a:xfrm>
            <a:off x="2782758" y="5002253"/>
            <a:ext cx="16959531" cy="7893132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1234440" marR="0" indent="-32004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hangingPunct="1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重疾险：即重大疾病保险，是由保险公司经办的以特定重大疾病，如恶性肿瘤、急性心肌梗塞、脑中风后遗症等为保障项目，当被保险人患有上述疾病时，由保险公司对所花医疗费用给予固定给付的商业保险行为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、按保险期限划分为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定期重疾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终身重疾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。定期重疾一般是消费型的，现在也有储蓄型的，而终身重疾既有消费型也有储蓄型。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hangingPunct="1">
              <a:lnSpc>
                <a:spcPct val="150000"/>
              </a:lnSpc>
              <a:buFont typeface="Arial" panose="020B0604020202020204"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202293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1280" y="3671179"/>
            <a:ext cx="12593854" cy="8731739"/>
          </a:xfrm>
          <a:prstGeom prst="rect">
            <a:avLst/>
          </a:prstGeom>
        </p:spPr>
      </p:pic>
      <p:sp>
        <p:nvSpPr>
          <p:cNvPr id="3" name="矩形"/>
          <p:cNvSpPr/>
          <p:nvPr/>
        </p:nvSpPr>
        <p:spPr>
          <a:xfrm>
            <a:off x="5851280" y="2185329"/>
            <a:ext cx="12593854" cy="1209430"/>
          </a:xfrm>
          <a:prstGeom prst="rect">
            <a:avLst/>
          </a:prstGeom>
          <a:solidFill>
            <a:srgbClr val="13CAA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5000">
              <a:solidFill>
                <a:sysClr val="windowText" lastClr="00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71483" y="2461749"/>
            <a:ext cx="7078862" cy="65659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zh-CN" altLang="en-US" sz="36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银保监会统一定义的</a:t>
            </a:r>
            <a:r>
              <a:rPr kumimoji="0" lang="en-US" altLang="zh-CN" sz="36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25</a:t>
            </a:r>
            <a:r>
              <a:rPr kumimoji="0" lang="zh-CN" altLang="en-US" sz="3600" b="1" i="0" u="none" strike="noStrike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种重大疾病</a:t>
            </a:r>
            <a:endParaRPr kumimoji="0" lang="zh-CN" altLang="en-US" sz="3600" b="1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6891131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146" y="1969476"/>
            <a:ext cx="15489000" cy="1146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80654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3918" y="1544203"/>
            <a:ext cx="17007619" cy="121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1548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9144" y="2415590"/>
            <a:ext cx="15092179" cy="8772329"/>
          </a:xfrm>
          <a:prstGeom prst="rect">
            <a:avLst/>
          </a:prstGeom>
        </p:spPr>
      </p:pic>
      <p:sp>
        <p:nvSpPr>
          <p:cNvPr id="3" name="文本框 42"/>
          <p:cNvSpPr txBox="1"/>
          <p:nvPr/>
        </p:nvSpPr>
        <p:spPr>
          <a:xfrm>
            <a:off x="4579144" y="12165918"/>
            <a:ext cx="18745575" cy="56560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平安福：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不包含不典型的急性心肌梗塞，轻微脑中风后遗症，冠状动脉介入手术（非开胸手术）</a:t>
            </a:r>
            <a:endParaRPr lang="en-US" altLang="zh-CN" sz="2800" spc="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89822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9"/>
          <p:cNvSpPr txBox="1"/>
          <p:nvPr/>
        </p:nvSpPr>
        <p:spPr>
          <a:xfrm>
            <a:off x="9365377" y="2055870"/>
            <a:ext cx="379429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</a:t>
            </a:r>
            <a:r>
              <a:rPr lang="zh-CN" altLang="en-US" sz="40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保险</a:t>
            </a:r>
            <a:endParaRPr lang="zh-CN" altLang="en-US" sz="4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4562231" y="4252351"/>
            <a:ext cx="17852292" cy="2834571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1234440" marR="0" indent="-32004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indent="0" hangingPunct="1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医疗险可分为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门诊医疗险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住院医疗险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。住院医疗险可以作为重疾险和社保的补充。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22"/>
          <p:cNvSpPr txBox="1"/>
          <p:nvPr/>
        </p:nvSpPr>
        <p:spPr>
          <a:xfrm>
            <a:off x="4562231" y="6441917"/>
            <a:ext cx="1016473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区别</a:t>
            </a:r>
            <a:r>
              <a:rPr lang="zh-CN" altLang="en-US" sz="2800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800" b="1" dirty="0" smtClean="0">
              <a:solidFill>
                <a:schemeClr val="accent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endParaRPr lang="zh-CN" altLang="en-US" sz="2800" b="1" dirty="0">
              <a:solidFill>
                <a:srgbClr val="D8A96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重疾：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提前给付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确诊赔付</a:t>
            </a:r>
          </a:p>
          <a:p>
            <a:pPr algn="l">
              <a:lnSpc>
                <a:spcPct val="150000"/>
              </a:lnSpc>
            </a:pPr>
            <a:r>
              <a:rPr lang="zh-CN" altLang="en-US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医疗：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事后报销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凭发票报销险</a:t>
            </a:r>
            <a:endParaRPr lang="en-US" altLang="zh-CN" sz="2800" spc="5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07727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9"/>
          <p:cNvSpPr txBox="1"/>
          <p:nvPr/>
        </p:nvSpPr>
        <p:spPr>
          <a:xfrm>
            <a:off x="9365377" y="2055870"/>
            <a:ext cx="379429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意外保险</a:t>
            </a:r>
            <a:endParaRPr lang="zh-CN" altLang="en-US" sz="4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2"/>
          <p:cNvSpPr txBox="1">
            <a:spLocks/>
          </p:cNvSpPr>
          <p:nvPr/>
        </p:nvSpPr>
        <p:spPr>
          <a:xfrm>
            <a:off x="4727885" y="5346088"/>
            <a:ext cx="13069278" cy="5251573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1234440" marR="0" indent="-32004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indent="0" hangingPunct="1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意外险包含意外身故／伤残和意外医疗，住院津贴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残疾分为十级，一级伤残最严重也称全残，十级伤残最轻微。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如意外伤残保额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万，十级伤残赔付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万，九级伤残赔付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万，以此类推。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b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877201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9"/>
          <p:cNvSpPr txBox="1"/>
          <p:nvPr/>
        </p:nvSpPr>
        <p:spPr>
          <a:xfrm>
            <a:off x="9365377" y="2055870"/>
            <a:ext cx="379429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理财</a:t>
            </a:r>
            <a:r>
              <a:rPr lang="zh-CN" altLang="en-US" sz="40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保险</a:t>
            </a:r>
            <a:endParaRPr lang="zh-CN" altLang="en-US" sz="4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占位符 2"/>
          <p:cNvSpPr txBox="1">
            <a:spLocks/>
          </p:cNvSpPr>
          <p:nvPr/>
        </p:nvSpPr>
        <p:spPr>
          <a:xfrm>
            <a:off x="4147412" y="3294781"/>
            <a:ext cx="14230224" cy="1025709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1234440" marR="0" indent="-32004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indent="0" hangingPunct="0">
              <a:lnSpc>
                <a:spcPct val="200000"/>
              </a:lnSpc>
              <a:spcBef>
                <a:spcPts val="0"/>
              </a:spcBef>
              <a:buSzTx/>
              <a:buFont typeface="Arial" panose="020B0604020202020204"/>
              <a:buNone/>
            </a:pPr>
            <a:r>
              <a:rPr lang="zh-CN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年金保险：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在被保险人生存期间，保险人按照合同约定的金额、方式，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hangingPunct="0">
              <a:lnSpc>
                <a:spcPct val="200000"/>
              </a:lnSpc>
              <a:spcBef>
                <a:spcPts val="0"/>
              </a:spcBef>
              <a:buSzTx/>
              <a:buFont typeface="Arial" panose="020B0604020202020204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在约定的期限内，有规则的、定期的向被保险人给付保险金的保险。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hangingPunct="0">
              <a:lnSpc>
                <a:spcPct val="200000"/>
              </a:lnSpc>
              <a:spcBef>
                <a:spcPts val="0"/>
              </a:spcBef>
              <a:buSzTx/>
              <a:buFont typeface="Arial" panose="020B0604020202020204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年金保险，同样是由被保险人的生存为给付条件的人寿保险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hangingPunct="0">
              <a:lnSpc>
                <a:spcPct val="200000"/>
              </a:lnSpc>
              <a:spcBef>
                <a:spcPts val="0"/>
              </a:spcBef>
              <a:buSzTx/>
              <a:buFont typeface="Arial" panose="020B0604020202020204"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hangingPunct="0">
              <a:lnSpc>
                <a:spcPct val="200000"/>
              </a:lnSpc>
              <a:spcBef>
                <a:spcPts val="0"/>
              </a:spcBef>
              <a:buSzTx/>
              <a:buFont typeface="Arial" panose="020B0604020202020204"/>
              <a:buNone/>
            </a:pPr>
            <a:r>
              <a:rPr lang="zh-CN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万能险：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有一个保障账户和至少一个投资账户。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hangingPunct="0">
              <a:lnSpc>
                <a:spcPct val="200000"/>
              </a:lnSpc>
              <a:spcBef>
                <a:spcPts val="0"/>
              </a:spcBef>
              <a:buSzTx/>
              <a:buFont typeface="Arial" panose="020B0604020202020204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投资收益率分为低、中、高三档，只能保证最低利率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1.75%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左右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hangingPunct="0">
              <a:lnSpc>
                <a:spcPct val="200000"/>
              </a:lnSpc>
              <a:spcBef>
                <a:spcPts val="0"/>
              </a:spcBef>
              <a:buSzTx/>
              <a:buFont typeface="Arial" panose="020B0604020202020204"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hangingPunct="0">
              <a:lnSpc>
                <a:spcPct val="200000"/>
              </a:lnSpc>
              <a:spcBef>
                <a:spcPts val="0"/>
              </a:spcBef>
              <a:buSzTx/>
              <a:buFont typeface="Arial" panose="020B0604020202020204"/>
              <a:buNone/>
            </a:pPr>
            <a:r>
              <a:rPr lang="zh-CN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分红险：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保障和投资账户混合，有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种投资渠道且风险比较低，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hangingPunct="0">
              <a:lnSpc>
                <a:spcPct val="200000"/>
              </a:lnSpc>
              <a:spcBef>
                <a:spcPts val="0"/>
              </a:spcBef>
              <a:buSzTx/>
              <a:buFont typeface="Arial" panose="020B0604020202020204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内部收益率一般在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2% - 3%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不确定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hangingPunct="0">
              <a:lnSpc>
                <a:spcPct val="200000"/>
              </a:lnSpc>
              <a:spcBef>
                <a:spcPts val="0"/>
              </a:spcBef>
              <a:buSzTx/>
              <a:buFont typeface="Arial" panose="020B0604020202020204"/>
              <a:buNone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hangingPunct="0">
              <a:lnSpc>
                <a:spcPct val="200000"/>
              </a:lnSpc>
              <a:spcBef>
                <a:spcPts val="0"/>
              </a:spcBef>
              <a:buSzTx/>
              <a:buFont typeface="Arial" panose="020B0604020202020204"/>
              <a:buNone/>
            </a:pPr>
            <a:r>
              <a:rPr lang="zh-CN" altLang="en-US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投资连结险：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具有一个保障账户和多个投资账户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本金有投资亏损的可能，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hangingPunct="0">
              <a:lnSpc>
                <a:spcPct val="200000"/>
              </a:lnSpc>
              <a:spcBef>
                <a:spcPts val="0"/>
              </a:spcBef>
              <a:buSzTx/>
              <a:buFont typeface="Arial" panose="020B0604020202020204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风险比较大，不建议普通人投资。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65915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9"/>
          <p:cNvSpPr txBox="1"/>
          <p:nvPr/>
        </p:nvSpPr>
        <p:spPr>
          <a:xfrm>
            <a:off x="9365377" y="2055870"/>
            <a:ext cx="379429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万能险</a:t>
            </a:r>
            <a:endParaRPr lang="zh-CN" altLang="en-US" sz="4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748" y="3778183"/>
            <a:ext cx="9475293" cy="7643215"/>
          </a:xfrm>
          <a:prstGeom prst="rect">
            <a:avLst/>
          </a:prstGeom>
        </p:spPr>
      </p:pic>
      <p:sp>
        <p:nvSpPr>
          <p:cNvPr id="7" name="标题 1"/>
          <p:cNvSpPr txBox="1">
            <a:spLocks/>
          </p:cNvSpPr>
          <p:nvPr/>
        </p:nvSpPr>
        <p:spPr>
          <a:xfrm>
            <a:off x="13159671" y="4840462"/>
            <a:ext cx="7309020" cy="45042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hangingPunct="1"/>
            <a:endParaRPr lang="en-US" altLang="zh-CN" sz="2800" dirty="0">
              <a:solidFill>
                <a:srgbClr val="D8A96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hangingPunct="1"/>
            <a:r>
              <a:rPr lang="zh-CN" altLang="en-US" sz="2800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相当于一年期的保险</a:t>
            </a:r>
            <a:endParaRPr lang="en-US" altLang="zh-CN" sz="2800" dirty="0">
              <a:solidFill>
                <a:srgbClr val="D8A96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hangingPunct="1"/>
            <a:r>
              <a:rPr lang="zh-CN" altLang="en-US" sz="2800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（保障成本逐年增高）</a:t>
            </a:r>
            <a:r>
              <a:rPr lang="en-US" altLang="zh-CN" sz="2800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800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余额宝</a:t>
            </a:r>
            <a:endParaRPr lang="en-US" altLang="zh-CN" sz="2800" dirty="0">
              <a:solidFill>
                <a:srgbClr val="D8A96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hangingPunct="1"/>
            <a:endParaRPr lang="en-US" altLang="zh-CN" sz="2800" dirty="0">
              <a:solidFill>
                <a:srgbClr val="D8A96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hangingPunct="1"/>
            <a:r>
              <a:rPr lang="zh-CN" altLang="en-US" sz="2800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短期退保成本非常高，</a:t>
            </a:r>
            <a:endParaRPr lang="en-US" altLang="zh-CN" sz="2800" dirty="0">
              <a:solidFill>
                <a:srgbClr val="D8A96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hangingPunct="1"/>
            <a:r>
              <a:rPr lang="zh-CN" altLang="en-US" sz="2800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不建议普通家庭持有。</a:t>
            </a:r>
            <a:endParaRPr lang="en-US" altLang="zh-CN" sz="2800" dirty="0">
              <a:solidFill>
                <a:srgbClr val="D8A96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 hangingPunct="1"/>
            <a:endParaRPr lang="zh-CN" altLang="en-US" sz="2800" dirty="0">
              <a:solidFill>
                <a:srgbClr val="D8A967"/>
              </a:solidFill>
            </a:endParaRPr>
          </a:p>
        </p:txBody>
      </p:sp>
      <p:sp>
        <p:nvSpPr>
          <p:cNvPr id="8" name="标题 1"/>
          <p:cNvSpPr txBox="1">
            <a:spLocks/>
          </p:cNvSpPr>
          <p:nvPr/>
        </p:nvSpPr>
        <p:spPr>
          <a:xfrm>
            <a:off x="2479748" y="11421398"/>
            <a:ext cx="15128313" cy="1051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>
            <a:lvl1pPr marL="0" marR="0" indent="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1pPr>
            <a:lvl2pPr marL="0" marR="0" indent="228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2pPr>
            <a:lvl3pPr marL="0" marR="0" indent="457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3pPr>
            <a:lvl4pPr marL="0" marR="0" indent="685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4pPr>
            <a:lvl5pPr marL="0" marR="0" indent="9144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5pPr>
            <a:lvl6pPr marL="0" marR="0" indent="11430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6pPr>
            <a:lvl7pPr marL="0" marR="0" indent="13716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7pPr>
            <a:lvl8pPr marL="0" marR="0" indent="16002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8pPr>
            <a:lvl9pPr marL="0" marR="0" indent="1828800" algn="ctr" defTabSz="584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0" b="0" i="0" u="none" strike="noStrike" cap="none" spc="0" baseline="0">
                <a:ln>
                  <a:noFill/>
                </a:ln>
                <a:solidFill>
                  <a:srgbClr val="FFFFFF"/>
                </a:solidFill>
                <a:uFillTx/>
                <a:latin typeface="+mn-lt"/>
                <a:ea typeface="+mn-ea"/>
                <a:cs typeface="+mn-cs"/>
                <a:sym typeface="Helvetica Light"/>
              </a:defRPr>
            </a:lvl9pPr>
          </a:lstStyle>
          <a:p>
            <a:pPr algn="l" hangingPunct="1"/>
            <a:r>
              <a:rPr lang="zh-CN" altLang="en-US" sz="2800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保费 </a:t>
            </a:r>
            <a:r>
              <a:rPr lang="en-US" altLang="zh-CN" sz="2800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zh-CN" altLang="en-US" sz="2800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初始费用（逐年降低但一直存在） </a:t>
            </a:r>
            <a:r>
              <a:rPr lang="en-US" altLang="zh-CN" sz="2800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800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投资账户的钱 </a:t>
            </a:r>
            <a:r>
              <a:rPr lang="en-US" altLang="zh-CN" sz="2800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2800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保障账户的</a:t>
            </a:r>
            <a:r>
              <a:rPr lang="zh-CN" altLang="en-US" sz="2800" dirty="0" smtClean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钱</a:t>
            </a:r>
            <a:endParaRPr lang="en-US" altLang="zh-CN" sz="2800" dirty="0"/>
          </a:p>
          <a:p>
            <a:pPr algn="l" hangingPunct="1"/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002123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9"/>
          <p:cNvSpPr txBox="1"/>
          <p:nvPr/>
        </p:nvSpPr>
        <p:spPr>
          <a:xfrm>
            <a:off x="9365377" y="2055870"/>
            <a:ext cx="3794294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分红</a:t>
            </a:r>
            <a:r>
              <a:rPr lang="zh-CN" altLang="en-US" sz="4000" spc="3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险</a:t>
            </a:r>
            <a:endParaRPr lang="zh-CN" altLang="en-US" sz="4000" spc="3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443" y="3311999"/>
            <a:ext cx="12930161" cy="6958884"/>
          </a:xfrm>
          <a:prstGeom prst="rect">
            <a:avLst/>
          </a:prstGeom>
        </p:spPr>
      </p:pic>
      <p:sp>
        <p:nvSpPr>
          <p:cNvPr id="9" name="文本占位符 2"/>
          <p:cNvSpPr txBox="1">
            <a:spLocks/>
          </p:cNvSpPr>
          <p:nvPr/>
        </p:nvSpPr>
        <p:spPr>
          <a:xfrm>
            <a:off x="3471783" y="10819125"/>
            <a:ext cx="17348402" cy="2381059"/>
          </a:xfrm>
          <a:prstGeom prst="rect">
            <a:avLst/>
          </a:prstGeom>
        </p:spPr>
        <p:txBody>
          <a:bodyPr>
            <a:norm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1234440" marR="0" indent="-32004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hangingPunct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含有保证现金价值和非保证现金价值两个部分。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保证现金价值指的是退保时可以拿回的钱，非保证现金价值是不确定的分红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不一定能拿到。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hangingPunct="1"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分红主要来自三个方面：死差益、费差益和利差益。保监会规定每年盈利的至少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要分给持单人。</a:t>
            </a:r>
          </a:p>
        </p:txBody>
      </p:sp>
    </p:spTree>
    <p:extLst>
      <p:ext uri="{BB962C8B-B14F-4D97-AF65-F5344CB8AC3E}">
        <p14:creationId xmlns:p14="http://schemas.microsoft.com/office/powerpoint/2010/main" val="7643241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2"/>
          <p:cNvSpPr txBox="1">
            <a:spLocks/>
          </p:cNvSpPr>
          <p:nvPr/>
        </p:nvSpPr>
        <p:spPr>
          <a:xfrm>
            <a:off x="787927" y="2343883"/>
            <a:ext cx="20172935" cy="10082578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indent="-228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723900" marR="0" indent="-2667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1234440" marR="0" indent="-32004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1727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21844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marL="0" indent="0" hangingPunct="1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举例一个极端的例子：</a:t>
            </a:r>
          </a:p>
          <a:p>
            <a:pPr marL="0" indent="0" hangingPunct="1">
              <a:lnSpc>
                <a:spcPct val="150000"/>
              </a:lnSpc>
              <a:buFont typeface="Arial" panose="020B0604020202020204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个客户买了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年期的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产品，每人交了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万，保额为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万。</a:t>
            </a:r>
          </a:p>
          <a:p>
            <a:pPr marL="0" indent="0" hangingPunct="1">
              <a:lnSpc>
                <a:spcPct val="150000"/>
              </a:lnSpc>
              <a:buFont typeface="Arial" panose="020B0604020202020204"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、预计到年底会有一个会挂掉。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、预计保险公司的费用为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万，投资收益为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万。</a:t>
            </a:r>
          </a:p>
          <a:p>
            <a:pPr marL="0" indent="0" hangingPunct="1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预计到年底资金余额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10×1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+4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万＝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万，正好赔付给挂的那个人。收支平衡。但这是预计。</a:t>
            </a:r>
          </a:p>
          <a:p>
            <a:pPr marL="0" indent="0" hangingPunct="1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如果死了零个人，保险公司就挣了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万，就是</a:t>
            </a:r>
            <a:r>
              <a:rPr lang="zh-CN" altLang="en-US" b="1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死差益</a:t>
            </a:r>
          </a:p>
          <a:p>
            <a:pPr marL="0" indent="0" hangingPunct="1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如果死了两个人，保险公司就亏了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万，就是</a:t>
            </a:r>
            <a:r>
              <a:rPr lang="zh-CN" altLang="en-US" b="1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死差损</a:t>
            </a:r>
          </a:p>
          <a:p>
            <a:pPr marL="0" indent="0" hangingPunct="1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如果实际费用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万，保险公司挣了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万，就是</a:t>
            </a:r>
            <a:r>
              <a:rPr lang="zh-CN" altLang="en-US" b="1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费差益</a:t>
            </a:r>
          </a:p>
          <a:p>
            <a:pPr marL="0" indent="0" hangingPunct="1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如果实际费用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万，保险公司亏了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万，就是</a:t>
            </a:r>
            <a:r>
              <a:rPr lang="zh-CN" altLang="en-US" b="1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费差损</a:t>
            </a:r>
          </a:p>
          <a:p>
            <a:pPr marL="0" indent="0" hangingPunct="1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如果实际投资收益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万，保险公司挣了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万，就是</a:t>
            </a:r>
            <a:r>
              <a:rPr lang="zh-CN" altLang="en-US" b="1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利差益</a:t>
            </a:r>
          </a:p>
          <a:p>
            <a:pPr marL="0" indent="0" hangingPunct="1">
              <a:lnSpc>
                <a:spcPct val="150000"/>
              </a:lnSpc>
              <a:buFont typeface="Arial" panose="020B0604020202020204"/>
              <a:buNone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如果实际投资收益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万，保险公司亏了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万，就是</a:t>
            </a:r>
            <a:r>
              <a:rPr lang="zh-CN" altLang="en-US" b="1" dirty="0">
                <a:solidFill>
                  <a:srgbClr val="D8A96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利差损</a:t>
            </a:r>
          </a:p>
        </p:txBody>
      </p:sp>
    </p:spTree>
    <p:extLst>
      <p:ext uri="{BB962C8B-B14F-4D97-AF65-F5344CB8AC3E}">
        <p14:creationId xmlns:p14="http://schemas.microsoft.com/office/powerpoint/2010/main" val="915725278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"/>
          <p:cNvSpPr/>
          <p:nvPr/>
        </p:nvSpPr>
        <p:spPr>
          <a:xfrm>
            <a:off x="1912945" y="5186164"/>
            <a:ext cx="4945808" cy="3326423"/>
          </a:xfrm>
          <a:prstGeom prst="rect">
            <a:avLst/>
          </a:prstGeom>
          <a:solidFill>
            <a:srgbClr val="13CAA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5000"/>
          </a:p>
        </p:txBody>
      </p:sp>
      <p:sp>
        <p:nvSpPr>
          <p:cNvPr id="103" name="矩形"/>
          <p:cNvSpPr/>
          <p:nvPr/>
        </p:nvSpPr>
        <p:spPr>
          <a:xfrm>
            <a:off x="10147300" y="5186164"/>
            <a:ext cx="4685469" cy="3326423"/>
          </a:xfrm>
          <a:prstGeom prst="rect">
            <a:avLst/>
          </a:prstGeom>
          <a:solidFill>
            <a:srgbClr val="13CAA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5000"/>
          </a:p>
        </p:txBody>
      </p:sp>
      <p:sp>
        <p:nvSpPr>
          <p:cNvPr id="108" name="矩形"/>
          <p:cNvSpPr/>
          <p:nvPr/>
        </p:nvSpPr>
        <p:spPr>
          <a:xfrm>
            <a:off x="10147300" y="3760043"/>
            <a:ext cx="4089400" cy="200522"/>
          </a:xfrm>
          <a:prstGeom prst="rect">
            <a:avLst/>
          </a:prstGeom>
          <a:solidFill>
            <a:srgbClr val="13C8B1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5000"/>
          </a:p>
        </p:txBody>
      </p:sp>
      <p:sp>
        <p:nvSpPr>
          <p:cNvPr id="110" name="水星保持有银保监会颁发的保险代理牌照，致力于为1亿中产家庭提供一站式保障规划服务致力于为1亿中产家庭提供一站式保障规划服务"/>
          <p:cNvSpPr txBox="1"/>
          <p:nvPr/>
        </p:nvSpPr>
        <p:spPr>
          <a:xfrm>
            <a:off x="2229236" y="6346705"/>
            <a:ext cx="4313226" cy="1005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lnSpc>
                <a:spcPct val="120000"/>
              </a:lnSpc>
              <a:defRPr sz="2400" b="0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pPr algn="ctr">
              <a:lnSpc>
                <a:spcPct val="130000"/>
              </a:lnSpc>
              <a:spcBef>
                <a:spcPts val="1270"/>
              </a:spcBef>
            </a:pPr>
            <a:r>
              <a:rPr kumimoji="1"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定期保险</a:t>
            </a:r>
            <a:endParaRPr kumimoji="1" lang="en-US" altLang="zh-CN" sz="5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二级标题"/>
          <p:cNvSpPr txBox="1"/>
          <p:nvPr/>
        </p:nvSpPr>
        <p:spPr>
          <a:xfrm>
            <a:off x="4232031" y="3066389"/>
            <a:ext cx="15919937" cy="256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lnSpc>
                <a:spcPct val="10000"/>
              </a:lnSpc>
              <a:defRPr sz="8400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lang="en-US" altLang="zh-CN" sz="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2.3</a:t>
            </a:r>
            <a:r>
              <a:rPr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按保障时间分类</a:t>
            </a:r>
            <a:endParaRPr lang="en-US" altLang="zh-CN" sz="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zh-CN" altLang="en-US" sz="5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水星保持有银保监会颁发的保险代理牌照，致力于为1亿中产家庭提供一站式保障规划服务致力于为1亿中产家庭提供一站式保障规划服务"/>
          <p:cNvSpPr txBox="1"/>
          <p:nvPr/>
        </p:nvSpPr>
        <p:spPr>
          <a:xfrm>
            <a:off x="10333422" y="6275363"/>
            <a:ext cx="4313226" cy="1005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lnSpc>
                <a:spcPct val="120000"/>
              </a:lnSpc>
              <a:defRPr sz="2400" b="0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pPr algn="ctr">
              <a:lnSpc>
                <a:spcPct val="130000"/>
              </a:lnSpc>
              <a:spcBef>
                <a:spcPts val="1270"/>
              </a:spcBef>
            </a:pPr>
            <a:r>
              <a:rPr kumimoji="1"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终身保险</a:t>
            </a:r>
            <a:endParaRPr kumimoji="1" lang="en-US" altLang="zh-CN" sz="5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矩形"/>
          <p:cNvSpPr/>
          <p:nvPr/>
        </p:nvSpPr>
        <p:spPr>
          <a:xfrm>
            <a:off x="18121316" y="5189262"/>
            <a:ext cx="4685469" cy="3326423"/>
          </a:xfrm>
          <a:prstGeom prst="rect">
            <a:avLst/>
          </a:prstGeom>
          <a:solidFill>
            <a:srgbClr val="13CAA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5000"/>
          </a:p>
        </p:txBody>
      </p:sp>
      <p:sp>
        <p:nvSpPr>
          <p:cNvPr id="10" name="水星保持有银保监会颁发的保险代理牌照，致力于为1亿中产家庭提供一站式保障规划服务致力于为1亿中产家庭提供一站式保障规划服务"/>
          <p:cNvSpPr txBox="1"/>
          <p:nvPr/>
        </p:nvSpPr>
        <p:spPr>
          <a:xfrm>
            <a:off x="18307437" y="6346705"/>
            <a:ext cx="4313226" cy="1005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lnSpc>
                <a:spcPct val="120000"/>
              </a:lnSpc>
              <a:defRPr sz="2400" b="0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pPr algn="ctr">
              <a:lnSpc>
                <a:spcPct val="130000"/>
              </a:lnSpc>
              <a:spcBef>
                <a:spcPts val="1270"/>
              </a:spcBef>
            </a:pPr>
            <a:r>
              <a:rPr kumimoji="1"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一年期</a:t>
            </a:r>
            <a:r>
              <a:rPr kumimoji="1"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保险</a:t>
            </a:r>
            <a:endParaRPr kumimoji="1" lang="en-US" altLang="zh-CN" sz="5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6138146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"/>
          <p:cNvSpPr/>
          <p:nvPr/>
        </p:nvSpPr>
        <p:spPr>
          <a:xfrm>
            <a:off x="4609079" y="5067299"/>
            <a:ext cx="4945808" cy="3326423"/>
          </a:xfrm>
          <a:prstGeom prst="rect">
            <a:avLst/>
          </a:prstGeom>
          <a:solidFill>
            <a:srgbClr val="13CAA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5000"/>
          </a:p>
        </p:txBody>
      </p:sp>
      <p:sp>
        <p:nvSpPr>
          <p:cNvPr id="103" name="矩形"/>
          <p:cNvSpPr/>
          <p:nvPr/>
        </p:nvSpPr>
        <p:spPr>
          <a:xfrm>
            <a:off x="15605056" y="5067299"/>
            <a:ext cx="4685469" cy="3326423"/>
          </a:xfrm>
          <a:prstGeom prst="rect">
            <a:avLst/>
          </a:prstGeom>
          <a:solidFill>
            <a:srgbClr val="13CAAF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5000"/>
          </a:p>
        </p:txBody>
      </p:sp>
      <p:sp>
        <p:nvSpPr>
          <p:cNvPr id="108" name="矩形"/>
          <p:cNvSpPr/>
          <p:nvPr/>
        </p:nvSpPr>
        <p:spPr>
          <a:xfrm>
            <a:off x="10147300" y="3760043"/>
            <a:ext cx="4089400" cy="200522"/>
          </a:xfrm>
          <a:prstGeom prst="rect">
            <a:avLst/>
          </a:prstGeom>
          <a:solidFill>
            <a:srgbClr val="13C8B1">
              <a:alpha val="3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5000"/>
          </a:p>
        </p:txBody>
      </p:sp>
      <p:sp>
        <p:nvSpPr>
          <p:cNvPr id="110" name="水星保持有银保监会颁发的保险代理牌照，致力于为1亿中产家庭提供一站式保障规划服务致力于为1亿中产家庭提供一站式保障规划服务"/>
          <p:cNvSpPr txBox="1"/>
          <p:nvPr/>
        </p:nvSpPr>
        <p:spPr>
          <a:xfrm>
            <a:off x="4925370" y="6170818"/>
            <a:ext cx="4313226" cy="10053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lnSpc>
                <a:spcPct val="120000"/>
              </a:lnSpc>
              <a:defRPr sz="2400" b="0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pPr algn="ctr">
              <a:lnSpc>
                <a:spcPct val="130000"/>
              </a:lnSpc>
              <a:spcBef>
                <a:spcPts val="1270"/>
              </a:spcBef>
            </a:pPr>
            <a:r>
              <a:rPr kumimoji="1"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自然费率保险</a:t>
            </a:r>
            <a:endParaRPr kumimoji="1" lang="en-US" altLang="zh-CN" sz="5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二级标题"/>
          <p:cNvSpPr txBox="1"/>
          <p:nvPr/>
        </p:nvSpPr>
        <p:spPr>
          <a:xfrm>
            <a:off x="3962161" y="2985540"/>
            <a:ext cx="15919937" cy="256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lnSpc>
                <a:spcPct val="10000"/>
              </a:lnSpc>
              <a:defRPr sz="8400">
                <a:solidFill>
                  <a:srgbClr val="000000">
                    <a:alpha val="80000"/>
                  </a:srgbClr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lang="en-US" altLang="zh-CN" sz="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2.4</a:t>
            </a:r>
            <a:r>
              <a:rPr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按保费的计算方式分类</a:t>
            </a:r>
            <a:endParaRPr lang="en-US" altLang="zh-CN" sz="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kumimoji="1" lang="zh-CN" altLang="en-US" sz="5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水星保持有银保监会颁发的保险代理牌照，致力于为1亿中产家庭提供一站式保障规划服务致力于为1亿中产家庭提供一站式保障规划服务"/>
          <p:cNvSpPr txBox="1"/>
          <p:nvPr/>
        </p:nvSpPr>
        <p:spPr>
          <a:xfrm>
            <a:off x="15791178" y="5587325"/>
            <a:ext cx="4313226" cy="21723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just">
              <a:lnSpc>
                <a:spcPct val="120000"/>
              </a:lnSpc>
              <a:defRPr sz="2400" b="0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pPr algn="ctr">
              <a:lnSpc>
                <a:spcPct val="130000"/>
              </a:lnSpc>
              <a:spcBef>
                <a:spcPts val="1270"/>
              </a:spcBef>
            </a:pPr>
            <a:r>
              <a:rPr kumimoji="1"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平准费率／</a:t>
            </a:r>
            <a:endParaRPr kumimoji="1" lang="en-US" altLang="zh-CN" sz="5000" dirty="0" smtClean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30000"/>
              </a:lnSpc>
              <a:spcBef>
                <a:spcPts val="1270"/>
              </a:spcBef>
            </a:pPr>
            <a:r>
              <a:rPr kumimoji="1" lang="zh-CN" altLang="en-US" sz="50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均衡费率 保险</a:t>
            </a:r>
            <a:endParaRPr kumimoji="1" lang="en-US" altLang="zh-CN" sz="500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311797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hanks"/>
          <p:cNvSpPr txBox="1"/>
          <p:nvPr/>
        </p:nvSpPr>
        <p:spPr>
          <a:xfrm>
            <a:off x="7686860" y="5004098"/>
            <a:ext cx="9010279" cy="2564805"/>
          </a:xfrm>
          <a:prstGeom prst="rect">
            <a:avLst/>
          </a:prstGeom>
          <a:ln w="12700">
            <a:miter lim="400000"/>
          </a:ln>
          <a:effectLst>
            <a:outerShdw blurRad="127000" dist="127000" dir="5400000" rotWithShape="0">
              <a:srgbClr val="075C4C">
                <a:alpha val="2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6000" cap="all">
                <a:solidFill>
                  <a:srgbClr val="FFFFFF"/>
                </a:solidFill>
                <a:latin typeface="Alibaba-PuHuiTi-R"/>
                <a:ea typeface="Alibaba-PuHuiTi-R"/>
                <a:cs typeface="Alibaba-PuHuiTi-R"/>
                <a:sym typeface="Alibaba-PuHuiTi-R"/>
              </a:defRPr>
            </a:lvl1pPr>
          </a:lstStyle>
          <a:p>
            <a:r>
              <a:rPr dirty="0">
                <a:latin typeface="微软雅黑"/>
                <a:ea typeface="微软雅黑"/>
                <a:cs typeface="微软雅黑"/>
              </a:rPr>
              <a:t>thanks</a:t>
            </a:r>
          </a:p>
        </p:txBody>
      </p:sp>
      <p:grpSp>
        <p:nvGrpSpPr>
          <p:cNvPr id="171" name="成组"/>
          <p:cNvGrpSpPr/>
          <p:nvPr/>
        </p:nvGrpSpPr>
        <p:grpSpPr>
          <a:xfrm>
            <a:off x="7479585" y="7742784"/>
            <a:ext cx="9424831" cy="872034"/>
            <a:chOff x="0" y="52934"/>
            <a:chExt cx="9424830" cy="872033"/>
          </a:xfrm>
        </p:grpSpPr>
        <p:sp>
          <p:nvSpPr>
            <p:cNvPr id="168" name="谢谢观看"/>
            <p:cNvSpPr txBox="1"/>
            <p:nvPr/>
          </p:nvSpPr>
          <p:spPr>
            <a:xfrm>
              <a:off x="3378716" y="52934"/>
              <a:ext cx="2667397" cy="8720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>
              <a:outerShdw blurRad="76200" dist="101600" dir="5400000" rotWithShape="0">
                <a:srgbClr val="075C4C">
                  <a:alpha val="2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5000" b="0" cap="all">
                  <a:solidFill>
                    <a:srgbClr val="FFFFFF"/>
                  </a:solidFill>
                  <a:latin typeface="Alibaba-PuHuiTi-M"/>
                  <a:ea typeface="Alibaba-PuHuiTi-M"/>
                  <a:cs typeface="Alibaba-PuHuiTi-M"/>
                  <a:sym typeface="Alibaba-PuHuiTi-M"/>
                </a:defRPr>
              </a:lvl1pPr>
            </a:lstStyle>
            <a:p>
              <a:r>
                <a:rPr dirty="0">
                  <a:latin typeface="微软雅黑"/>
                  <a:ea typeface="微软雅黑"/>
                  <a:cs typeface="微软雅黑"/>
                </a:rPr>
                <a:t>谢谢观看</a:t>
              </a:r>
            </a:p>
          </p:txBody>
        </p:sp>
        <p:pic>
          <p:nvPicPr>
            <p:cNvPr id="169" name="矩形2.png" descr="矩形2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437096"/>
              <a:ext cx="3246359" cy="1344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70" name="矩形2.png" descr="矩形2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flipH="1">
              <a:off x="6178470" y="437096"/>
              <a:ext cx="3246360" cy="13440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1283</Words>
  <Application>Microsoft Macintosh PowerPoint</Application>
  <PresentationFormat>自定义</PresentationFormat>
  <Paragraphs>107</Paragraphs>
  <Slides>24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7" baseType="lpstr">
      <vt:lpstr>Alibaba PuHuiTi</vt:lpstr>
      <vt:lpstr>Alibaba-PuHuiTi-M</vt:lpstr>
      <vt:lpstr>Alibaba-PuHuiTi-R</vt:lpstr>
      <vt:lpstr>Calibri</vt:lpstr>
      <vt:lpstr>Helvetica</vt:lpstr>
      <vt:lpstr>Helvetica Light</vt:lpstr>
      <vt:lpstr>Helvetica Neue</vt:lpstr>
      <vt:lpstr>Helvetica Neue Light</vt:lpstr>
      <vt:lpstr>Helvetica Neue Medium</vt:lpstr>
      <vt:lpstr>阿里巴巴普惠体-B</vt:lpstr>
      <vt:lpstr>微软雅黑</vt:lpstr>
      <vt:lpstr>Arial</vt:lpstr>
      <vt:lpstr>White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15.0031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Microsoft Office 用户</cp:lastModifiedBy>
  <cp:revision>58</cp:revision>
  <dcterms:modified xsi:type="dcterms:W3CDTF">2020-04-14T02:13:02Z</dcterms:modified>
</cp:coreProperties>
</file>